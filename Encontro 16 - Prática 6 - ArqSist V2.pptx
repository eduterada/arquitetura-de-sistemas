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10287000" cx="18288000"/>
  <p:notesSz cx="6858000" cy="9144000"/>
  <p:embeddedFontLs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yhufeN+CzsQAM/kRdjs3yeJ9+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4b2e4026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64b2e4026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4b2e40262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64b2e40262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4b2e40262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64b2e4026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4b2e40262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64b2e40262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4b2e40262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64b2e40262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4b2e40262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64b2e40262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4b2e40262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64b2e40262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4b2e4026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64b2e4026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4b2e4026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64b2e4026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4b2e40262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64b2e40262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4b2e40262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64b2e40262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4b2e4026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64b2e4026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64b2e40262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64b2e40262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4b2e40262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64b2e40262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b2e4026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g364b2e4026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b2e4026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64b2e4026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4b2e40262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64b2e40262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4d0a2692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364d0a2692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c498dce3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9c498dce3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8" name="Google Shape;118;p9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9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9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9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8" name="Google Shape;128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9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9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9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7" name="Google Shape;147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9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5" name="Google Shape;175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7" name="Google Shape;187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3" name="Google Shape;193;p1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4" name="Google Shape;194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1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2" name="Google Shape;202;p1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3" name="Google Shape;203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4" name="Google Shape;214;p1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1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1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2" name="Google Shape;222;p1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1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1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1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.png"/><Relationship Id="rId10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emini.google.com/share/6f041a9e34d1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.png"/><Relationship Id="rId10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242" name="Google Shape;242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"/>
          <p:cNvSpPr/>
          <p:nvPr/>
        </p:nvSpPr>
        <p:spPr>
          <a:xfrm>
            <a:off x="1225557" y="35991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6" l="0" r="0" t="-46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246" name="Google Shape;246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 txBox="1"/>
          <p:nvPr/>
        </p:nvSpPr>
        <p:spPr>
          <a:xfrm>
            <a:off x="1028696" y="301379"/>
            <a:ext cx="81438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"/>
          <p:cNvSpPr txBox="1"/>
          <p:nvPr/>
        </p:nvSpPr>
        <p:spPr>
          <a:xfrm>
            <a:off x="1225547" y="2566572"/>
            <a:ext cx="7886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 txBox="1"/>
          <p:nvPr/>
        </p:nvSpPr>
        <p:spPr>
          <a:xfrm>
            <a:off x="1028756" y="5477304"/>
            <a:ext cx="8143800" cy="3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/>
        </p:nvSpPr>
        <p:spPr>
          <a:xfrm>
            <a:off x="2667001" y="3437418"/>
            <a:ext cx="675891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Validações de Entrada e Tratamento Uniforme de Erros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088" y="2423476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4b2e40262_0_0"/>
          <p:cNvSpPr txBox="1"/>
          <p:nvPr/>
        </p:nvSpPr>
        <p:spPr>
          <a:xfrm>
            <a:off x="2988575" y="928025"/>
            <a:ext cx="14061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 Princípios de Validação de Dados em Back-end</a:t>
            </a:r>
            <a:endParaRPr b="1" sz="3500"/>
          </a:p>
        </p:txBody>
      </p:sp>
      <p:sp>
        <p:nvSpPr>
          <p:cNvPr id="269" name="Google Shape;269;g364b2e40262_0_0"/>
          <p:cNvSpPr txBox="1"/>
          <p:nvPr/>
        </p:nvSpPr>
        <p:spPr>
          <a:xfrm>
            <a:off x="78650" y="1918975"/>
            <a:ext cx="123003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camada de API (back-end) é a autoridade final sobre a integridade e a validade dos dados que persistem no sistema. A validação no servidor é um requisito fundamental de segurança e consistência, independentemente de quaisquer validações existentes no cliente (front-end).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Implicações da ausência de validação no back-end: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Corrupção e inconsistência da base de dados.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Lançamento de exceções não tratadas em tempo de execução (ex: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NullPointerException</a:t>
            </a:r>
            <a:r>
              <a:rPr lang="en-US" sz="2400">
                <a:solidFill>
                  <a:schemeClr val="dk1"/>
                </a:solidFill>
              </a:rPr>
              <a:t>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Potenciais vetores de vulnerabilidade.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Quebra de contrato da API com seus consumidores.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70" name="Google Shape;270;g364b2e4026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4425" y="3661785"/>
            <a:ext cx="7093574" cy="4562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4b2e40262_0_55"/>
          <p:cNvSpPr txBox="1"/>
          <p:nvPr/>
        </p:nvSpPr>
        <p:spPr>
          <a:xfrm>
            <a:off x="0" y="0"/>
            <a:ext cx="14848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Jakarta Bean Validation: Uma Abordagem Declarativa</a:t>
            </a:r>
            <a:endParaRPr b="1" sz="3500"/>
          </a:p>
        </p:txBody>
      </p:sp>
      <p:sp>
        <p:nvSpPr>
          <p:cNvPr id="276" name="Google Shape;276;g364b2e40262_0_55"/>
          <p:cNvSpPr txBox="1"/>
          <p:nvPr/>
        </p:nvSpPr>
        <p:spPr>
          <a:xfrm>
            <a:off x="0" y="990950"/>
            <a:ext cx="1135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Jakarta Bean Validation: É  Uma especificação padrão do Java que provê um modelo baseado em anotações para a validação de objetos.</a:t>
            </a:r>
            <a:endParaRPr sz="2400"/>
          </a:p>
        </p:txBody>
      </p:sp>
      <p:sp>
        <p:nvSpPr>
          <p:cNvPr id="277" name="Google Shape;277;g364b2e40262_0_55"/>
          <p:cNvSpPr txBox="1"/>
          <p:nvPr/>
        </p:nvSpPr>
        <p:spPr>
          <a:xfrm>
            <a:off x="110125" y="2182000"/>
            <a:ext cx="8871300" cy="4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Benefícios da abordagem: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Declarativa:</a:t>
            </a:r>
            <a:r>
              <a:rPr lang="en-US" sz="2400">
                <a:solidFill>
                  <a:schemeClr val="dk1"/>
                </a:solidFill>
              </a:rPr>
              <a:t> As regras de validação são co-localizadas com os campos do modelo (DTOs), aumentando a clareza e a manutenibilidade.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Reutilização de Lógica:</a:t>
            </a:r>
            <a:r>
              <a:rPr lang="en-US" sz="2400">
                <a:solidFill>
                  <a:schemeClr val="dk1"/>
                </a:solidFill>
              </a:rPr>
              <a:t> As mesmas regras de validação em um DTO podem ser aplicadas em múltiplos endpoints.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Integração com o Framework:</a:t>
            </a:r>
            <a:r>
              <a:rPr lang="en-US" sz="2400">
                <a:solidFill>
                  <a:schemeClr val="dk1"/>
                </a:solidFill>
              </a:rPr>
              <a:t> O Spring Boot integra-se nativamente com o provedor de implementação (Hibernate Validator), automatizando o processo.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78" name="Google Shape;278;g364b2e40262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1775" y="2838750"/>
            <a:ext cx="6981825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4b2e40262_0_52"/>
          <p:cNvSpPr txBox="1"/>
          <p:nvPr/>
        </p:nvSpPr>
        <p:spPr>
          <a:xfrm>
            <a:off x="0" y="0"/>
            <a:ext cx="13558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Anotações de Validação Comuns</a:t>
            </a:r>
            <a:endParaRPr b="1" sz="3500"/>
          </a:p>
        </p:txBody>
      </p:sp>
      <p:sp>
        <p:nvSpPr>
          <p:cNvPr id="284" name="Google Shape;284;g364b2e40262_0_52"/>
          <p:cNvSpPr txBox="1"/>
          <p:nvPr/>
        </p:nvSpPr>
        <p:spPr>
          <a:xfrm>
            <a:off x="0" y="975225"/>
            <a:ext cx="1565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Principais Anotações da Especificação</a:t>
            </a:r>
            <a:endParaRPr sz="2400"/>
          </a:p>
        </p:txBody>
      </p:sp>
      <p:sp>
        <p:nvSpPr>
          <p:cNvPr id="285" name="Google Shape;285;g364b2e40262_0_52"/>
          <p:cNvSpPr txBox="1"/>
          <p:nvPr/>
        </p:nvSpPr>
        <p:spPr>
          <a:xfrm>
            <a:off x="0" y="1781250"/>
            <a:ext cx="111207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@NotBlank</a:t>
            </a:r>
            <a:r>
              <a:rPr lang="en-US" sz="3000">
                <a:solidFill>
                  <a:schemeClr val="dk1"/>
                </a:solidFill>
              </a:rPr>
              <a:t>: Valida que um campo do tipo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3000">
                <a:solidFill>
                  <a:schemeClr val="dk1"/>
                </a:solidFill>
              </a:rPr>
              <a:t> não é nulo e contém ao menos um caractere não branco.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@NotNull</a:t>
            </a:r>
            <a:r>
              <a:rPr lang="en-US" sz="3000">
                <a:solidFill>
                  <a:schemeClr val="dk1"/>
                </a:solidFill>
              </a:rPr>
              <a:t>: Valida que um campo de qualquer tipo de objeto não é nulo.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@NotEmpty</a:t>
            </a:r>
            <a:r>
              <a:rPr lang="en-US" sz="3000">
                <a:solidFill>
                  <a:schemeClr val="dk1"/>
                </a:solidFill>
              </a:rPr>
              <a:t>: Valida que uma coleção (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-US" sz="3000">
                <a:solidFill>
                  <a:schemeClr val="dk1"/>
                </a:solidFill>
              </a:rPr>
              <a:t>,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</a:t>
            </a:r>
            <a:r>
              <a:rPr lang="en-US" sz="3000">
                <a:solidFill>
                  <a:schemeClr val="dk1"/>
                </a:solidFill>
              </a:rPr>
              <a:t>,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3000">
                <a:solidFill>
                  <a:schemeClr val="dk1"/>
                </a:solidFill>
              </a:rPr>
              <a:t>) ou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3000">
                <a:solidFill>
                  <a:schemeClr val="dk1"/>
                </a:solidFill>
              </a:rPr>
              <a:t> não é nula e não está vazia.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@Email</a:t>
            </a:r>
            <a:r>
              <a:rPr lang="en-US" sz="3000">
                <a:solidFill>
                  <a:schemeClr val="dk1"/>
                </a:solidFill>
              </a:rPr>
              <a:t>: Valida se uma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3000">
                <a:solidFill>
                  <a:schemeClr val="dk1"/>
                </a:solidFill>
              </a:rPr>
              <a:t> segue o formato padrão de um endereço de e-mail.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@Size(min, max)</a:t>
            </a:r>
            <a:r>
              <a:rPr lang="en-US" sz="3000">
                <a:solidFill>
                  <a:schemeClr val="dk1"/>
                </a:solidFill>
              </a:rPr>
              <a:t>: Valida o tamanho de uma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3000">
                <a:solidFill>
                  <a:schemeClr val="dk1"/>
                </a:solidFill>
              </a:rPr>
              <a:t> ou de uma coleção.</a:t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286" name="Google Shape;286;g364b2e40262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6325" y="1101050"/>
            <a:ext cx="5905230" cy="64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4b2e40262_0_49"/>
          <p:cNvSpPr txBox="1"/>
          <p:nvPr/>
        </p:nvSpPr>
        <p:spPr>
          <a:xfrm>
            <a:off x="0" y="0"/>
            <a:ext cx="11466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Anotações para Validação Numérica</a:t>
            </a:r>
            <a:endParaRPr b="1" sz="3500"/>
          </a:p>
        </p:txBody>
      </p:sp>
      <p:sp>
        <p:nvSpPr>
          <p:cNvPr id="292" name="Google Shape;292;g364b2e40262_0_49"/>
          <p:cNvSpPr txBox="1"/>
          <p:nvPr/>
        </p:nvSpPr>
        <p:spPr>
          <a:xfrm>
            <a:off x="0" y="1022400"/>
            <a:ext cx="836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Restrições para Tipos Numéricos</a:t>
            </a:r>
            <a:endParaRPr b="1" sz="2400"/>
          </a:p>
        </p:txBody>
      </p:sp>
      <p:sp>
        <p:nvSpPr>
          <p:cNvPr id="293" name="Google Shape;293;g364b2e40262_0_49"/>
          <p:cNvSpPr txBox="1"/>
          <p:nvPr/>
        </p:nvSpPr>
        <p:spPr>
          <a:xfrm>
            <a:off x="0" y="1950450"/>
            <a:ext cx="119544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@Min(value)</a:t>
            </a:r>
            <a:r>
              <a:rPr b="1" lang="en-US" sz="3000">
                <a:solidFill>
                  <a:schemeClr val="dk1"/>
                </a:solidFill>
              </a:rPr>
              <a:t> /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@Max(value)</a:t>
            </a:r>
            <a:r>
              <a:rPr lang="en-US" sz="3000">
                <a:solidFill>
                  <a:schemeClr val="dk1"/>
                </a:solidFill>
              </a:rPr>
              <a:t>: Restringe o valor mínimo/máximo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para tipos numéricos integrais (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</a:t>
            </a:r>
            <a:r>
              <a:rPr lang="en-US" sz="3000">
                <a:solidFill>
                  <a:schemeClr val="dk1"/>
                </a:solidFill>
              </a:rPr>
              <a:t>,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</a:t>
            </a:r>
            <a:r>
              <a:rPr lang="en-US" sz="3000">
                <a:solidFill>
                  <a:schemeClr val="dk1"/>
                </a:solidFill>
              </a:rPr>
              <a:t>, etc).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@DecimalMin(value)</a:t>
            </a:r>
            <a:r>
              <a:rPr b="1" lang="en-US" sz="3000">
                <a:solidFill>
                  <a:schemeClr val="dk1"/>
                </a:solidFill>
              </a:rPr>
              <a:t> /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@DecimalMax(value)</a:t>
            </a:r>
            <a:r>
              <a:rPr lang="en-US" sz="3000">
                <a:solidFill>
                  <a:schemeClr val="dk1"/>
                </a:solidFill>
              </a:rPr>
              <a:t>: Restringe o valor mínimo/máximo para tipos de ponto flutuante (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BigDecimal</a:t>
            </a:r>
            <a:r>
              <a:rPr lang="en-US" sz="3000">
                <a:solidFill>
                  <a:schemeClr val="dk1"/>
                </a:solidFill>
              </a:rPr>
              <a:t>,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Double</a:t>
            </a:r>
            <a:r>
              <a:rPr lang="en-US" sz="3000">
                <a:solidFill>
                  <a:schemeClr val="dk1"/>
                </a:solidFill>
              </a:rPr>
              <a:t>), utilizando uma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3000">
                <a:solidFill>
                  <a:schemeClr val="dk1"/>
                </a:solidFill>
              </a:rPr>
              <a:t> para garantir a precisão.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@Positive</a:t>
            </a:r>
            <a:r>
              <a:rPr b="1" lang="en-US" sz="3000">
                <a:solidFill>
                  <a:schemeClr val="dk1"/>
                </a:solidFill>
              </a:rPr>
              <a:t> /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@PositiveOrZero</a:t>
            </a:r>
            <a:r>
              <a:rPr lang="en-US" sz="3000">
                <a:solidFill>
                  <a:schemeClr val="dk1"/>
                </a:solidFill>
              </a:rPr>
              <a:t>: Valida se um número é estritamente positivo ou positivo/zero.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@Negative</a:t>
            </a:r>
            <a:r>
              <a:rPr b="1" lang="en-US" sz="3000">
                <a:solidFill>
                  <a:schemeClr val="dk1"/>
                </a:solidFill>
              </a:rPr>
              <a:t> /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@NegativeOrZero</a:t>
            </a:r>
            <a:r>
              <a:rPr lang="en-US" sz="3000">
                <a:solidFill>
                  <a:schemeClr val="dk1"/>
                </a:solidFill>
              </a:rPr>
              <a:t>: Valida se um número é estritamente negativo ou negativo/zero.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4b2e40262_0_46"/>
          <p:cNvSpPr txBox="1"/>
          <p:nvPr/>
        </p:nvSpPr>
        <p:spPr>
          <a:xfrm>
            <a:off x="0" y="0"/>
            <a:ext cx="16437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Estudo de Caso 1: Validação no </a:t>
            </a:r>
            <a:r>
              <a:rPr b="1" lang="en-US" sz="3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RestauranteRequest</a:t>
            </a:r>
            <a:endParaRPr b="1" sz="3500"/>
          </a:p>
        </p:txBody>
      </p:sp>
      <p:pic>
        <p:nvPicPr>
          <p:cNvPr id="299" name="Google Shape;299;g364b2e40262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5700"/>
            <a:ext cx="9125299" cy="47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64b2e40262_0_46"/>
          <p:cNvSpPr txBox="1"/>
          <p:nvPr/>
        </p:nvSpPr>
        <p:spPr>
          <a:xfrm>
            <a:off x="9374700" y="975200"/>
            <a:ext cx="8824200" cy="8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@NotBlank</a:t>
            </a:r>
            <a:r>
              <a:rPr lang="en-US" sz="2400">
                <a:solidFill>
                  <a:schemeClr val="dk1"/>
                </a:solidFill>
              </a:rPr>
              <a:t>: Esta anotação garante duas coisas para o campo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400">
                <a:solidFill>
                  <a:schemeClr val="dk1"/>
                </a:solidFill>
              </a:rPr>
              <a:t>: que ele não seja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2400">
                <a:solidFill>
                  <a:schemeClr val="dk1"/>
                </a:solidFill>
              </a:rPr>
              <a:t> e que, se for uma string, não contenha apenas caracteres de espaço em branco (como " "). A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n-US" sz="2400">
                <a:solidFill>
                  <a:schemeClr val="dk1"/>
                </a:solidFill>
              </a:rPr>
              <a:t> customizada será usada na resposta de erro se esta regra falhar.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@Size</a:t>
            </a:r>
            <a:r>
              <a:rPr lang="en-US" sz="2400">
                <a:solidFill>
                  <a:schemeClr val="dk1"/>
                </a:solidFill>
              </a:rPr>
              <a:t>: Esta anotação define uma restrição de tamanho para o campo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400">
                <a:solidFill>
                  <a:schemeClr val="dk1"/>
                </a:solidFill>
              </a:rPr>
              <a:t>.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 = 2</a:t>
            </a:r>
            <a:r>
              <a:rPr lang="en-US" sz="2400">
                <a:solidFill>
                  <a:schemeClr val="dk1"/>
                </a:solidFill>
              </a:rPr>
              <a:t> exige que o nome tenha no mínimo 2 caracteres, 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 = 100</a:t>
            </a:r>
            <a:r>
              <a:rPr lang="en-US" sz="2400">
                <a:solidFill>
                  <a:schemeClr val="dk1"/>
                </a:solidFill>
              </a:rPr>
              <a:t> limita a 100 caracteres.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@NotNull</a:t>
            </a:r>
            <a:r>
              <a:rPr lang="en-US" sz="2400">
                <a:solidFill>
                  <a:schemeClr val="dk1"/>
                </a:solidFill>
              </a:rPr>
              <a:t>: Para o campo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taxaEntrega</a:t>
            </a:r>
            <a:r>
              <a:rPr lang="en-US" sz="2400">
                <a:solidFill>
                  <a:schemeClr val="dk1"/>
                </a:solidFill>
              </a:rPr>
              <a:t>, que é um objeto (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BigDecimal</a:t>
            </a:r>
            <a:r>
              <a:rPr lang="en-US" sz="2400">
                <a:solidFill>
                  <a:schemeClr val="dk1"/>
                </a:solidFill>
              </a:rPr>
              <a:t>), usamos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@NotNull</a:t>
            </a:r>
            <a:r>
              <a:rPr lang="en-US" sz="2400">
                <a:solidFill>
                  <a:schemeClr val="dk1"/>
                </a:solidFill>
              </a:rPr>
              <a:t>. Isso significa que o campo deve estar presente no JSON da requisição e não pode ter o valor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2400">
                <a:solidFill>
                  <a:schemeClr val="dk1"/>
                </a:solidFill>
              </a:rPr>
              <a:t>. A validação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@NotBlank</a:t>
            </a:r>
            <a:r>
              <a:rPr lang="en-US" sz="2400">
                <a:solidFill>
                  <a:schemeClr val="dk1"/>
                </a:solidFill>
              </a:rPr>
              <a:t> não se aplica aqui, pois é específica para Strings.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@DecimalMin</a:t>
            </a:r>
            <a:r>
              <a:rPr lang="en-US" sz="2400">
                <a:solidFill>
                  <a:schemeClr val="dk1"/>
                </a:solidFill>
              </a:rPr>
              <a:t>: Define um valor numérico mínimo. Usamos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value = "0.0"</a:t>
            </a:r>
            <a:r>
              <a:rPr lang="en-US" sz="2400">
                <a:solidFill>
                  <a:schemeClr val="dk1"/>
                </a:solidFill>
              </a:rPr>
              <a:t> para garantir que a taxa de entrega não pode ser negativa. O valor é uma String para manter a precisão de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BigDecimal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@NotNull</a:t>
            </a:r>
            <a:r>
              <a:rPr lang="en-US" sz="2400">
                <a:solidFill>
                  <a:schemeClr val="dk1"/>
                </a:solidFill>
              </a:rPr>
              <a:t>: Similar à taxa de entrega, o campo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tempoEntregaMinutos</a:t>
            </a:r>
            <a:r>
              <a:rPr lang="en-US" sz="2400">
                <a:solidFill>
                  <a:schemeClr val="dk1"/>
                </a:solidFill>
              </a:rPr>
              <a:t> é obrigatório.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@Min</a:t>
            </a:r>
            <a:r>
              <a:rPr lang="en-US" sz="2400">
                <a:solidFill>
                  <a:schemeClr val="dk1"/>
                </a:solidFill>
              </a:rPr>
              <a:t>: Define o valor inteiro mínimo para o tempo de entrega, que neste caso é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2400">
                <a:solidFill>
                  <a:schemeClr val="dk1"/>
                </a:solidFill>
              </a:rPr>
              <a:t> minutos.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@Max</a:t>
            </a:r>
            <a:r>
              <a:rPr lang="en-US" sz="2400">
                <a:solidFill>
                  <a:schemeClr val="dk1"/>
                </a:solidFill>
              </a:rPr>
              <a:t>: Define o valor inteiro máximo, limitando o tempo de entrega a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120</a:t>
            </a:r>
            <a:r>
              <a:rPr lang="en-US" sz="2400">
                <a:solidFill>
                  <a:schemeClr val="dk1"/>
                </a:solidFill>
              </a:rPr>
              <a:t> minutos (2 horas).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4b2e40262_0_43"/>
          <p:cNvSpPr txBox="1"/>
          <p:nvPr/>
        </p:nvSpPr>
        <p:spPr>
          <a:xfrm>
            <a:off x="5185350" y="63150"/>
            <a:ext cx="7177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A Anotação </a:t>
            </a:r>
            <a:r>
              <a:rPr b="1" lang="en-US" sz="3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endParaRPr b="1" sz="3500"/>
          </a:p>
        </p:txBody>
      </p:sp>
      <p:sp>
        <p:nvSpPr>
          <p:cNvPr id="306" name="Google Shape;306;g364b2e40262_0_43"/>
          <p:cNvSpPr txBox="1"/>
          <p:nvPr/>
        </p:nvSpPr>
        <p:spPr>
          <a:xfrm>
            <a:off x="0" y="1352725"/>
            <a:ext cx="813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Disparando o Processo de Validação</a:t>
            </a:r>
            <a:endParaRPr b="1" sz="2600"/>
          </a:p>
        </p:txBody>
      </p:sp>
      <p:sp>
        <p:nvSpPr>
          <p:cNvPr id="307" name="Google Shape;307;g364b2e40262_0_43"/>
          <p:cNvSpPr txBox="1"/>
          <p:nvPr/>
        </p:nvSpPr>
        <p:spPr>
          <a:xfrm>
            <a:off x="0" y="2312225"/>
            <a:ext cx="10900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anotação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r>
              <a:rPr lang="en-US" sz="2400">
                <a:solidFill>
                  <a:schemeClr val="dk1"/>
                </a:solidFill>
              </a:rPr>
              <a:t> é utilizada em parâmetros de métodos de controllers. Ela sinaliza ao Spring Framework que o objeto anotado deve ser submetido ao processo de validação antes da execução do corpo do método.</a:t>
            </a:r>
            <a:endParaRPr sz="2400"/>
          </a:p>
        </p:txBody>
      </p:sp>
      <p:pic>
        <p:nvPicPr>
          <p:cNvPr id="308" name="Google Shape;308;g364b2e40262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57625"/>
            <a:ext cx="11335051" cy="27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64b2e40262_0_43"/>
          <p:cNvSpPr txBox="1"/>
          <p:nvPr/>
        </p:nvSpPr>
        <p:spPr>
          <a:xfrm>
            <a:off x="11576800" y="1352725"/>
            <a:ext cx="6711300" cy="8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@PostMapping</a:t>
            </a:r>
            <a:r>
              <a:rPr lang="en-US" sz="2400">
                <a:solidFill>
                  <a:schemeClr val="dk1"/>
                </a:solidFill>
              </a:rPr>
              <a:t>: Mapeia este método para requisições HTTP do tipo POST no endpoint base do controller (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/api/restaurantes</a:t>
            </a:r>
            <a:r>
              <a:rPr lang="en-US" sz="2400">
                <a:solidFill>
                  <a:schemeClr val="dk1"/>
                </a:solidFill>
              </a:rPr>
              <a:t>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ResponseEntity&lt;RestauranteResponse&gt; cadastrar(...)</a:t>
            </a:r>
            <a:r>
              <a:rPr lang="en-US" sz="2400">
                <a:solidFill>
                  <a:schemeClr val="dk1"/>
                </a:solidFill>
              </a:rPr>
              <a:t>: Assinatura do método. Ele espera retornar um objeto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</a:t>
            </a:r>
            <a:r>
              <a:rPr lang="en-US" sz="2400">
                <a:solidFill>
                  <a:schemeClr val="dk1"/>
                </a:solidFill>
              </a:rPr>
              <a:t> que encapsula a resposta HTTP, contendo um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RestauranteResponse</a:t>
            </a:r>
            <a:r>
              <a:rPr lang="en-US" sz="2400">
                <a:solidFill>
                  <a:schemeClr val="dk1"/>
                </a:solidFill>
              </a:rPr>
              <a:t> no corpo.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@RequestBody RestauranteRequest request</a:t>
            </a:r>
            <a:r>
              <a:rPr lang="en-US" sz="2400">
                <a:solidFill>
                  <a:schemeClr val="dk1"/>
                </a:solidFill>
              </a:rPr>
              <a:t>: Esta anotação instrui o Spring a deserializar o corpo (body) da requisição JSON em um objeto da classe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RestauranteRequest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r>
              <a:rPr lang="en-US" sz="2400">
                <a:solidFill>
                  <a:schemeClr val="dk1"/>
                </a:solidFill>
              </a:rPr>
              <a:t>: Este é o gatilho principal. Antes que qualquer linha de código dentro do método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cadastrar</a:t>
            </a:r>
            <a:r>
              <a:rPr lang="en-US" sz="2400">
                <a:solidFill>
                  <a:schemeClr val="dk1"/>
                </a:solidFill>
              </a:rPr>
              <a:t> seja executada, 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r>
              <a:rPr lang="en-US" sz="2400">
                <a:solidFill>
                  <a:schemeClr val="dk1"/>
                </a:solidFill>
              </a:rPr>
              <a:t> instrui o Spring a aplicar o processo de validação definido pelas anotações dentro da classe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RestauranteRequest</a:t>
            </a:r>
            <a:r>
              <a:rPr lang="en-US" sz="2400">
                <a:solidFill>
                  <a:schemeClr val="dk1"/>
                </a:solidFill>
              </a:rPr>
              <a:t>. Se qualquer regra falhar, o Spring lança uma exceção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MethodArgumentNotValidException</a:t>
            </a:r>
            <a:r>
              <a:rPr lang="en-US" sz="2400">
                <a:solidFill>
                  <a:schemeClr val="dk1"/>
                </a:solidFill>
              </a:rPr>
              <a:t> e a execução do método é interrompida.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4b2e40262_0_40"/>
          <p:cNvSpPr txBox="1"/>
          <p:nvPr/>
        </p:nvSpPr>
        <p:spPr>
          <a:xfrm>
            <a:off x="4388500" y="0"/>
            <a:ext cx="10287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Validação de Objetos Aninhados e Coleções</a:t>
            </a:r>
            <a:endParaRPr b="1" sz="3500"/>
          </a:p>
        </p:txBody>
      </p:sp>
      <p:sp>
        <p:nvSpPr>
          <p:cNvPr id="315" name="Google Shape;315;g364b2e40262_0_40"/>
          <p:cNvSpPr txBox="1"/>
          <p:nvPr/>
        </p:nvSpPr>
        <p:spPr>
          <a:xfrm>
            <a:off x="0" y="1258350"/>
            <a:ext cx="10224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Validação de Estruturas de Dados Complexas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anotação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r>
              <a:rPr lang="en-US" sz="2400">
                <a:solidFill>
                  <a:schemeClr val="dk1"/>
                </a:solidFill>
              </a:rPr>
              <a:t> pode ser aplicada de forma recursiva em campos que são objetos ou coleções de objetos, propagando o processo de validação para a estrutura aninhada.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Analisando o </a:t>
            </a:r>
            <a:r>
              <a:rPr b="1" lang="en-US" sz="2400">
                <a:solidFill>
                  <a:schemeClr val="dk1"/>
                </a:solidFill>
              </a:rPr>
              <a:t>PedidoRequest.java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316" name="Google Shape;316;g364b2e40262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66050"/>
            <a:ext cx="12914050" cy="34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4b2e40262_0_37"/>
          <p:cNvSpPr txBox="1"/>
          <p:nvPr/>
        </p:nvSpPr>
        <p:spPr>
          <a:xfrm>
            <a:off x="3224525" y="0"/>
            <a:ext cx="13118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/>
              <a:t>Análise da Resposta de Erro Padrão do Spring Boot</a:t>
            </a:r>
            <a:endParaRPr b="1" sz="3500"/>
          </a:p>
        </p:txBody>
      </p:sp>
      <p:sp>
        <p:nvSpPr>
          <p:cNvPr id="322" name="Google Shape;322;g364b2e40262_0_37"/>
          <p:cNvSpPr txBox="1"/>
          <p:nvPr/>
        </p:nvSpPr>
        <p:spPr>
          <a:xfrm>
            <a:off x="0" y="1519200"/>
            <a:ext cx="10648800" cy="59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Cenário:</a:t>
            </a:r>
            <a:r>
              <a:rPr lang="en-US" sz="3000">
                <a:solidFill>
                  <a:schemeClr val="dk1"/>
                </a:solidFill>
              </a:rPr>
              <a:t> Análise da resposta HTTP padrão fornecida pelo framework quando uma exceção como </a:t>
            </a:r>
            <a:r>
              <a:rPr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MethodArgumentNotValidException</a:t>
            </a:r>
            <a:r>
              <a:rPr lang="en-US" sz="3000">
                <a:solidFill>
                  <a:schemeClr val="dk1"/>
                </a:solidFill>
              </a:rPr>
              <a:t> não é tratada.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Características da resposta padrão:</a:t>
            </a:r>
            <a:endParaRPr b="1"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Estrutura de JSON detalhada, porém não otimizada para consumo programático por clientes de API.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Potencial exposição de informações internas do sistema (ex: stack traces), representando um risco de segurança.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Falta de um formato consistente entre diferentes tipos de erro.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4b2e40262_0_34"/>
          <p:cNvSpPr txBox="1"/>
          <p:nvPr/>
        </p:nvSpPr>
        <p:spPr>
          <a:xfrm>
            <a:off x="0" y="0"/>
            <a:ext cx="17632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Centralização da Lógica de Tratamento de Exceções</a:t>
            </a:r>
            <a:endParaRPr b="1" sz="4500"/>
          </a:p>
        </p:txBody>
      </p:sp>
      <p:sp>
        <p:nvSpPr>
          <p:cNvPr id="328" name="Google Shape;328;g364b2e40262_0_34"/>
          <p:cNvSpPr txBox="1"/>
          <p:nvPr/>
        </p:nvSpPr>
        <p:spPr>
          <a:xfrm>
            <a:off x="0" y="2390900"/>
            <a:ext cx="14911500" cy="6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 A anotação </a:t>
            </a:r>
            <a:r>
              <a:rPr lang="en-US" sz="3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@ControllerAdvice</a:t>
            </a:r>
            <a:r>
              <a:rPr lang="en-US" sz="3500">
                <a:solidFill>
                  <a:schemeClr val="dk1"/>
                </a:solidFill>
              </a:rPr>
              <a:t> permite definir uma classe que atua como um componente transversal para interceptar e modificar o comportamento de controllers em toda a aplicação. É o pilar para a centralização do tratamento de exceções.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</a:rPr>
              <a:t>Benefícios:</a:t>
            </a:r>
            <a:endParaRPr b="1"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Princípio DRY (Don't Repeat Yourself):</a:t>
            </a:r>
            <a:r>
              <a:rPr lang="en-US" sz="3500">
                <a:solidFill>
                  <a:schemeClr val="dk1"/>
                </a:solidFill>
              </a:rPr>
              <a:t> Elimina a necessidade de blocos </a:t>
            </a:r>
            <a:r>
              <a:rPr lang="en-US" sz="3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try-catch</a:t>
            </a:r>
            <a:r>
              <a:rPr lang="en-US" sz="3500">
                <a:solidFill>
                  <a:schemeClr val="dk1"/>
                </a:solidFill>
              </a:rPr>
              <a:t> repetitivos nos controllers.</a:t>
            </a:r>
            <a:endParaRPr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Consistência:</a:t>
            </a:r>
            <a:r>
              <a:rPr lang="en-US" sz="3500">
                <a:solidFill>
                  <a:schemeClr val="dk1"/>
                </a:solidFill>
              </a:rPr>
              <a:t> Assegura um tratamento uniforme para erros, independentemente de onde eles ocorram.</a:t>
            </a:r>
            <a:endParaRPr sz="3500">
              <a:solidFill>
                <a:schemeClr val="dk1"/>
              </a:solidFill>
            </a:endParaRPr>
          </a:p>
          <a:p>
            <a:pPr indent="-450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b="1" lang="en-US" sz="3500">
                <a:solidFill>
                  <a:schemeClr val="dk1"/>
                </a:solidFill>
              </a:rPr>
              <a:t>Separação de Responsabilidades (SoC):</a:t>
            </a:r>
            <a:r>
              <a:rPr lang="en-US" sz="3500">
                <a:solidFill>
                  <a:schemeClr val="dk1"/>
                </a:solidFill>
              </a:rPr>
              <a:t> Isola a lógica de tratamento de erros da lógica de negócio dos controllers.</a:t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4b2e40262_0_31"/>
          <p:cNvSpPr txBox="1"/>
          <p:nvPr/>
        </p:nvSpPr>
        <p:spPr>
          <a:xfrm>
            <a:off x="1462825" y="0"/>
            <a:ext cx="17758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Captura de Exceções com @ExceptionHandler</a:t>
            </a:r>
            <a:endParaRPr b="1" sz="4000"/>
          </a:p>
        </p:txBody>
      </p:sp>
      <p:sp>
        <p:nvSpPr>
          <p:cNvPr id="334" name="Google Shape;334;g364b2e40262_0_31"/>
          <p:cNvSpPr txBox="1"/>
          <p:nvPr/>
        </p:nvSpPr>
        <p:spPr>
          <a:xfrm>
            <a:off x="42000" y="1022400"/>
            <a:ext cx="90600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Mapeando Exceções para Métodos de Tratamento: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anotação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@ExceptionHandler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usada em métodos dentro de uma classe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@ControllerAdvice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Ela designa o método como o handler responsável por processar uma ou mais classes de exceção específicas.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g364b2e40262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46600"/>
            <a:ext cx="13831000" cy="57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b2e40262_0_28"/>
          <p:cNvSpPr txBox="1"/>
          <p:nvPr/>
        </p:nvSpPr>
        <p:spPr>
          <a:xfrm>
            <a:off x="1163950" y="0"/>
            <a:ext cx="1843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</a:rPr>
              <a:t>Padronização da Resposta de Erro: O DTO ErrorResponse</a:t>
            </a:r>
            <a:endParaRPr b="1"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dk1"/>
              </a:solidFill>
            </a:endParaRPr>
          </a:p>
        </p:txBody>
      </p:sp>
      <p:sp>
        <p:nvSpPr>
          <p:cNvPr id="341" name="Google Shape;341;g364b2e40262_0_28"/>
          <p:cNvSpPr txBox="1"/>
          <p:nvPr/>
        </p:nvSpPr>
        <p:spPr>
          <a:xfrm>
            <a:off x="0" y="1274075"/>
            <a:ext cx="7455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Definindo o Contrato de Resposta para Erros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 criação de um DTO específico para respostas de erro (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ErrorResponse.java</a:t>
            </a:r>
            <a:r>
              <a:rPr lang="en-US" sz="2400">
                <a:solidFill>
                  <a:schemeClr val="dk1"/>
                </a:solidFill>
              </a:rPr>
              <a:t>) estabelece um formato consistente e previsível, facilitando o desenvolvimento e a integração por parte dos clientes da API.</a:t>
            </a:r>
            <a:endParaRPr sz="2400"/>
          </a:p>
        </p:txBody>
      </p:sp>
      <p:pic>
        <p:nvPicPr>
          <p:cNvPr id="342" name="Google Shape;342;g364b2e40262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96975"/>
            <a:ext cx="9012950" cy="35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64b2e40262_0_28"/>
          <p:cNvSpPr txBox="1"/>
          <p:nvPr/>
        </p:nvSpPr>
        <p:spPr>
          <a:xfrm>
            <a:off x="9642100" y="1569900"/>
            <a:ext cx="8210700" cy="8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@JsonInclude(JsonInclude.Include.NON_NULL)</a:t>
            </a:r>
            <a:r>
              <a:rPr lang="en-US" sz="2000">
                <a:solidFill>
                  <a:schemeClr val="dk1"/>
                </a:solidFill>
              </a:rPr>
              <a:t>: Esta é uma anotação da biblioteca Jackson, responsável por converter objetos Java para JSON. Ela instrui o Jackson a </a:t>
            </a:r>
            <a:r>
              <a:rPr b="1" lang="en-US" sz="2000">
                <a:solidFill>
                  <a:schemeClr val="dk1"/>
                </a:solidFill>
              </a:rPr>
              <a:t>não incluir</a:t>
            </a:r>
            <a:r>
              <a:rPr lang="en-US" sz="2000">
                <a:solidFill>
                  <a:schemeClr val="dk1"/>
                </a:solidFill>
              </a:rPr>
              <a:t> no JSON final quaisquer campos desta classe que tenham valor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sz="2000">
                <a:solidFill>
                  <a:schemeClr val="dk1"/>
                </a:solidFill>
              </a:rPr>
              <a:t>. Isso é especialmente útil para o campo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details</a:t>
            </a:r>
            <a:r>
              <a:rPr lang="en-US" sz="2000">
                <a:solidFill>
                  <a:schemeClr val="dk1"/>
                </a:solidFill>
              </a:rPr>
              <a:t>, que só terá valor em erros de validação. Para outros erros (como 404), ele será nulo e, portanto, omitido da resposta, tornando-a mais limpa.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LocalDateTime timestamp;</a:t>
            </a:r>
            <a:r>
              <a:rPr lang="en-US" sz="2000">
                <a:solidFill>
                  <a:schemeClr val="dk1"/>
                </a:solidFill>
              </a:rPr>
              <a:t>: Armazena o momento exato em que o erro foi tratado pelo servidor. O uso de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US" sz="2000">
                <a:solidFill>
                  <a:schemeClr val="dk1"/>
                </a:solidFill>
              </a:rPr>
              <a:t> indica que, uma vez que o objeto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</a:t>
            </a:r>
            <a:r>
              <a:rPr lang="en-US" sz="2000">
                <a:solidFill>
                  <a:schemeClr val="dk1"/>
                </a:solidFill>
              </a:rPr>
              <a:t> é criado, seu valor não pode ser alterado (imutabilidade).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int status;</a:t>
            </a:r>
            <a:r>
              <a:rPr lang="en-US" sz="2000">
                <a:solidFill>
                  <a:schemeClr val="dk1"/>
                </a:solidFill>
              </a:rPr>
              <a:t>: Armazena o código de status HTTP (ex: 400, 404, 500) como um inteiro.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String error;</a:t>
            </a:r>
            <a:r>
              <a:rPr lang="en-US" sz="2000">
                <a:solidFill>
                  <a:schemeClr val="dk1"/>
                </a:solidFill>
              </a:rPr>
              <a:t>: Um título curto e genérico para o tipo de erro, como "Recurso não encontrado" ou "Erro de validação".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String message;</a:t>
            </a:r>
            <a:r>
              <a:rPr lang="en-US" sz="2000">
                <a:solidFill>
                  <a:schemeClr val="dk1"/>
                </a:solidFill>
              </a:rPr>
              <a:t>: Uma mensagem mais descritiva e específica sobre o erro que ocorreu. Ex: "Cliente com ID 999 não encontrado".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String path;</a:t>
            </a:r>
            <a:r>
              <a:rPr lang="en-US" sz="2000">
                <a:solidFill>
                  <a:schemeClr val="dk1"/>
                </a:solidFill>
              </a:rPr>
              <a:t>: A URI do endpoint que foi invocado quando o erro ocorreu, por exemplo, "/api/clientes". Isso dá contexto ao cliente sobre qual requisição falhou.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Map&lt;String, String&gt; details;</a:t>
            </a:r>
            <a:r>
              <a:rPr lang="en-US" sz="2000">
                <a:solidFill>
                  <a:schemeClr val="dk1"/>
                </a:solidFill>
              </a:rPr>
              <a:t>: Um mapa para conter erros específicos de campos, usado principalmente para falhas de validação. A chave é o nome do campo (ex: "email") e o valor é a mensagem de erro associada (ex: "O formato do email é inválido").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4b2e40262_0_25"/>
          <p:cNvSpPr txBox="1"/>
          <p:nvPr/>
        </p:nvSpPr>
        <p:spPr>
          <a:xfrm>
            <a:off x="4498600" y="0"/>
            <a:ext cx="9610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Exceções de Regra</a:t>
            </a:r>
            <a:endParaRPr b="1" sz="4500"/>
          </a:p>
        </p:txBody>
      </p:sp>
      <p:sp>
        <p:nvSpPr>
          <p:cNvPr id="349" name="Google Shape;349;g364b2e40262_0_25"/>
          <p:cNvSpPr txBox="1"/>
          <p:nvPr/>
        </p:nvSpPr>
        <p:spPr>
          <a:xfrm>
            <a:off x="0" y="1022425"/>
            <a:ext cx="87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Análise do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BusinessException.java</a:t>
            </a:r>
            <a:endParaRPr b="1" sz="3000"/>
          </a:p>
        </p:txBody>
      </p:sp>
      <p:pic>
        <p:nvPicPr>
          <p:cNvPr id="350" name="Google Shape;350;g364b2e40262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1325"/>
            <a:ext cx="9793850" cy="17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64b2e40262_0_25"/>
          <p:cNvSpPr txBox="1"/>
          <p:nvPr/>
        </p:nvSpPr>
        <p:spPr>
          <a:xfrm>
            <a:off x="0" y="3916600"/>
            <a:ext cx="14361000" cy="6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 BusinessException extends RuntimeException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 BusinessException</a:t>
            </a:r>
            <a:r>
              <a:rPr lang="en-US" sz="2100">
                <a:solidFill>
                  <a:schemeClr val="dk1"/>
                </a:solidFill>
              </a:rPr>
              <a:t>: Define uma nova classe pública chamada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extends RuntimeException</a:t>
            </a:r>
            <a:r>
              <a:rPr lang="en-US" sz="2100">
                <a:solidFill>
                  <a:schemeClr val="dk1"/>
                </a:solidFill>
              </a:rPr>
              <a:t>: Este é o ponto mais importante. Ao herdar de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2100">
                <a:solidFill>
                  <a:schemeClr val="dk1"/>
                </a:solidFill>
              </a:rPr>
              <a:t>, nossa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</a:t>
            </a:r>
            <a:r>
              <a:rPr lang="en-US" sz="2100">
                <a:solidFill>
                  <a:schemeClr val="dk1"/>
                </a:solidFill>
              </a:rPr>
              <a:t> se torna uma </a:t>
            </a:r>
            <a:r>
              <a:rPr b="1" lang="en-US" sz="2100">
                <a:solidFill>
                  <a:schemeClr val="dk1"/>
                </a:solidFill>
              </a:rPr>
              <a:t>unchecked exception</a:t>
            </a:r>
            <a:r>
              <a:rPr lang="en-US" sz="2100">
                <a:solidFill>
                  <a:schemeClr val="dk1"/>
                </a:solidFill>
              </a:rPr>
              <a:t> (exceção não checada). Isso significa que os métodos que a lançam não são obrigados a declará-la com a cláusula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-US" sz="2100">
                <a:solidFill>
                  <a:schemeClr val="dk1"/>
                </a:solidFill>
              </a:rPr>
              <a:t>. Esta é a prática padrão em aplicações Spring, pois simplifica o código e evita poluir as assinaturas dos métodos em toda a aplicação. A responsabilidade de capturar a exceção é delegada a um handler de alto nível, como o nosso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GlobalExceptionHandler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 </a:t>
            </a: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BusinessException(String message)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Este é o construtor da nossa classe. Ele exige que, ao criar uma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</a:t>
            </a:r>
            <a:r>
              <a:rPr lang="en-US" sz="2100">
                <a:solidFill>
                  <a:schemeClr val="dk1"/>
                </a:solidFill>
              </a:rPr>
              <a:t>, uma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2100">
                <a:solidFill>
                  <a:schemeClr val="dk1"/>
                </a:solidFill>
              </a:rPr>
              <a:t> contendo a mensagem de erro seja fornecida.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super(message);</a:t>
            </a:r>
            <a:r>
              <a:rPr lang="en-US" sz="2100">
                <a:solidFill>
                  <a:schemeClr val="dk1"/>
                </a:solidFill>
              </a:rPr>
              <a:t>: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Esta linha invoca o construtor da classe pai (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2100">
                <a:solidFill>
                  <a:schemeClr val="dk1"/>
                </a:solidFill>
              </a:rPr>
              <a:t>) e passa a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n-US" sz="2100">
                <a:solidFill>
                  <a:schemeClr val="dk1"/>
                </a:solidFill>
              </a:rPr>
              <a:t> para ele. A classe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2100">
                <a:solidFill>
                  <a:schemeClr val="dk1"/>
                </a:solidFill>
              </a:rPr>
              <a:t> (e sua hierarquia) é responsável por armazenar essa mensagem de erro. Mais tarde, podemos recuperá-la em nosso handler de exceções usando o método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ex.getMessage()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64b2e40262_0_22"/>
          <p:cNvSpPr txBox="1"/>
          <p:nvPr/>
        </p:nvSpPr>
        <p:spPr>
          <a:xfrm>
            <a:off x="0" y="0"/>
            <a:ext cx="12536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Analise do </a:t>
            </a:r>
            <a:r>
              <a:rPr b="1" lang="en-US" sz="4000"/>
              <a:t>EntityNotFoundException</a:t>
            </a:r>
            <a:endParaRPr b="1" sz="4000"/>
          </a:p>
        </p:txBody>
      </p:sp>
      <p:pic>
        <p:nvPicPr>
          <p:cNvPr id="357" name="Google Shape;357;g364b2e40262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2800"/>
            <a:ext cx="10924325" cy="187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64b2e40262_0_22"/>
          <p:cNvSpPr txBox="1"/>
          <p:nvPr/>
        </p:nvSpPr>
        <p:spPr>
          <a:xfrm>
            <a:off x="0" y="3161600"/>
            <a:ext cx="10821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 classe estende nossa exceção base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</a:t>
            </a:r>
            <a:r>
              <a:rPr lang="en-US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O construtor recebe o nome da entidade (ex: "Cliente") e o ID que foi procurado.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 chamada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super(...)</a:t>
            </a:r>
            <a:r>
              <a:rPr lang="en-US" sz="2800">
                <a:solidFill>
                  <a:schemeClr val="dk1"/>
                </a:solidFill>
              </a:rPr>
              <a:t> passa uma mensagem formatada e amigável para o construtor da classe pai (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2800">
                <a:solidFill>
                  <a:schemeClr val="dk1"/>
                </a:solidFill>
              </a:rPr>
              <a:t>), que irá armazená-la. Ex: "Cliente com ID 999 não encontrado".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64b2e40262_0_19"/>
          <p:cNvSpPr txBox="1"/>
          <p:nvPr/>
        </p:nvSpPr>
        <p:spPr>
          <a:xfrm>
            <a:off x="0" y="0"/>
            <a:ext cx="12583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Aplicação no Controller:</a:t>
            </a:r>
            <a:endParaRPr b="1" sz="4500"/>
          </a:p>
        </p:txBody>
      </p:sp>
      <p:pic>
        <p:nvPicPr>
          <p:cNvPr id="364" name="Google Shape;364;g364b2e40262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9600"/>
            <a:ext cx="18135601" cy="19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64b2e40262_0_19"/>
          <p:cNvSpPr txBox="1"/>
          <p:nvPr/>
        </p:nvSpPr>
        <p:spPr>
          <a:xfrm>
            <a:off x="0" y="3172825"/>
            <a:ext cx="109635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restauranteService.buscarPorId(id)</a:t>
            </a:r>
            <a:r>
              <a:rPr lang="en-US" sz="2400">
                <a:solidFill>
                  <a:schemeClr val="dk1"/>
                </a:solidFill>
              </a:rPr>
              <a:t> retorna um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Optional&lt;Restaurante&gt;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.map(...)</a:t>
            </a:r>
            <a:r>
              <a:rPr lang="en-US" sz="2400">
                <a:solidFill>
                  <a:schemeClr val="dk1"/>
                </a:solidFill>
              </a:rPr>
              <a:t> é executado </a:t>
            </a:r>
            <a:r>
              <a:rPr b="1" lang="en-US" sz="2400">
                <a:solidFill>
                  <a:schemeClr val="dk1"/>
                </a:solidFill>
              </a:rPr>
              <a:t>apenas se</a:t>
            </a:r>
            <a:r>
              <a:rPr lang="en-US" sz="2400">
                <a:solidFill>
                  <a:schemeClr val="dk1"/>
                </a:solidFill>
              </a:rPr>
              <a:t> o Optional contiver um restaurante. Ele transforma a entidade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</a:t>
            </a:r>
            <a:r>
              <a:rPr lang="en-US" sz="2400">
                <a:solidFill>
                  <a:schemeClr val="dk1"/>
                </a:solidFill>
              </a:rPr>
              <a:t> no DTO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RestauranteResponse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.map(ResponseEntity::ok)</a:t>
            </a:r>
            <a:r>
              <a:rPr lang="en-US" sz="2400">
                <a:solidFill>
                  <a:schemeClr val="dk1"/>
                </a:solidFill>
              </a:rPr>
              <a:t> é um encadeamento. Se a transformação para DTO ocorreu, este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</a:t>
            </a:r>
            <a:r>
              <a:rPr lang="en-US" sz="2400">
                <a:solidFill>
                  <a:schemeClr val="dk1"/>
                </a:solidFill>
              </a:rPr>
              <a:t> pega o DTO e o envolve em um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</a:t>
            </a:r>
            <a:r>
              <a:rPr lang="en-US" sz="2400">
                <a:solidFill>
                  <a:schemeClr val="dk1"/>
                </a:solidFill>
              </a:rPr>
              <a:t> com status 200 OK.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: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.orElseThrow(...)</a:t>
            </a:r>
            <a:r>
              <a:rPr lang="en-US" sz="2400">
                <a:solidFill>
                  <a:schemeClr val="dk1"/>
                </a:solidFill>
              </a:rPr>
              <a:t> é o ponto crucial. Ele é executado </a:t>
            </a:r>
            <a:r>
              <a:rPr b="1" lang="en-US" sz="2400">
                <a:solidFill>
                  <a:schemeClr val="dk1"/>
                </a:solidFill>
              </a:rPr>
              <a:t>apenas se</a:t>
            </a:r>
            <a:r>
              <a:rPr lang="en-US" sz="2400">
                <a:solidFill>
                  <a:schemeClr val="dk1"/>
                </a:solidFill>
              </a:rPr>
              <a:t> o Optional retornado pelo serviço estiver vazio. Ele então instancia e lança nossa exceção customizada, fornecendo o contexto ("Restaurante", id).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64b2e40262_0_16"/>
          <p:cNvSpPr txBox="1"/>
          <p:nvPr/>
        </p:nvSpPr>
        <p:spPr>
          <a:xfrm>
            <a:off x="0" y="0"/>
            <a:ext cx="15870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H</a:t>
            </a:r>
            <a:r>
              <a:rPr b="1" lang="en-US" sz="4500"/>
              <a:t>andleEntityNotFound Análise do Código:</a:t>
            </a:r>
            <a:endParaRPr b="1" sz="4500"/>
          </a:p>
        </p:txBody>
      </p:sp>
      <p:pic>
        <p:nvPicPr>
          <p:cNvPr id="371" name="Google Shape;371;g364b2e4026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9600"/>
            <a:ext cx="13797674" cy="321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64b2e40262_0_16"/>
          <p:cNvSpPr txBox="1"/>
          <p:nvPr/>
        </p:nvSpPr>
        <p:spPr>
          <a:xfrm>
            <a:off x="0" y="4482850"/>
            <a:ext cx="182880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@ExceptionHandler(EntityNotFoundException.class)</a:t>
            </a:r>
            <a:r>
              <a:rPr lang="en-US" sz="1500">
                <a:solidFill>
                  <a:schemeClr val="dk1"/>
                </a:solidFill>
              </a:rPr>
              <a:t>: Esta anotação registra o método como o handler exclusivo para exceções do tipo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EntityNotFoundException</a:t>
            </a:r>
            <a:r>
              <a:rPr lang="en-US" sz="1500">
                <a:solidFill>
                  <a:schemeClr val="dk1"/>
                </a:solidFill>
              </a:rPr>
              <a:t>. Sempre que esta exceção específica for lançada por um controller, a execução será direcionada para este método.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ResponseEntity&lt;ErrorResponse&gt; handleEntityNotFound(...)</a:t>
            </a:r>
            <a:r>
              <a:rPr lang="en-US" sz="1500">
                <a:solidFill>
                  <a:schemeClr val="dk1"/>
                </a:solidFill>
              </a:rPr>
              <a:t>: A assinatura do método. Ele retorna um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ResponseEntity&lt;ErrorResponse&gt;</a:t>
            </a:r>
            <a:r>
              <a:rPr lang="en-US" sz="1500">
                <a:solidFill>
                  <a:schemeClr val="dk1"/>
                </a:solidFill>
              </a:rPr>
              <a:t>, o que nos dá controle total sobre o corpo e o status da resposta HTTP. Os parâmetros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EntityNotFoundException ex</a:t>
            </a:r>
            <a:r>
              <a:rPr lang="en-US" sz="1500">
                <a:solidFill>
                  <a:schemeClr val="dk1"/>
                </a:solidFill>
              </a:rPr>
              <a:t> e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WebRequest request</a:t>
            </a:r>
            <a:r>
              <a:rPr lang="en-US" sz="1500">
                <a:solidFill>
                  <a:schemeClr val="dk1"/>
                </a:solidFill>
              </a:rPr>
              <a:t> são injetados pelo Spring, fornecendo o objeto da exceção capturada e os detalhes da requisição, respectivamente.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 errorResponse = new ErrorResponse(...)</a:t>
            </a:r>
            <a:r>
              <a:rPr lang="en-US" sz="1500">
                <a:solidFill>
                  <a:schemeClr val="dk1"/>
                </a:solidFill>
              </a:rPr>
              <a:t>: Inicia a construção do nosso objeto de resposta de erro padronizado, que será convertido para JSON.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HttpStatus.NOT_FOUND.value()</a:t>
            </a:r>
            <a:r>
              <a:rPr lang="en-US" sz="1500">
                <a:solidFill>
                  <a:schemeClr val="dk1"/>
                </a:solidFill>
              </a:rPr>
              <a:t>: O primeiro argumento para o construtor é o status HTTP. Aqui, usamos o enum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HttpStatus</a:t>
            </a:r>
            <a:r>
              <a:rPr lang="en-US" sz="1500">
                <a:solidFill>
                  <a:schemeClr val="dk1"/>
                </a:solidFill>
              </a:rPr>
              <a:t> do Spring para obter o valor inteiro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404</a:t>
            </a:r>
            <a:r>
              <a:rPr lang="en-US" sz="1500">
                <a:solidFill>
                  <a:schemeClr val="dk1"/>
                </a:solidFill>
              </a:rPr>
              <a:t>, garantindo que estamos usando um código padrão e evitando "números mágicos" no código.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"Recurso não encontrado"</a:t>
            </a:r>
            <a:r>
              <a:rPr lang="en-US" sz="1500">
                <a:solidFill>
                  <a:schemeClr val="dk1"/>
                </a:solidFill>
              </a:rPr>
              <a:t>: O segundo argumento é 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n-US" sz="1500">
                <a:solidFill>
                  <a:schemeClr val="dk1"/>
                </a:solidFill>
              </a:rPr>
              <a:t>, um título curto e fixo para este tipo de erro.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ex.getMessage()</a:t>
            </a:r>
            <a:r>
              <a:rPr lang="en-US" sz="1500">
                <a:solidFill>
                  <a:schemeClr val="dk1"/>
                </a:solidFill>
              </a:rPr>
              <a:t>: O terceiro argumento é 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message</a:t>
            </a:r>
            <a:r>
              <a:rPr lang="en-US" sz="1500">
                <a:solidFill>
                  <a:schemeClr val="dk1"/>
                </a:solidFill>
              </a:rPr>
              <a:t>. Aqui, obtemos a mensagem dinâmica que foi definida quando a exceção foi criada (ex: "Restaurante com ID 999 não encontrado"). Isso torna a resposta de erro informativa e específica ao contexto da falha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request.getDescription(false).replace("uri=", "")</a:t>
            </a:r>
            <a:r>
              <a:rPr lang="en-US" sz="1500">
                <a:solidFill>
                  <a:schemeClr val="dk1"/>
                </a:solidFill>
              </a:rPr>
              <a:t>: O quarto argumento é 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</a:t>
            </a:r>
            <a:r>
              <a:rPr lang="en-US" sz="1500">
                <a:solidFill>
                  <a:schemeClr val="dk1"/>
                </a:solidFill>
              </a:rPr>
              <a:t>. O método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request.getDescription(false)</a:t>
            </a:r>
            <a:r>
              <a:rPr lang="en-US" sz="1500">
                <a:solidFill>
                  <a:schemeClr val="dk1"/>
                </a:solidFill>
              </a:rPr>
              <a:t> retorna a URI da requisição (ex: "uri=/api/restaurantes/999"). Usamos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.replace("uri=", "")</a:t>
            </a:r>
            <a:r>
              <a:rPr lang="en-US" sz="1500">
                <a:solidFill>
                  <a:schemeClr val="dk1"/>
                </a:solidFill>
              </a:rPr>
              <a:t> para limpar a string e enviar apenas o caminho para o cliente.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 new ResponseEntity&lt;&gt;(errorResponse, HttpStatus.NOT_FOUND);</a:t>
            </a:r>
            <a:r>
              <a:rPr lang="en-US" sz="1500">
                <a:solidFill>
                  <a:schemeClr val="dk1"/>
                </a:solidFill>
              </a:rPr>
              <a:t>: Finalmente, o método retorna um novo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</a:t>
            </a:r>
            <a:r>
              <a:rPr lang="en-US" sz="1500">
                <a:solidFill>
                  <a:schemeClr val="dk1"/>
                </a:solidFill>
              </a:rPr>
              <a:t>. O primeiro parâmetro,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</a:t>
            </a:r>
            <a:r>
              <a:rPr lang="en-US" sz="1500">
                <a:solidFill>
                  <a:schemeClr val="dk1"/>
                </a:solidFill>
              </a:rPr>
              <a:t>, será o corpo (body) da resposta. O segundo parâmetro,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HttpStatus.NOT_FOUND</a:t>
            </a:r>
            <a:r>
              <a:rPr lang="en-US" sz="1500">
                <a:solidFill>
                  <a:schemeClr val="dk1"/>
                </a:solidFill>
              </a:rPr>
              <a:t>, define o código de status da resposta HTTP para 404.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4b2e40262_0_13"/>
          <p:cNvSpPr txBox="1"/>
          <p:nvPr/>
        </p:nvSpPr>
        <p:spPr>
          <a:xfrm>
            <a:off x="0" y="0"/>
            <a:ext cx="15603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Tratamento de Exceções Genéricas (Fallback)</a:t>
            </a:r>
            <a:endParaRPr b="1" sz="4500"/>
          </a:p>
        </p:txBody>
      </p:sp>
      <p:sp>
        <p:nvSpPr>
          <p:cNvPr id="378" name="Google Shape;378;g364b2e40262_0_13"/>
          <p:cNvSpPr txBox="1"/>
          <p:nvPr/>
        </p:nvSpPr>
        <p:spPr>
          <a:xfrm>
            <a:off x="0" y="1038125"/>
            <a:ext cx="7959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H</a:t>
            </a:r>
            <a:r>
              <a:rPr b="1" lang="en-US" sz="2400"/>
              <a:t>andler para Erros Inesperados (HTTP 500)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É fundamental ter um handler de fallback para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Exception.class</a:t>
            </a:r>
            <a:r>
              <a:rPr lang="en-US" sz="2400">
                <a:solidFill>
                  <a:schemeClr val="dk1"/>
                </a:solidFill>
              </a:rPr>
              <a:t>. Ele será acionado para qualquer exceção que não possua um handler mais específico, prevenindo o vazamento de stack traces e garantindo uma resposta controlada.</a:t>
            </a:r>
            <a:endParaRPr sz="2400"/>
          </a:p>
        </p:txBody>
      </p:sp>
      <p:pic>
        <p:nvPicPr>
          <p:cNvPr id="379" name="Google Shape;379;g364b2e4026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61025"/>
            <a:ext cx="9456974" cy="26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64b2e40262_0_13"/>
          <p:cNvSpPr txBox="1"/>
          <p:nvPr/>
        </p:nvSpPr>
        <p:spPr>
          <a:xfrm>
            <a:off x="9673550" y="1304850"/>
            <a:ext cx="8614500" cy="85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chemeClr val="dk1"/>
                </a:solidFill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@ExceptionHandler(Exception.class)</a:t>
            </a:r>
            <a:r>
              <a:rPr lang="en-US" sz="1900">
                <a:solidFill>
                  <a:schemeClr val="dk1"/>
                </a:solidFill>
              </a:rPr>
              <a:t>: Esta anotação configura o método para ser o handler de último recurso. Devido à herança do Java, ele capturará qualquer exceção que seja filha de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en-US" sz="1900">
                <a:solidFill>
                  <a:schemeClr val="dk1"/>
                </a:solidFill>
              </a:rPr>
              <a:t> e que não tenha sido capturada por um handler mais específico (como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EntityNotFoundException.class</a:t>
            </a:r>
            <a:r>
              <a:rPr lang="en-US" sz="1900">
                <a:solidFill>
                  <a:schemeClr val="dk1"/>
                </a:solidFill>
              </a:rPr>
              <a:t> ou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MethodArgumentNotValidException.class</a:t>
            </a:r>
            <a:r>
              <a:rPr lang="en-US" sz="1900">
                <a:solidFill>
                  <a:schemeClr val="dk1"/>
                </a:solidFill>
              </a:rPr>
              <a:t>).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ResponseEntity&lt;ErrorResponse&gt; handleGenericException(...)</a:t>
            </a:r>
            <a:r>
              <a:rPr lang="en-US" sz="1900">
                <a:solidFill>
                  <a:schemeClr val="dk1"/>
                </a:solidFill>
              </a:rPr>
              <a:t>: A assinatura do método, que recebe a exceção genérica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</a:t>
            </a:r>
            <a:r>
              <a:rPr lang="en-US" sz="1900">
                <a:solidFill>
                  <a:schemeClr val="dk1"/>
                </a:solidFill>
              </a:rPr>
              <a:t> que foi capturada.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 errorResponse = new ErrorResponse(...)</a:t>
            </a:r>
            <a:r>
              <a:rPr lang="en-US" sz="1900">
                <a:solidFill>
                  <a:schemeClr val="dk1"/>
                </a:solidFill>
              </a:rPr>
              <a:t>: Inicia a construção da resposta de erro padronizada.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HttpStatus.INTERNAL_SERVER_ERROR.value()</a:t>
            </a:r>
            <a:r>
              <a:rPr lang="en-US" sz="1900">
                <a:solidFill>
                  <a:schemeClr val="dk1"/>
                </a:solidFill>
              </a:rPr>
              <a:t>: Define o status da resposta como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r>
              <a:rPr lang="en-US" sz="1900">
                <a:solidFill>
                  <a:schemeClr val="dk1"/>
                </a:solidFill>
              </a:rPr>
              <a:t>, o código padrão para erros inesperados no servidor.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"Erro interno do servidor"</a:t>
            </a:r>
            <a:r>
              <a:rPr lang="en-US" sz="1900">
                <a:solidFill>
                  <a:schemeClr val="dk1"/>
                </a:solidFill>
              </a:rPr>
              <a:t>: Define um título genérico para o erro.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b="1"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"Ocorreu um erro inesperado..."</a:t>
            </a:r>
            <a:r>
              <a:rPr lang="en-US" sz="1900">
                <a:solidFill>
                  <a:schemeClr val="dk1"/>
                </a:solidFill>
              </a:rPr>
              <a:t>: </a:t>
            </a:r>
            <a:r>
              <a:rPr b="1" lang="en-US" sz="1900">
                <a:solidFill>
                  <a:schemeClr val="dk1"/>
                </a:solidFill>
              </a:rPr>
              <a:t>Ponto de segurança crucial.</a:t>
            </a:r>
            <a:r>
              <a:rPr lang="en-US" sz="1900">
                <a:solidFill>
                  <a:schemeClr val="dk1"/>
                </a:solidFill>
              </a:rPr>
              <a:t> A mensagem enviada ao cliente é genérica e amigável. </a:t>
            </a:r>
            <a:r>
              <a:rPr b="1" lang="en-US" sz="1900">
                <a:solidFill>
                  <a:schemeClr val="dk1"/>
                </a:solidFill>
              </a:rPr>
              <a:t>Nunca</a:t>
            </a:r>
            <a:r>
              <a:rPr lang="en-US" sz="1900">
                <a:solidFill>
                  <a:schemeClr val="dk1"/>
                </a:solidFill>
              </a:rPr>
              <a:t> utilize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ex.getMessage()</a:t>
            </a:r>
            <a:r>
              <a:rPr lang="en-US" sz="1900">
                <a:solidFill>
                  <a:schemeClr val="dk1"/>
                </a:solidFill>
              </a:rPr>
              <a:t> aqui, pois a mensagem de uma exceção interna (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NullPointerException</a:t>
            </a:r>
            <a:r>
              <a:rPr lang="en-US" sz="1900">
                <a:solidFill>
                  <a:schemeClr val="dk1"/>
                </a:solidFill>
              </a:rPr>
              <a:t>, erro de SQL, etc.) pode expor detalhes sensíveis sobre a estrutura do seu código ou do seu banco de dados.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Retorna a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</a:t>
            </a:r>
            <a:r>
              <a:rPr lang="en-US" sz="1900">
                <a:solidFill>
                  <a:schemeClr val="dk1"/>
                </a:solidFill>
              </a:rPr>
              <a:t> com o corpo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errorResponse</a:t>
            </a:r>
            <a:r>
              <a:rPr lang="en-US" sz="1900">
                <a:solidFill>
                  <a:schemeClr val="dk1"/>
                </a:solidFill>
              </a:rPr>
              <a:t> e o status HTTP 500.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4b2e40262_0_10"/>
          <p:cNvSpPr txBox="1"/>
          <p:nvPr/>
        </p:nvSpPr>
        <p:spPr>
          <a:xfrm>
            <a:off x="5977150" y="0"/>
            <a:ext cx="1088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/>
              <a:t>Boas Práticas</a:t>
            </a:r>
            <a:endParaRPr b="1" sz="4500"/>
          </a:p>
        </p:txBody>
      </p:sp>
      <p:sp>
        <p:nvSpPr>
          <p:cNvPr id="386" name="Google Shape;386;g364b2e40262_0_10"/>
          <p:cNvSpPr txBox="1"/>
          <p:nvPr/>
        </p:nvSpPr>
        <p:spPr>
          <a:xfrm>
            <a:off x="0" y="1635850"/>
            <a:ext cx="7943400" cy="7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Validação: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Utilizar a especificação Jakarta Bean Validation nos DTOs.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Ativar a validação nos controllers com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Utilizar mensagens de erro explícitas.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Tratamento de Exceções: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Centralizar a lógica em uma classe anotada com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@ControllerAdvice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Mapear exceções a handlers com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@ExceptionHandler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Definir uma hierarquia de exceções de negócio herdando de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2400">
                <a:solidFill>
                  <a:schemeClr val="dk1"/>
                </a:solidFill>
              </a:rPr>
              <a:t> ou de uma classe base customizada.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Padronizar o DTO de resposta de erro.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Implementar um handler de fallback para </a:t>
            </a:r>
            <a:r>
              <a:rPr lang="en-US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Exception.class</a:t>
            </a:r>
            <a:r>
              <a:rPr lang="en-US" sz="2400">
                <a:solidFill>
                  <a:schemeClr val="dk1"/>
                </a:solidFill>
              </a:rPr>
              <a:t> como medida de segurança.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87" name="Google Shape;387;g364b2e40262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800" y="1029600"/>
            <a:ext cx="10192200" cy="5290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g364d0a26925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64d0a26925_0_4"/>
          <p:cNvSpPr txBox="1"/>
          <p:nvPr/>
        </p:nvSpPr>
        <p:spPr>
          <a:xfrm>
            <a:off x="6390795" y="2933700"/>
            <a:ext cx="67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1" lang="en-US" sz="5400"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b="1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c498dce37_0_0"/>
          <p:cNvSpPr txBox="1"/>
          <p:nvPr/>
        </p:nvSpPr>
        <p:spPr>
          <a:xfrm>
            <a:off x="3570550" y="2673975"/>
            <a:ext cx="9060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AS QUESTÕES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https://gemini.google.com/share/6f041a9e34d1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3"/>
          <p:cNvSpPr txBox="1"/>
          <p:nvPr/>
        </p:nvSpPr>
        <p:spPr>
          <a:xfrm>
            <a:off x="3276600" y="459099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3"/>
          <p:cNvSpPr txBox="1"/>
          <p:nvPr/>
        </p:nvSpPr>
        <p:spPr>
          <a:xfrm>
            <a:off x="838200" y="5345316"/>
            <a:ext cx="17145000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Lucy Mari é pesquisadora e docente na Fecap e PUC-SP, mentora e consultora de negócios criativos e inovadores pela memind consultoria e tecnologia com projetos de tecnologias de automação, Internet das Coisas para a Indústria (IIoT), Inteligência Artificial (IA), reeducação da mente e inteligência social. É dirigente do instituto criativo, a ONG que atua com projetos de educação disruptiva, maker, imersiva, experiencial com inteligência emocional. Palestrante de assuntos de Liderança Disruptiva e consultora de projetos de Liderança Disruptiva para empresas. Possui formação acadêmica de doutorado na Engenharia Elétrica da POLI-USP, com uma tese que abordou o desenvolvimento de soft skills em estudantes de tecnologia, mestrado em Ciência da Computação no IME-USP, MBA em Educação, Hipnoterapia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Neurociência para a Educação, graduação em Matemática no IME-USP e técnico em Administração de Empresas.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1800" y="459099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3"/>
          <p:cNvSpPr txBox="1"/>
          <p:nvPr/>
        </p:nvSpPr>
        <p:spPr>
          <a:xfrm>
            <a:off x="14687748" y="2744259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9786" y="2202174"/>
            <a:ext cx="3381375" cy="309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6069" y="1057186"/>
            <a:ext cx="4226949" cy="422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4"/>
          <p:cNvSpPr txBox="1"/>
          <p:nvPr/>
        </p:nvSpPr>
        <p:spPr>
          <a:xfrm>
            <a:off x="3276600" y="459099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4"/>
          <p:cNvSpPr txBox="1"/>
          <p:nvPr/>
        </p:nvSpPr>
        <p:spPr>
          <a:xfrm>
            <a:off x="723900" y="3839990"/>
            <a:ext cx="168402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Arte de Somar um Inventário de Habilidades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discussão do tema deve incentivar o reconhecimento das vivências como fontes legítimas de conhecimento e habilidade, promovendo um exercício de integração entre competências técnicas e experiências pessoais para fortalecer a liderança. Trabalhar a ideia de repertório pessoal como diferencial competitivo, convidando os participantes a criarem um Inventário de Competências Pessoais. Discutir como diferentes aprendizados se complementam e geram soluções únicas. Estimular escuta ativa e valorização da diversidade de trajetórias.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5871" y="427732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34"/>
          <p:cNvSpPr txBox="1"/>
          <p:nvPr/>
        </p:nvSpPr>
        <p:spPr>
          <a:xfrm>
            <a:off x="15491819" y="2313147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Google Shape;421;p135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35"/>
          <p:cNvSpPr txBox="1"/>
          <p:nvPr/>
        </p:nvSpPr>
        <p:spPr>
          <a:xfrm>
            <a:off x="3276600" y="459099"/>
            <a:ext cx="5237959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5"/>
          <p:cNvSpPr txBox="1"/>
          <p:nvPr/>
        </p:nvSpPr>
        <p:spPr>
          <a:xfrm>
            <a:off x="2221452" y="5195818"/>
            <a:ext cx="1562100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Questão Geradora: Como mapear seus talentos para resolver desafios?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5871" y="427732"/>
            <a:ext cx="26193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5"/>
          <p:cNvSpPr txBox="1"/>
          <p:nvPr/>
        </p:nvSpPr>
        <p:spPr>
          <a:xfrm>
            <a:off x="15491819" y="3023196"/>
            <a:ext cx="2047478" cy="132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75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53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53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371816"/>
            <a:ext cx="5714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54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438" name="Google Shape;438;p54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54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54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6" l="0" r="0" t="-46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1" name="Google Shape;441;p54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442" name="Google Shape;442;p54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54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54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4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54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4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4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4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Bia e Ale</dc:creator>
</cp:coreProperties>
</file>