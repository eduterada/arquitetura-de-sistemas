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</p:sldIdLst>
  <p:sldSz cy="10287000" cx="18288000"/>
  <p:notesSz cx="6858000" cy="9144000"/>
  <p:embeddedFontLst>
    <p:embeddedFont>
      <p:font typeface="Montserrat"/>
      <p:regular r:id="rId46"/>
      <p:bold r:id="rId47"/>
      <p:italic r:id="rId48"/>
      <p:boldItalic r:id="rId49"/>
    </p:embeddedFont>
    <p:embeddedFont>
      <p:font typeface="PT Sans"/>
      <p:regular r:id="rId50"/>
      <p:bold r:id="rId51"/>
      <p:italic r:id="rId52"/>
      <p:boldItalic r:id="rId53"/>
    </p:embeddedFont>
    <p:embeddedFont>
      <p:font typeface="Roboto Mono"/>
      <p:regular r:id="rId54"/>
      <p:bold r:id="rId55"/>
      <p:italic r:id="rId56"/>
      <p:boldItalic r:id="rId5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58" roundtripDataSignature="AMtx7mgxqv32vVED7/xw4e11iZU4Ys6FI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2D80360-AAAE-4211-A377-FAB62E312068}">
  <a:tblStyle styleId="{92D80360-AAAE-4211-A377-FAB62E312068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font" Target="fonts/Montserrat-regular.fntdata"/><Relationship Id="rId45" Type="http://schemas.openxmlformats.org/officeDocument/2006/relationships/slide" Target="slides/slide39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font" Target="fonts/Montserrat-italic.fntdata"/><Relationship Id="rId47" Type="http://schemas.openxmlformats.org/officeDocument/2006/relationships/font" Target="fonts/Montserrat-bold.fntdata"/><Relationship Id="rId49" Type="http://schemas.openxmlformats.org/officeDocument/2006/relationships/font" Target="fonts/Montserrat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font" Target="fonts/PTSans-bold.fntdata"/><Relationship Id="rId50" Type="http://schemas.openxmlformats.org/officeDocument/2006/relationships/font" Target="fonts/PTSans-regular.fntdata"/><Relationship Id="rId53" Type="http://schemas.openxmlformats.org/officeDocument/2006/relationships/font" Target="fonts/PTSans-boldItalic.fntdata"/><Relationship Id="rId52" Type="http://schemas.openxmlformats.org/officeDocument/2006/relationships/font" Target="fonts/PTSans-italic.fntdata"/><Relationship Id="rId11" Type="http://schemas.openxmlformats.org/officeDocument/2006/relationships/slide" Target="slides/slide5.xml"/><Relationship Id="rId55" Type="http://schemas.openxmlformats.org/officeDocument/2006/relationships/font" Target="fonts/RobotoMono-bold.fntdata"/><Relationship Id="rId10" Type="http://schemas.openxmlformats.org/officeDocument/2006/relationships/slide" Target="slides/slide4.xml"/><Relationship Id="rId54" Type="http://schemas.openxmlformats.org/officeDocument/2006/relationships/font" Target="fonts/RobotoMono-regular.fntdata"/><Relationship Id="rId13" Type="http://schemas.openxmlformats.org/officeDocument/2006/relationships/slide" Target="slides/slide7.xml"/><Relationship Id="rId57" Type="http://schemas.openxmlformats.org/officeDocument/2006/relationships/font" Target="fonts/RobotoMono-boldItalic.fntdata"/><Relationship Id="rId12" Type="http://schemas.openxmlformats.org/officeDocument/2006/relationships/slide" Target="slides/slide6.xml"/><Relationship Id="rId56" Type="http://schemas.openxmlformats.org/officeDocument/2006/relationships/font" Target="fonts/RobotoMono-italic.fnt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58" Type="http://customschemas.google.com/relationships/presentationmetadata" Target="meta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6" name="Google Shape;17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7" name="Google Shape;197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5" name="Google Shape;23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1" name="Google Shape;241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2" name="Google Shape;242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5" name="Google Shape;265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362e5210cb6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3" name="Google Shape;273;g362e5210cb6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4" name="Google Shape;274;g362e5210cb6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2" name="Google Shape;282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3" name="Google Shape;283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2" name="Google Shape;292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3" name="Google Shape;293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2" name="Google Shape;302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3" name="Google Shape;303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4" name="Google Shape;324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5" name="Google Shape;325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4" name="Google Shape;334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5" name="Google Shape;335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362e5210cb6_0_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1" name="Google Shape;341;g362e5210cb6_0_3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2" name="Google Shape;342;g362e5210cb6_0_3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362e5210cb6_0_5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8" name="Google Shape;348;g362e5210cb6_0_5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9" name="Google Shape;349;g362e5210cb6_0_5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g362e5210cb6_0_6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5" name="Google Shape;355;g362e5210cb6_0_6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6" name="Google Shape;356;g362e5210cb6_0_6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g362e5210cb6_0_7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3" name="Google Shape;363;g362e5210cb6_0_7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4" name="Google Shape;364;g362e5210cb6_0_7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g362e5210cb6_0_9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0" name="Google Shape;370;g362e5210cb6_0_9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1" name="Google Shape;371;g362e5210cb6_0_9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8" name="Google Shape;378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4" name="Google Shape;384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5" name="Google Shape;385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g3641e1e0e50_0_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9" name="Google Shape;399;g3641e1e0e50_0_3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00" name="Google Shape;400;g3641e1e0e50_0_3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g3641e1e0e50_0_1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4" name="Google Shape;414;g3641e1e0e50_0_12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15" name="Google Shape;415;g3641e1e0e50_0_12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5" name="Google Shape;425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26" name="Google Shape;426;p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8" name="Google Shape;448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49" name="Google Shape;449;p2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g3641e1e0e50_0_17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6" name="Google Shape;456;g3641e1e0e50_0_17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57" name="Google Shape;457;g3641e1e0e50_0_17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g3641e1e0e50_0_16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6" name="Google Shape;466;g3641e1e0e50_0_16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67" name="Google Shape;467;g3641e1e0e50_0_16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g3641e1e0e50_0_20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6" name="Google Shape;476;g3641e1e0e50_0_20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77" name="Google Shape;477;g3641e1e0e50_0_20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g3641e1e0e50_0_19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6" name="Google Shape;486;g3641e1e0e50_0_19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87" name="Google Shape;487;g3641e1e0e50_0_19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g3641e1e0e50_0_2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6" name="Google Shape;496;g3641e1e0e50_0_23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97" name="Google Shape;497;g3641e1e0e50_0_23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g3641e1e0e50_0_2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6" name="Google Shape;506;g3641e1e0e50_0_24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07" name="Google Shape;507;g3641e1e0e50_0_24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g3641e1e0e50_0_2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6" name="Google Shape;516;g3641e1e0e50_0_22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17" name="Google Shape;517;g3641e1e0e50_0_22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6" name="Google Shape;526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27" name="Google Shape;527;p2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g3641e1e0e50_0_29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8" name="Google Shape;538;g3641e1e0e50_0_29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39" name="Google Shape;539;g3641e1e0e50_0_29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g3641e1e0e50_0_29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8" name="Google Shape;548;g3641e1e0e50_0_29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49" name="Google Shape;549;g3641e1e0e50_0_29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g3641e1e0e50_0_28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1" name="Google Shape;561;g3641e1e0e50_0_28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62" name="Google Shape;562;g3641e1e0e50_0_28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g3641e1e0e50_0_26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4" name="Google Shape;574;g3641e1e0e50_0_26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75" name="Google Shape;575;g3641e1e0e50_0_26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p4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85" name="Google Shape;585;p4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g38c4a3a18cb_2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93" name="Google Shape;593;g38c4a3a18cb_2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6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p4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98" name="Google Shape;598;p4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4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p5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06" name="Google Shape;606;p5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p5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13" name="Google Shape;613;p5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5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5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7 master">
  <p:cSld name="Slide 7 master">
    <p:bg>
      <p:bgPr>
        <a:solidFill>
          <a:srgbClr val="000000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6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D5D5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56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5 master">
  <p:cSld name="Slide 5 master">
    <p:bg>
      <p:bgPr>
        <a:solidFill>
          <a:srgbClr val="000000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7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D5D5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57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6 master">
  <p:cSld name="Slide 6 master">
    <p:bg>
      <p:bgPr>
        <a:solidFill>
          <a:srgbClr val="000000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8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D5D5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58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8 master">
  <p:cSld name="Slide 8 master">
    <p:bg>
      <p:bgPr>
        <a:solidFill>
          <a:srgbClr val="000000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9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D5D5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59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9 master">
  <p:cSld name="Slide 9 master">
    <p:bg>
      <p:bgPr>
        <a:solidFill>
          <a:srgbClr val="000000"/>
        </a:solidFill>
      </p:bgPr>
    </p:bg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D5D5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6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0 master">
  <p:cSld name="Slide 10 master">
    <p:bg>
      <p:bgPr>
        <a:solidFill>
          <a:srgbClr val="000000"/>
        </a:solid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6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D5D5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6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1 master">
  <p:cSld name="Slide 11 master">
    <p:bg>
      <p:bgPr>
        <a:solidFill>
          <a:srgbClr val="000000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6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D5D5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6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2 master">
  <p:cSld name="Slide 12 master">
    <p:bg>
      <p:bgPr>
        <a:solidFill>
          <a:srgbClr val="000000"/>
        </a:solidFill>
      </p:bgPr>
    </p:bg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3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D5D5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63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3 master">
  <p:cSld name="Slide 13 master">
    <p:bg>
      <p:bgPr>
        <a:solidFill>
          <a:srgbClr val="000000"/>
        </a:solidFill>
      </p:bgPr>
    </p:bg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4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D5D5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64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4 master">
  <p:cSld name="Slide 14 master">
    <p:bg>
      <p:bgPr>
        <a:solidFill>
          <a:srgbClr val="000000"/>
        </a:solidFill>
      </p:bgPr>
    </p:bg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65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D5D5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65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5 master">
  <p:cSld name="Slide 15 master">
    <p:bg>
      <p:bgPr>
        <a:solidFill>
          <a:srgbClr val="000000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66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D5D5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66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6 master">
  <p:cSld name="Slide 16 master">
    <p:bg>
      <p:bgPr>
        <a:solidFill>
          <a:srgbClr val="000000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67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D5D5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67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7 master">
  <p:cSld name="Slide 17 master">
    <p:bg>
      <p:bgPr>
        <a:solidFill>
          <a:srgbClr val="000000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68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D5D5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68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8 master">
  <p:cSld name="Slide 18 master">
    <p:bg>
      <p:bgPr>
        <a:solidFill>
          <a:srgbClr val="000000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69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D5D5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69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9 master">
  <p:cSld name="Slide 19 master">
    <p:bg>
      <p:bgPr>
        <a:solidFill>
          <a:srgbClr val="000000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7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D5D5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7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0 master">
  <p:cSld name="Slide 20 master">
    <p:bg>
      <p:bgPr>
        <a:solidFill>
          <a:srgbClr val="000000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7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D5D5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7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1 master">
  <p:cSld name="Slide 21 master">
    <p:bg>
      <p:bgPr>
        <a:solidFill>
          <a:srgbClr val="000000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7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D5D5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7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2 master">
  <p:cSld name="Slide 22 master">
    <p:bg>
      <p:bgPr>
        <a:solidFill>
          <a:srgbClr val="000000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73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D5D5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73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3 master">
  <p:cSld name="Slide 23 master">
    <p:bg>
      <p:bgPr>
        <a:solidFill>
          <a:srgbClr val="000000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74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D5D5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74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4 master">
  <p:cSld name="Slide 24 master">
    <p:bg>
      <p:bgPr>
        <a:solidFill>
          <a:srgbClr val="000000"/>
        </a:solid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75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D5D5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75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5 master">
  <p:cSld name="Slide 25 master">
    <p:bg>
      <p:bgPr>
        <a:solidFill>
          <a:srgbClr val="000000"/>
        </a:soli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76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D5D5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76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6 master">
  <p:cSld name="Slide 26 master">
    <p:bg>
      <p:bgPr>
        <a:solidFill>
          <a:srgbClr val="000000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77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D5D5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77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7 master">
  <p:cSld name="Slide 27 master">
    <p:bg>
      <p:bgPr>
        <a:solidFill>
          <a:srgbClr val="000000"/>
        </a:solid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78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D5D5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78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8 master">
  <p:cSld name="Slide 28 master">
    <p:bg>
      <p:bgPr>
        <a:solidFill>
          <a:srgbClr val="000000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79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D5D5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79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9 master">
  <p:cSld name="Slide 29 master">
    <p:bg>
      <p:bgPr>
        <a:solidFill>
          <a:srgbClr val="000000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8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D5D5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8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0 master">
  <p:cSld name="Slide 30 master">
    <p:bg>
      <p:bgPr>
        <a:solidFill>
          <a:srgbClr val="000000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8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D5D5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8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1 master">
  <p:cSld name="Slide 31 master">
    <p:bg>
      <p:bgPr>
        <a:solidFill>
          <a:srgbClr val="000000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8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D5D5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8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2 master">
  <p:cSld name="Slide 32 master">
    <p:bg>
      <p:bgPr>
        <a:solidFill>
          <a:srgbClr val="000000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83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D5D5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83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3 master">
  <p:cSld name="Slide 33 master">
    <p:bg>
      <p:bgPr>
        <a:solidFill>
          <a:srgbClr val="000000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84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D5D5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84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4 master">
  <p:cSld name="Slide 34 master">
    <p:bg>
      <p:bgPr>
        <a:solidFill>
          <a:srgbClr val="000000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85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D5D5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85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86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86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12" name="Google Shape;112;p8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8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8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8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8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8" name="Google Shape;118;p8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p8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8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88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88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24" name="Google Shape;124;p8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p8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8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8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p89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130" name="Google Shape;130;p89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131" name="Google Shape;131;p8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8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3" name="Google Shape;133;p8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9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90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37" name="Google Shape;137;p90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38" name="Google Shape;138;p90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39" name="Google Shape;139;p90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40" name="Google Shape;140;p9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" name="Google Shape;141;p9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9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9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5" name="Google Shape;145;p9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6" name="Google Shape;146;p9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7" name="Google Shape;147;p9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92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0" name="Google Shape;150;p92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51" name="Google Shape;151;p92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52" name="Google Shape;152;p9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9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4" name="Google Shape;154;p9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93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7" name="Google Shape;157;p93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158" name="Google Shape;158;p93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59" name="Google Shape;159;p9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0" name="Google Shape;160;p9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1" name="Google Shape;161;p9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9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4" name="Google Shape;164;p94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5" name="Google Shape;165;p9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6" name="Google Shape;166;p9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7" name="Google Shape;167;p9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95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0" name="Google Shape;170;p95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1" name="Google Shape;171;p9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2" name="Google Shape;172;p9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3" name="Google Shape;173;p9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20" Type="http://schemas.openxmlformats.org/officeDocument/2006/relationships/slideLayout" Target="../slideLayouts/slideLayout20.xml"/><Relationship Id="rId42" Type="http://schemas.openxmlformats.org/officeDocument/2006/relationships/theme" Target="../theme/theme1.xml"/><Relationship Id="rId41" Type="http://schemas.openxmlformats.org/officeDocument/2006/relationships/slideLayout" Target="../slideLayouts/slideLayout41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37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14.xml"/><Relationship Id="rId36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17.xml"/><Relationship Id="rId39" Type="http://schemas.openxmlformats.org/officeDocument/2006/relationships/slideLayout" Target="../slideLayouts/slideLayout39.xml"/><Relationship Id="rId16" Type="http://schemas.openxmlformats.org/officeDocument/2006/relationships/slideLayout" Target="../slideLayouts/slideLayout16.xml"/><Relationship Id="rId38" Type="http://schemas.openxmlformats.org/officeDocument/2006/relationships/slideLayout" Target="../slideLayouts/slideLayout38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5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5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5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5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  <p:sldLayoutId id="2147483683" r:id="rId35"/>
    <p:sldLayoutId id="2147483684" r:id="rId36"/>
    <p:sldLayoutId id="2147483685" r:id="rId37"/>
    <p:sldLayoutId id="2147483686" r:id="rId38"/>
    <p:sldLayoutId id="2147483687" r:id="rId39"/>
    <p:sldLayoutId id="2147483688" r:id="rId40"/>
    <p:sldLayoutId id="2147483689" r:id="rId4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2.png"/><Relationship Id="rId4" Type="http://schemas.openxmlformats.org/officeDocument/2006/relationships/image" Target="../media/image1.png"/><Relationship Id="rId9" Type="http://schemas.openxmlformats.org/officeDocument/2006/relationships/image" Target="../media/image15.png"/><Relationship Id="rId5" Type="http://schemas.openxmlformats.org/officeDocument/2006/relationships/image" Target="../media/image36.png"/><Relationship Id="rId6" Type="http://schemas.openxmlformats.org/officeDocument/2006/relationships/image" Target="../media/image6.png"/><Relationship Id="rId7" Type="http://schemas.openxmlformats.org/officeDocument/2006/relationships/image" Target="../media/image10.png"/><Relationship Id="rId8" Type="http://schemas.openxmlformats.org/officeDocument/2006/relationships/image" Target="../media/image5.png"/><Relationship Id="rId10" Type="http://schemas.openxmlformats.org/officeDocument/2006/relationships/image" Target="../media/image1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Relationship Id="rId4" Type="http://schemas.openxmlformats.org/officeDocument/2006/relationships/image" Target="../media/image16.png"/><Relationship Id="rId5" Type="http://schemas.openxmlformats.org/officeDocument/2006/relationships/image" Target="../media/image2.png"/><Relationship Id="rId6" Type="http://schemas.openxmlformats.org/officeDocument/2006/relationships/image" Target="../media/image34.png"/><Relationship Id="rId7" Type="http://schemas.openxmlformats.org/officeDocument/2006/relationships/image" Target="../media/image3.png"/><Relationship Id="rId8" Type="http://schemas.openxmlformats.org/officeDocument/2006/relationships/image" Target="../media/image2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22.png"/><Relationship Id="rId5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5.png"/><Relationship Id="rId4" Type="http://schemas.openxmlformats.org/officeDocument/2006/relationships/image" Target="../media/image17.png"/><Relationship Id="rId5" Type="http://schemas.openxmlformats.org/officeDocument/2006/relationships/image" Target="../media/image23.png"/><Relationship Id="rId6" Type="http://schemas.openxmlformats.org/officeDocument/2006/relationships/image" Target="../media/image21.png"/><Relationship Id="rId7" Type="http://schemas.openxmlformats.org/officeDocument/2006/relationships/image" Target="../media/image3.png"/><Relationship Id="rId8" Type="http://schemas.openxmlformats.org/officeDocument/2006/relationships/image" Target="../media/image2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image" Target="../media/image2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png"/><Relationship Id="rId4" Type="http://schemas.openxmlformats.org/officeDocument/2006/relationships/image" Target="../media/image19.png"/><Relationship Id="rId5" Type="http://schemas.openxmlformats.org/officeDocument/2006/relationships/image" Target="../media/image24.png"/><Relationship Id="rId6" Type="http://schemas.openxmlformats.org/officeDocument/2006/relationships/image" Target="../media/image51.png"/><Relationship Id="rId7" Type="http://schemas.openxmlformats.org/officeDocument/2006/relationships/image" Target="../media/image27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.png"/><Relationship Id="rId4" Type="http://schemas.openxmlformats.org/officeDocument/2006/relationships/image" Target="../media/image20.png"/><Relationship Id="rId5" Type="http://schemas.openxmlformats.org/officeDocument/2006/relationships/image" Target="../media/image31.png"/><Relationship Id="rId6" Type="http://schemas.openxmlformats.org/officeDocument/2006/relationships/image" Target="../media/image29.png"/><Relationship Id="rId7" Type="http://schemas.openxmlformats.org/officeDocument/2006/relationships/image" Target="../media/image3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.png"/><Relationship Id="rId4" Type="http://schemas.openxmlformats.org/officeDocument/2006/relationships/image" Target="../media/image18.png"/><Relationship Id="rId5" Type="http://schemas.openxmlformats.org/officeDocument/2006/relationships/image" Target="../media/image30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.png"/><Relationship Id="rId4" Type="http://schemas.openxmlformats.org/officeDocument/2006/relationships/image" Target="../media/image37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.png"/><Relationship Id="rId4" Type="http://schemas.openxmlformats.org/officeDocument/2006/relationships/image" Target="../media/image28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.png"/><Relationship Id="rId4" Type="http://schemas.openxmlformats.org/officeDocument/2006/relationships/image" Target="../media/image26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.png"/><Relationship Id="rId4" Type="http://schemas.openxmlformats.org/officeDocument/2006/relationships/image" Target="../media/image39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.png"/><Relationship Id="rId4" Type="http://schemas.openxmlformats.org/officeDocument/2006/relationships/image" Target="../media/image49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.png"/><Relationship Id="rId4" Type="http://schemas.openxmlformats.org/officeDocument/2006/relationships/image" Target="../media/image56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.png"/><Relationship Id="rId4" Type="http://schemas.openxmlformats.org/officeDocument/2006/relationships/image" Target="../media/image33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.png"/><Relationship Id="rId4" Type="http://schemas.openxmlformats.org/officeDocument/2006/relationships/image" Target="../media/image45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3.png"/><Relationship Id="rId4" Type="http://schemas.openxmlformats.org/officeDocument/2006/relationships/image" Target="../media/image50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.png"/><Relationship Id="rId4" Type="http://schemas.openxmlformats.org/officeDocument/2006/relationships/image" Target="../media/image43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.png"/><Relationship Id="rId4" Type="http://schemas.openxmlformats.org/officeDocument/2006/relationships/image" Target="../media/image32.png"/><Relationship Id="rId5" Type="http://schemas.openxmlformats.org/officeDocument/2006/relationships/image" Target="../media/image53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.png"/><Relationship Id="rId4" Type="http://schemas.openxmlformats.org/officeDocument/2006/relationships/image" Target="../media/image42.png"/><Relationship Id="rId5" Type="http://schemas.openxmlformats.org/officeDocument/2006/relationships/image" Target="../media/image44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3.png"/><Relationship Id="rId4" Type="http://schemas.openxmlformats.org/officeDocument/2006/relationships/image" Target="../media/image57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48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hyperlink" Target="https://g.co/gemini/share/393c988ebca6" TargetMode="Externa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59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55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2.png"/><Relationship Id="rId4" Type="http://schemas.openxmlformats.org/officeDocument/2006/relationships/image" Target="../media/image1.png"/><Relationship Id="rId9" Type="http://schemas.openxmlformats.org/officeDocument/2006/relationships/image" Target="../media/image15.png"/><Relationship Id="rId5" Type="http://schemas.openxmlformats.org/officeDocument/2006/relationships/image" Target="../media/image36.png"/><Relationship Id="rId6" Type="http://schemas.openxmlformats.org/officeDocument/2006/relationships/image" Target="../media/image6.png"/><Relationship Id="rId7" Type="http://schemas.openxmlformats.org/officeDocument/2006/relationships/image" Target="../media/image10.png"/><Relationship Id="rId8" Type="http://schemas.openxmlformats.org/officeDocument/2006/relationships/image" Target="../media/image5.png"/><Relationship Id="rId10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8" name="Google Shape;178;p1"/>
          <p:cNvGrpSpPr/>
          <p:nvPr/>
        </p:nvGrpSpPr>
        <p:grpSpPr>
          <a:xfrm>
            <a:off x="-168372" y="-196608"/>
            <a:ext cx="1197072" cy="10750131"/>
            <a:chOff x="0" y="-38100"/>
            <a:chExt cx="315278" cy="2831310"/>
          </a:xfrm>
        </p:grpSpPr>
        <p:sp>
          <p:nvSpPr>
            <p:cNvPr id="179" name="Google Shape;179;p1"/>
            <p:cNvSpPr/>
            <p:nvPr/>
          </p:nvSpPr>
          <p:spPr>
            <a:xfrm>
              <a:off x="0" y="0"/>
              <a:ext cx="315278" cy="2793210"/>
            </a:xfrm>
            <a:custGeom>
              <a:rect b="b" l="l" r="r" t="t"/>
              <a:pathLst>
                <a:path extrusionOk="0" h="2793210" w="315278">
                  <a:moveTo>
                    <a:pt x="0" y="0"/>
                  </a:moveTo>
                  <a:lnTo>
                    <a:pt x="315278" y="0"/>
                  </a:lnTo>
                  <a:lnTo>
                    <a:pt x="315278" y="2793210"/>
                  </a:lnTo>
                  <a:lnTo>
                    <a:pt x="0" y="2793210"/>
                  </a:lnTo>
                  <a:close/>
                </a:path>
              </a:pathLst>
            </a:custGeom>
            <a:solidFill>
              <a:srgbClr val="E3061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0" name="Google Shape;180;p1"/>
            <p:cNvSpPr txBox="1"/>
            <p:nvPr/>
          </p:nvSpPr>
          <p:spPr>
            <a:xfrm>
              <a:off x="0" y="-38100"/>
              <a:ext cx="315278" cy="28313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1" name="Google Shape;181;p1"/>
          <p:cNvSpPr/>
          <p:nvPr/>
        </p:nvSpPr>
        <p:spPr>
          <a:xfrm>
            <a:off x="1477632" y="5203547"/>
            <a:ext cx="4826991" cy="942235"/>
          </a:xfrm>
          <a:custGeom>
            <a:rect b="b" l="l" r="r" t="t"/>
            <a:pathLst>
              <a:path extrusionOk="0" h="942235" w="4826991">
                <a:moveTo>
                  <a:pt x="0" y="0"/>
                </a:moveTo>
                <a:lnTo>
                  <a:pt x="4826990" y="0"/>
                </a:lnTo>
                <a:lnTo>
                  <a:pt x="4826990" y="942235"/>
                </a:lnTo>
                <a:lnTo>
                  <a:pt x="0" y="94223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4628" l="0" r="0" t="-463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82" name="Google Shape;182;p1"/>
          <p:cNvGrpSpPr/>
          <p:nvPr/>
        </p:nvGrpSpPr>
        <p:grpSpPr>
          <a:xfrm>
            <a:off x="9634596" y="-468619"/>
            <a:ext cx="7739804" cy="11581916"/>
            <a:chOff x="0" y="-38100"/>
            <a:chExt cx="2038467" cy="3050381"/>
          </a:xfrm>
        </p:grpSpPr>
        <p:sp>
          <p:nvSpPr>
            <p:cNvPr id="183" name="Google Shape;183;p1"/>
            <p:cNvSpPr/>
            <p:nvPr/>
          </p:nvSpPr>
          <p:spPr>
            <a:xfrm>
              <a:off x="0" y="0"/>
              <a:ext cx="2038467" cy="3012281"/>
            </a:xfrm>
            <a:custGeom>
              <a:rect b="b" l="l" r="r" t="t"/>
              <a:pathLst>
                <a:path extrusionOk="0" h="3012281" w="2038467">
                  <a:moveTo>
                    <a:pt x="0" y="0"/>
                  </a:moveTo>
                  <a:lnTo>
                    <a:pt x="2038467" y="0"/>
                  </a:lnTo>
                  <a:lnTo>
                    <a:pt x="2038467" y="3012281"/>
                  </a:lnTo>
                  <a:lnTo>
                    <a:pt x="0" y="301228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4" name="Google Shape;184;p1"/>
            <p:cNvSpPr txBox="1"/>
            <p:nvPr/>
          </p:nvSpPr>
          <p:spPr>
            <a:xfrm>
              <a:off x="0" y="-38100"/>
              <a:ext cx="2038467" cy="305038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5" name="Google Shape;185;p1"/>
          <p:cNvSpPr/>
          <p:nvPr/>
        </p:nvSpPr>
        <p:spPr>
          <a:xfrm>
            <a:off x="15939655" y="7859362"/>
            <a:ext cx="1951489" cy="2427638"/>
          </a:xfrm>
          <a:custGeom>
            <a:rect b="b" l="l" r="r" t="t"/>
            <a:pathLst>
              <a:path extrusionOk="0" h="2427638" w="1951489">
                <a:moveTo>
                  <a:pt x="0" y="0"/>
                </a:moveTo>
                <a:lnTo>
                  <a:pt x="1951489" y="0"/>
                </a:lnTo>
                <a:lnTo>
                  <a:pt x="1951489" y="2427638"/>
                </a:lnTo>
                <a:lnTo>
                  <a:pt x="0" y="242763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"/>
          <p:cNvSpPr/>
          <p:nvPr/>
        </p:nvSpPr>
        <p:spPr>
          <a:xfrm>
            <a:off x="15325189" y="4137430"/>
            <a:ext cx="1605408" cy="2573800"/>
          </a:xfrm>
          <a:custGeom>
            <a:rect b="b" l="l" r="r" t="t"/>
            <a:pathLst>
              <a:path extrusionOk="0" h="2573800" w="1605408">
                <a:moveTo>
                  <a:pt x="0" y="0"/>
                </a:moveTo>
                <a:lnTo>
                  <a:pt x="1605409" y="0"/>
                </a:lnTo>
                <a:lnTo>
                  <a:pt x="1605409" y="2573800"/>
                </a:lnTo>
                <a:lnTo>
                  <a:pt x="0" y="2573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"/>
          <p:cNvSpPr/>
          <p:nvPr/>
        </p:nvSpPr>
        <p:spPr>
          <a:xfrm flipH="1">
            <a:off x="8846688" y="4137430"/>
            <a:ext cx="6180473" cy="6149570"/>
          </a:xfrm>
          <a:custGeom>
            <a:rect b="b" l="l" r="r" t="t"/>
            <a:pathLst>
              <a:path extrusionOk="0" h="6149570" w="6180473">
                <a:moveTo>
                  <a:pt x="6180473" y="0"/>
                </a:moveTo>
                <a:lnTo>
                  <a:pt x="0" y="0"/>
                </a:lnTo>
                <a:lnTo>
                  <a:pt x="0" y="6149570"/>
                </a:lnTo>
                <a:lnTo>
                  <a:pt x="6180473" y="6149570"/>
                </a:lnTo>
                <a:lnTo>
                  <a:pt x="6180473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"/>
          <p:cNvSpPr/>
          <p:nvPr/>
        </p:nvSpPr>
        <p:spPr>
          <a:xfrm flipH="1">
            <a:off x="12392588" y="4137430"/>
            <a:ext cx="4780387" cy="6149570"/>
          </a:xfrm>
          <a:custGeom>
            <a:rect b="b" l="l" r="r" t="t"/>
            <a:pathLst>
              <a:path extrusionOk="0" h="6149570" w="4780387">
                <a:moveTo>
                  <a:pt x="4780387" y="0"/>
                </a:moveTo>
                <a:lnTo>
                  <a:pt x="0" y="0"/>
                </a:lnTo>
                <a:lnTo>
                  <a:pt x="0" y="6149570"/>
                </a:lnTo>
                <a:lnTo>
                  <a:pt x="4780387" y="6149570"/>
                </a:lnTo>
                <a:lnTo>
                  <a:pt x="4780387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-15156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"/>
          <p:cNvSpPr/>
          <p:nvPr/>
        </p:nvSpPr>
        <p:spPr>
          <a:xfrm>
            <a:off x="10098577" y="9152435"/>
            <a:ext cx="2294011" cy="1134565"/>
          </a:xfrm>
          <a:custGeom>
            <a:rect b="b" l="l" r="r" t="t"/>
            <a:pathLst>
              <a:path extrusionOk="0" h="1134565" w="2294011">
                <a:moveTo>
                  <a:pt x="0" y="0"/>
                </a:moveTo>
                <a:lnTo>
                  <a:pt x="2294011" y="0"/>
                </a:lnTo>
                <a:lnTo>
                  <a:pt x="2294011" y="1134565"/>
                </a:lnTo>
                <a:lnTo>
                  <a:pt x="0" y="113456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"/>
          <p:cNvSpPr/>
          <p:nvPr/>
        </p:nvSpPr>
        <p:spPr>
          <a:xfrm rot="753594">
            <a:off x="14437890" y="1491650"/>
            <a:ext cx="1774599" cy="1744107"/>
          </a:xfrm>
          <a:custGeom>
            <a:rect b="b" l="l" r="r" t="t"/>
            <a:pathLst>
              <a:path extrusionOk="0" h="1744107" w="1774599">
                <a:moveTo>
                  <a:pt x="0" y="0"/>
                </a:moveTo>
                <a:lnTo>
                  <a:pt x="1774599" y="0"/>
                </a:lnTo>
                <a:lnTo>
                  <a:pt x="1774599" y="1744108"/>
                </a:lnTo>
                <a:lnTo>
                  <a:pt x="0" y="174410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"/>
          <p:cNvSpPr/>
          <p:nvPr/>
        </p:nvSpPr>
        <p:spPr>
          <a:xfrm>
            <a:off x="10584085" y="1028700"/>
            <a:ext cx="2079407" cy="2088274"/>
          </a:xfrm>
          <a:custGeom>
            <a:rect b="b" l="l" r="r" t="t"/>
            <a:pathLst>
              <a:path extrusionOk="0" h="2088274" w="2079407">
                <a:moveTo>
                  <a:pt x="0" y="0"/>
                </a:moveTo>
                <a:lnTo>
                  <a:pt x="2079406" y="0"/>
                </a:lnTo>
                <a:lnTo>
                  <a:pt x="2079406" y="2088274"/>
                </a:lnTo>
                <a:lnTo>
                  <a:pt x="0" y="208827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"/>
          <p:cNvSpPr txBox="1"/>
          <p:nvPr/>
        </p:nvSpPr>
        <p:spPr>
          <a:xfrm>
            <a:off x="1619496" y="883379"/>
            <a:ext cx="8143675" cy="10233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69"/>
              <a:buFont typeface="Arial"/>
              <a:buNone/>
            </a:pPr>
            <a:r>
              <a:rPr b="1" i="0" lang="en-US" sz="8069" u="none" cap="none" strike="noStrike">
                <a:solidFill>
                  <a:srgbClr val="E30613"/>
                </a:solidFill>
                <a:latin typeface="Arial"/>
                <a:ea typeface="Arial"/>
                <a:cs typeface="Arial"/>
                <a:sym typeface="Arial"/>
              </a:rPr>
              <a:t>Aula: 08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1"/>
          <p:cNvSpPr txBox="1"/>
          <p:nvPr/>
        </p:nvSpPr>
        <p:spPr>
          <a:xfrm>
            <a:off x="1748072" y="4627122"/>
            <a:ext cx="7886524" cy="3421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70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21"/>
              <a:buFont typeface="Arial"/>
              <a:buNone/>
            </a:pPr>
            <a:r>
              <a:rPr b="0" i="0" lang="en-US" sz="272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Bem-vindo(a) ao nosso Programa Qualifica - TI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1"/>
          <p:cNvSpPr txBox="1"/>
          <p:nvPr/>
        </p:nvSpPr>
        <p:spPr>
          <a:xfrm>
            <a:off x="1192902" y="7830550"/>
            <a:ext cx="9905100" cy="24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69"/>
              <a:buFont typeface="Arial"/>
              <a:buNone/>
            </a:pPr>
            <a:r>
              <a:rPr b="1" i="0" lang="en-US" sz="8069" u="none" cap="none" strike="noStrike">
                <a:solidFill>
                  <a:srgbClr val="E30613"/>
                </a:solidFill>
                <a:latin typeface="Arial"/>
                <a:ea typeface="Arial"/>
                <a:cs typeface="Arial"/>
                <a:sym typeface="Arial"/>
              </a:rPr>
              <a:t>Curso: Arquitetura de Sistemas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9" name="Google Shape;199;p2"/>
          <p:cNvCxnSpPr/>
          <p:nvPr/>
        </p:nvCxnSpPr>
        <p:spPr>
          <a:xfrm>
            <a:off x="3001685" y="1057186"/>
            <a:ext cx="5237960" cy="0"/>
          </a:xfrm>
          <a:prstGeom prst="straightConnector1">
            <a:avLst/>
          </a:prstGeom>
          <a:noFill/>
          <a:ln cap="flat" cmpd="sng" w="38100">
            <a:solidFill>
              <a:srgbClr val="E30613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00" name="Google Shape;200;p2"/>
          <p:cNvGrpSpPr/>
          <p:nvPr/>
        </p:nvGrpSpPr>
        <p:grpSpPr>
          <a:xfrm>
            <a:off x="10695500" y="1057830"/>
            <a:ext cx="9528785" cy="8200470"/>
            <a:chOff x="0" y="-38100"/>
            <a:chExt cx="2842104" cy="2198064"/>
          </a:xfrm>
        </p:grpSpPr>
        <p:sp>
          <p:nvSpPr>
            <p:cNvPr id="201" name="Google Shape;201;p2"/>
            <p:cNvSpPr/>
            <p:nvPr/>
          </p:nvSpPr>
          <p:spPr>
            <a:xfrm>
              <a:off x="0" y="0"/>
              <a:ext cx="2842104" cy="2159964"/>
            </a:xfrm>
            <a:custGeom>
              <a:rect b="b" l="l" r="r" t="t"/>
              <a:pathLst>
                <a:path extrusionOk="0" h="2159964" w="2842104">
                  <a:moveTo>
                    <a:pt x="0" y="0"/>
                  </a:moveTo>
                  <a:lnTo>
                    <a:pt x="2842104" y="0"/>
                  </a:lnTo>
                  <a:lnTo>
                    <a:pt x="2842104" y="2159964"/>
                  </a:lnTo>
                  <a:lnTo>
                    <a:pt x="0" y="215996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2" name="Google Shape;202;p2"/>
            <p:cNvSpPr txBox="1"/>
            <p:nvPr/>
          </p:nvSpPr>
          <p:spPr>
            <a:xfrm>
              <a:off x="0" y="-38100"/>
              <a:ext cx="2842104" cy="219806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3" name="Google Shape;203;p2"/>
          <p:cNvSpPr txBox="1"/>
          <p:nvPr/>
        </p:nvSpPr>
        <p:spPr>
          <a:xfrm>
            <a:off x="1540587" y="3547189"/>
            <a:ext cx="8649096" cy="57188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Boas-vindas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Prática do Dia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 Ambiente Laboratorial - Demonstrar</a:t>
            </a:r>
            <a:endParaRPr b="1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Intervalo / Parada Técnica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Executando a Atividade Prática</a:t>
            </a:r>
            <a:endParaRPr b="1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Conclusão da Atividade</a:t>
            </a:r>
            <a:endParaRPr b="1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Tema Articulado</a:t>
            </a:r>
            <a:endParaRPr b="1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Debate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Fechamento</a:t>
            </a:r>
            <a:endParaRPr b="1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04" name="Google Shape;204;p2"/>
          <p:cNvGrpSpPr/>
          <p:nvPr/>
        </p:nvGrpSpPr>
        <p:grpSpPr>
          <a:xfrm>
            <a:off x="1038225" y="3702368"/>
            <a:ext cx="202018" cy="374764"/>
            <a:chOff x="0" y="-38100"/>
            <a:chExt cx="53206" cy="98704"/>
          </a:xfrm>
        </p:grpSpPr>
        <p:sp>
          <p:nvSpPr>
            <p:cNvPr id="205" name="Google Shape;205;p2"/>
            <p:cNvSpPr/>
            <p:nvPr/>
          </p:nvSpPr>
          <p:spPr>
            <a:xfrm>
              <a:off x="0" y="0"/>
              <a:ext cx="53206" cy="60604"/>
            </a:xfrm>
            <a:custGeom>
              <a:rect b="b" l="l" r="r" t="t"/>
              <a:pathLst>
                <a:path extrusionOk="0" h="60604" w="53206">
                  <a:moveTo>
                    <a:pt x="0" y="0"/>
                  </a:moveTo>
                  <a:lnTo>
                    <a:pt x="53206" y="0"/>
                  </a:lnTo>
                  <a:lnTo>
                    <a:pt x="53206" y="60604"/>
                  </a:lnTo>
                  <a:lnTo>
                    <a:pt x="0" y="60604"/>
                  </a:lnTo>
                  <a:close/>
                </a:path>
              </a:pathLst>
            </a:custGeom>
            <a:solidFill>
              <a:srgbClr val="E3061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6" name="Google Shape;206;p2"/>
            <p:cNvSpPr txBox="1"/>
            <p:nvPr/>
          </p:nvSpPr>
          <p:spPr>
            <a:xfrm>
              <a:off x="0" y="-38100"/>
              <a:ext cx="53206" cy="9870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7" name="Google Shape;207;p2"/>
          <p:cNvGrpSpPr/>
          <p:nvPr/>
        </p:nvGrpSpPr>
        <p:grpSpPr>
          <a:xfrm>
            <a:off x="1038225" y="4331587"/>
            <a:ext cx="202018" cy="374764"/>
            <a:chOff x="0" y="-38100"/>
            <a:chExt cx="53206" cy="98704"/>
          </a:xfrm>
        </p:grpSpPr>
        <p:sp>
          <p:nvSpPr>
            <p:cNvPr id="208" name="Google Shape;208;p2"/>
            <p:cNvSpPr/>
            <p:nvPr/>
          </p:nvSpPr>
          <p:spPr>
            <a:xfrm>
              <a:off x="0" y="0"/>
              <a:ext cx="53206" cy="60604"/>
            </a:xfrm>
            <a:custGeom>
              <a:rect b="b" l="l" r="r" t="t"/>
              <a:pathLst>
                <a:path extrusionOk="0" h="60604" w="53206">
                  <a:moveTo>
                    <a:pt x="0" y="0"/>
                  </a:moveTo>
                  <a:lnTo>
                    <a:pt x="53206" y="0"/>
                  </a:lnTo>
                  <a:lnTo>
                    <a:pt x="53206" y="60604"/>
                  </a:lnTo>
                  <a:lnTo>
                    <a:pt x="0" y="60604"/>
                  </a:lnTo>
                  <a:close/>
                </a:path>
              </a:pathLst>
            </a:custGeom>
            <a:solidFill>
              <a:srgbClr val="E3061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9" name="Google Shape;209;p2"/>
            <p:cNvSpPr txBox="1"/>
            <p:nvPr/>
          </p:nvSpPr>
          <p:spPr>
            <a:xfrm>
              <a:off x="0" y="-38100"/>
              <a:ext cx="53206" cy="9870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0" name="Google Shape;210;p2"/>
          <p:cNvGrpSpPr/>
          <p:nvPr/>
        </p:nvGrpSpPr>
        <p:grpSpPr>
          <a:xfrm>
            <a:off x="1038225" y="4960806"/>
            <a:ext cx="202018" cy="374764"/>
            <a:chOff x="0" y="-38100"/>
            <a:chExt cx="53206" cy="98704"/>
          </a:xfrm>
        </p:grpSpPr>
        <p:sp>
          <p:nvSpPr>
            <p:cNvPr id="211" name="Google Shape;211;p2"/>
            <p:cNvSpPr/>
            <p:nvPr/>
          </p:nvSpPr>
          <p:spPr>
            <a:xfrm>
              <a:off x="0" y="0"/>
              <a:ext cx="53206" cy="60604"/>
            </a:xfrm>
            <a:custGeom>
              <a:rect b="b" l="l" r="r" t="t"/>
              <a:pathLst>
                <a:path extrusionOk="0" h="60604" w="53206">
                  <a:moveTo>
                    <a:pt x="0" y="0"/>
                  </a:moveTo>
                  <a:lnTo>
                    <a:pt x="53206" y="0"/>
                  </a:lnTo>
                  <a:lnTo>
                    <a:pt x="53206" y="60604"/>
                  </a:lnTo>
                  <a:lnTo>
                    <a:pt x="0" y="60604"/>
                  </a:lnTo>
                  <a:close/>
                </a:path>
              </a:pathLst>
            </a:custGeom>
            <a:solidFill>
              <a:srgbClr val="E3061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2" name="Google Shape;212;p2"/>
            <p:cNvSpPr txBox="1"/>
            <p:nvPr/>
          </p:nvSpPr>
          <p:spPr>
            <a:xfrm>
              <a:off x="0" y="-38100"/>
              <a:ext cx="53206" cy="9870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3" name="Google Shape;213;p2"/>
          <p:cNvGrpSpPr/>
          <p:nvPr/>
        </p:nvGrpSpPr>
        <p:grpSpPr>
          <a:xfrm>
            <a:off x="1038225" y="5590025"/>
            <a:ext cx="202018" cy="374764"/>
            <a:chOff x="0" y="-38100"/>
            <a:chExt cx="53206" cy="98704"/>
          </a:xfrm>
        </p:grpSpPr>
        <p:sp>
          <p:nvSpPr>
            <p:cNvPr id="214" name="Google Shape;214;p2"/>
            <p:cNvSpPr/>
            <p:nvPr/>
          </p:nvSpPr>
          <p:spPr>
            <a:xfrm>
              <a:off x="0" y="0"/>
              <a:ext cx="53206" cy="60604"/>
            </a:xfrm>
            <a:custGeom>
              <a:rect b="b" l="l" r="r" t="t"/>
              <a:pathLst>
                <a:path extrusionOk="0" h="60604" w="53206">
                  <a:moveTo>
                    <a:pt x="0" y="0"/>
                  </a:moveTo>
                  <a:lnTo>
                    <a:pt x="53206" y="0"/>
                  </a:lnTo>
                  <a:lnTo>
                    <a:pt x="53206" y="60604"/>
                  </a:lnTo>
                  <a:lnTo>
                    <a:pt x="0" y="60604"/>
                  </a:lnTo>
                  <a:close/>
                </a:path>
              </a:pathLst>
            </a:custGeom>
            <a:solidFill>
              <a:srgbClr val="E3061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5" name="Google Shape;215;p2"/>
            <p:cNvSpPr txBox="1"/>
            <p:nvPr/>
          </p:nvSpPr>
          <p:spPr>
            <a:xfrm>
              <a:off x="0" y="-38100"/>
              <a:ext cx="53206" cy="9870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6" name="Google Shape;216;p2"/>
          <p:cNvGrpSpPr/>
          <p:nvPr/>
        </p:nvGrpSpPr>
        <p:grpSpPr>
          <a:xfrm>
            <a:off x="1038225" y="6219244"/>
            <a:ext cx="202018" cy="374764"/>
            <a:chOff x="0" y="-38100"/>
            <a:chExt cx="53206" cy="98704"/>
          </a:xfrm>
        </p:grpSpPr>
        <p:sp>
          <p:nvSpPr>
            <p:cNvPr id="217" name="Google Shape;217;p2"/>
            <p:cNvSpPr/>
            <p:nvPr/>
          </p:nvSpPr>
          <p:spPr>
            <a:xfrm>
              <a:off x="0" y="0"/>
              <a:ext cx="53206" cy="60604"/>
            </a:xfrm>
            <a:custGeom>
              <a:rect b="b" l="l" r="r" t="t"/>
              <a:pathLst>
                <a:path extrusionOk="0" h="60604" w="53206">
                  <a:moveTo>
                    <a:pt x="0" y="0"/>
                  </a:moveTo>
                  <a:lnTo>
                    <a:pt x="53206" y="0"/>
                  </a:lnTo>
                  <a:lnTo>
                    <a:pt x="53206" y="60604"/>
                  </a:lnTo>
                  <a:lnTo>
                    <a:pt x="0" y="60604"/>
                  </a:lnTo>
                  <a:close/>
                </a:path>
              </a:pathLst>
            </a:custGeom>
            <a:solidFill>
              <a:srgbClr val="E3061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8" name="Google Shape;218;p2"/>
            <p:cNvSpPr txBox="1"/>
            <p:nvPr/>
          </p:nvSpPr>
          <p:spPr>
            <a:xfrm>
              <a:off x="0" y="-38100"/>
              <a:ext cx="53206" cy="9870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9" name="Google Shape;219;p2"/>
          <p:cNvGrpSpPr/>
          <p:nvPr/>
        </p:nvGrpSpPr>
        <p:grpSpPr>
          <a:xfrm>
            <a:off x="1038225" y="6848462"/>
            <a:ext cx="202018" cy="374764"/>
            <a:chOff x="0" y="-38100"/>
            <a:chExt cx="53206" cy="98704"/>
          </a:xfrm>
        </p:grpSpPr>
        <p:sp>
          <p:nvSpPr>
            <p:cNvPr id="220" name="Google Shape;220;p2"/>
            <p:cNvSpPr/>
            <p:nvPr/>
          </p:nvSpPr>
          <p:spPr>
            <a:xfrm>
              <a:off x="0" y="0"/>
              <a:ext cx="53206" cy="60604"/>
            </a:xfrm>
            <a:custGeom>
              <a:rect b="b" l="l" r="r" t="t"/>
              <a:pathLst>
                <a:path extrusionOk="0" h="60604" w="53206">
                  <a:moveTo>
                    <a:pt x="0" y="0"/>
                  </a:moveTo>
                  <a:lnTo>
                    <a:pt x="53206" y="0"/>
                  </a:lnTo>
                  <a:lnTo>
                    <a:pt x="53206" y="60604"/>
                  </a:lnTo>
                  <a:lnTo>
                    <a:pt x="0" y="60604"/>
                  </a:lnTo>
                  <a:close/>
                </a:path>
              </a:pathLst>
            </a:custGeom>
            <a:solidFill>
              <a:srgbClr val="E3061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1" name="Google Shape;221;p2"/>
            <p:cNvSpPr txBox="1"/>
            <p:nvPr/>
          </p:nvSpPr>
          <p:spPr>
            <a:xfrm>
              <a:off x="0" y="-38100"/>
              <a:ext cx="53206" cy="9870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22" name="Google Shape;222;p2"/>
          <p:cNvGrpSpPr/>
          <p:nvPr/>
        </p:nvGrpSpPr>
        <p:grpSpPr>
          <a:xfrm>
            <a:off x="1038225" y="7477681"/>
            <a:ext cx="202018" cy="374764"/>
            <a:chOff x="0" y="-38100"/>
            <a:chExt cx="53206" cy="98704"/>
          </a:xfrm>
        </p:grpSpPr>
        <p:sp>
          <p:nvSpPr>
            <p:cNvPr id="223" name="Google Shape;223;p2"/>
            <p:cNvSpPr/>
            <p:nvPr/>
          </p:nvSpPr>
          <p:spPr>
            <a:xfrm>
              <a:off x="0" y="0"/>
              <a:ext cx="53206" cy="60604"/>
            </a:xfrm>
            <a:custGeom>
              <a:rect b="b" l="l" r="r" t="t"/>
              <a:pathLst>
                <a:path extrusionOk="0" h="60604" w="53206">
                  <a:moveTo>
                    <a:pt x="0" y="0"/>
                  </a:moveTo>
                  <a:lnTo>
                    <a:pt x="53206" y="0"/>
                  </a:lnTo>
                  <a:lnTo>
                    <a:pt x="53206" y="60604"/>
                  </a:lnTo>
                  <a:lnTo>
                    <a:pt x="0" y="60604"/>
                  </a:lnTo>
                  <a:close/>
                </a:path>
              </a:pathLst>
            </a:custGeom>
            <a:solidFill>
              <a:srgbClr val="E3061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4" name="Google Shape;224;p2"/>
            <p:cNvSpPr txBox="1"/>
            <p:nvPr/>
          </p:nvSpPr>
          <p:spPr>
            <a:xfrm>
              <a:off x="0" y="-38100"/>
              <a:ext cx="53206" cy="9870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25" name="Google Shape;225;p2"/>
          <p:cNvGrpSpPr/>
          <p:nvPr/>
        </p:nvGrpSpPr>
        <p:grpSpPr>
          <a:xfrm>
            <a:off x="1038225" y="8106900"/>
            <a:ext cx="202018" cy="374764"/>
            <a:chOff x="0" y="-38100"/>
            <a:chExt cx="53206" cy="98704"/>
          </a:xfrm>
        </p:grpSpPr>
        <p:sp>
          <p:nvSpPr>
            <p:cNvPr id="226" name="Google Shape;226;p2"/>
            <p:cNvSpPr/>
            <p:nvPr/>
          </p:nvSpPr>
          <p:spPr>
            <a:xfrm>
              <a:off x="0" y="0"/>
              <a:ext cx="53206" cy="60604"/>
            </a:xfrm>
            <a:custGeom>
              <a:rect b="b" l="l" r="r" t="t"/>
              <a:pathLst>
                <a:path extrusionOk="0" h="60604" w="53206">
                  <a:moveTo>
                    <a:pt x="0" y="0"/>
                  </a:moveTo>
                  <a:lnTo>
                    <a:pt x="53206" y="0"/>
                  </a:lnTo>
                  <a:lnTo>
                    <a:pt x="53206" y="60604"/>
                  </a:lnTo>
                  <a:lnTo>
                    <a:pt x="0" y="60604"/>
                  </a:lnTo>
                  <a:close/>
                </a:path>
              </a:pathLst>
            </a:custGeom>
            <a:solidFill>
              <a:srgbClr val="E3061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7" name="Google Shape;227;p2"/>
            <p:cNvSpPr txBox="1"/>
            <p:nvPr/>
          </p:nvSpPr>
          <p:spPr>
            <a:xfrm>
              <a:off x="0" y="-38100"/>
              <a:ext cx="53206" cy="9870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28" name="Google Shape;228;p2"/>
          <p:cNvGrpSpPr/>
          <p:nvPr/>
        </p:nvGrpSpPr>
        <p:grpSpPr>
          <a:xfrm>
            <a:off x="1038225" y="8736119"/>
            <a:ext cx="202018" cy="374764"/>
            <a:chOff x="0" y="-38100"/>
            <a:chExt cx="53206" cy="98704"/>
          </a:xfrm>
        </p:grpSpPr>
        <p:sp>
          <p:nvSpPr>
            <p:cNvPr id="229" name="Google Shape;229;p2"/>
            <p:cNvSpPr/>
            <p:nvPr/>
          </p:nvSpPr>
          <p:spPr>
            <a:xfrm>
              <a:off x="0" y="0"/>
              <a:ext cx="53206" cy="60604"/>
            </a:xfrm>
            <a:custGeom>
              <a:rect b="b" l="l" r="r" t="t"/>
              <a:pathLst>
                <a:path extrusionOk="0" h="60604" w="53206">
                  <a:moveTo>
                    <a:pt x="0" y="0"/>
                  </a:moveTo>
                  <a:lnTo>
                    <a:pt x="53206" y="0"/>
                  </a:lnTo>
                  <a:lnTo>
                    <a:pt x="53206" y="60604"/>
                  </a:lnTo>
                  <a:lnTo>
                    <a:pt x="0" y="60604"/>
                  </a:lnTo>
                  <a:close/>
                </a:path>
              </a:pathLst>
            </a:custGeom>
            <a:solidFill>
              <a:srgbClr val="E3061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0" name="Google Shape;230;p2"/>
            <p:cNvSpPr txBox="1"/>
            <p:nvPr/>
          </p:nvSpPr>
          <p:spPr>
            <a:xfrm>
              <a:off x="0" y="-38100"/>
              <a:ext cx="53206" cy="9870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1" name="Google Shape;231;p2"/>
          <p:cNvSpPr/>
          <p:nvPr/>
        </p:nvSpPr>
        <p:spPr>
          <a:xfrm rot="567872">
            <a:off x="12773376" y="3054928"/>
            <a:ext cx="5373030" cy="5373030"/>
          </a:xfrm>
          <a:custGeom>
            <a:rect b="b" l="l" r="r" t="t"/>
            <a:pathLst>
              <a:path extrusionOk="0" h="5373030" w="5373030">
                <a:moveTo>
                  <a:pt x="0" y="0"/>
                </a:moveTo>
                <a:lnTo>
                  <a:pt x="5373029" y="0"/>
                </a:lnTo>
                <a:lnTo>
                  <a:pt x="5373029" y="5373030"/>
                </a:lnTo>
                <a:lnTo>
                  <a:pt x="0" y="537303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"/>
          <p:cNvSpPr txBox="1"/>
          <p:nvPr/>
        </p:nvSpPr>
        <p:spPr>
          <a:xfrm>
            <a:off x="1034770" y="1847436"/>
            <a:ext cx="11910089" cy="7089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None/>
            </a:pPr>
            <a:r>
              <a:rPr b="1" i="0" lang="en-US" sz="5600" u="none" cap="none" strike="noStrike">
                <a:solidFill>
                  <a:srgbClr val="E30613"/>
                </a:solidFill>
                <a:latin typeface="Arial"/>
                <a:ea typeface="Arial"/>
                <a:cs typeface="Arial"/>
                <a:sym typeface="Arial"/>
              </a:rPr>
              <a:t>Agenda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4"/>
          <p:cNvSpPr txBox="1"/>
          <p:nvPr/>
        </p:nvSpPr>
        <p:spPr>
          <a:xfrm>
            <a:off x="2667001" y="4266337"/>
            <a:ext cx="6758911" cy="17543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1" i="0" lang="en-US" sz="5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Camada de Serviços e Controllers REST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8" name="Google Shape;238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62088" y="2423476"/>
            <a:ext cx="6758911" cy="67589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5"/>
          <p:cNvSpPr/>
          <p:nvPr/>
        </p:nvSpPr>
        <p:spPr>
          <a:xfrm>
            <a:off x="992238" y="1316831"/>
            <a:ext cx="6202264" cy="7750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36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75"/>
              <a:buFont typeface="Arial"/>
              <a:buNone/>
            </a:pPr>
            <a:r>
              <a:rPr b="1" i="0" lang="en-US" sz="4875" u="none" cap="none" strike="noStrike">
                <a:solidFill>
                  <a:srgbClr val="E30613"/>
                </a:solidFill>
                <a:latin typeface="PT Sans"/>
                <a:ea typeface="PT Sans"/>
                <a:cs typeface="PT Sans"/>
                <a:sym typeface="PT Sans"/>
              </a:rPr>
              <a:t>Objetivo da Aula</a:t>
            </a:r>
            <a:endParaRPr b="0" i="0" sz="4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5"/>
          <p:cNvSpPr/>
          <p:nvPr/>
        </p:nvSpPr>
        <p:spPr>
          <a:xfrm>
            <a:off x="-1749327" y="2549722"/>
            <a:ext cx="16303526" cy="396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133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37"/>
              <a:buFont typeface="Arial"/>
              <a:buNone/>
            </a:pPr>
            <a:r>
              <a:rPr b="0" i="0" lang="en-US" sz="1937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Nosso foco é desenvolver duas camadas fundamentais da arquitetura:</a:t>
            </a:r>
            <a:endParaRPr b="0" i="0" sz="193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5"/>
          <p:cNvSpPr/>
          <p:nvPr/>
        </p:nvSpPr>
        <p:spPr>
          <a:xfrm>
            <a:off x="2693641" y="4496841"/>
            <a:ext cx="3101131" cy="3876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305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38"/>
              <a:buFont typeface="Arial"/>
              <a:buNone/>
            </a:pPr>
            <a:r>
              <a:rPr b="1" i="0" lang="en-US" sz="2438" u="none" cap="none" strike="noStrike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</a:rPr>
              <a:t>Camada de Serviços</a:t>
            </a:r>
            <a:endParaRPr b="0" i="0" sz="243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5"/>
          <p:cNvSpPr/>
          <p:nvPr/>
        </p:nvSpPr>
        <p:spPr>
          <a:xfrm>
            <a:off x="992238" y="5033368"/>
            <a:ext cx="4802535" cy="11907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6133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37"/>
              <a:buFont typeface="Arial"/>
              <a:buNone/>
            </a:pPr>
            <a:r>
              <a:rPr b="0" i="0" lang="en-US" sz="1937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Implementar classes responsáveis por encapsular toda a lógica de negócio do sistema DeliveryTech</a:t>
            </a:r>
            <a:endParaRPr b="0" i="0" sz="193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5"/>
          <p:cNvSpPr/>
          <p:nvPr/>
        </p:nvSpPr>
        <p:spPr>
          <a:xfrm>
            <a:off x="992238" y="6372969"/>
            <a:ext cx="4802535" cy="396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428625" lvl="0" marL="428625" marR="0" rtl="0" algn="l">
              <a:lnSpc>
                <a:spcPct val="16133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37"/>
              <a:buFont typeface="Montserrat"/>
              <a:buChar char="•"/>
            </a:pPr>
            <a:r>
              <a:rPr b="0" i="0" lang="en-US" sz="1937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Regras de validação</a:t>
            </a:r>
            <a:endParaRPr b="0" i="0" sz="193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5"/>
          <p:cNvSpPr/>
          <p:nvPr/>
        </p:nvSpPr>
        <p:spPr>
          <a:xfrm>
            <a:off x="992238" y="6856660"/>
            <a:ext cx="4802535" cy="396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428625" lvl="0" marL="428625" marR="0" rtl="0" algn="l">
              <a:lnSpc>
                <a:spcPct val="16133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37"/>
              <a:buFont typeface="Montserrat"/>
              <a:buChar char="•"/>
            </a:pPr>
            <a:r>
              <a:rPr b="0" i="0" lang="en-US" sz="1937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Operações transacionais</a:t>
            </a:r>
            <a:endParaRPr b="0" i="0" sz="193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5"/>
          <p:cNvSpPr/>
          <p:nvPr/>
        </p:nvSpPr>
        <p:spPr>
          <a:xfrm>
            <a:off x="992238" y="7340353"/>
            <a:ext cx="4802535" cy="396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428625" lvl="0" marL="428625" marR="0" rtl="0" algn="l">
              <a:lnSpc>
                <a:spcPct val="16133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37"/>
              <a:buFont typeface="Montserrat"/>
              <a:buChar char="•"/>
            </a:pPr>
            <a:r>
              <a:rPr b="0" i="0" lang="en-US" sz="1937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Manipulação de entidades</a:t>
            </a:r>
            <a:endParaRPr b="0" i="0" sz="193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51" name="Google Shape;251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90817" y="3263951"/>
            <a:ext cx="5706219" cy="570621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52" name="Google Shape;252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961064" y="5885036"/>
            <a:ext cx="371178" cy="463898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5"/>
          <p:cNvSpPr/>
          <p:nvPr/>
        </p:nvSpPr>
        <p:spPr>
          <a:xfrm>
            <a:off x="12493080" y="4695230"/>
            <a:ext cx="3101131" cy="3876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5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38"/>
              <a:buFont typeface="Arial"/>
              <a:buNone/>
            </a:pPr>
            <a:r>
              <a:rPr b="1" i="0" lang="en-US" sz="2438" u="none" cap="none" strike="noStrike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</a:rPr>
              <a:t>Camada de Controllers</a:t>
            </a:r>
            <a:endParaRPr b="0" i="0" sz="243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5"/>
          <p:cNvSpPr/>
          <p:nvPr/>
        </p:nvSpPr>
        <p:spPr>
          <a:xfrm>
            <a:off x="12493079" y="5231756"/>
            <a:ext cx="4802684" cy="793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33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37"/>
              <a:buFont typeface="Arial"/>
              <a:buNone/>
            </a:pPr>
            <a:r>
              <a:rPr b="0" i="0" lang="en-US" sz="1937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Criar endpoints HTTP que expõem a API REST para clientes externos</a:t>
            </a:r>
            <a:endParaRPr b="0" i="0" sz="193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5"/>
          <p:cNvSpPr/>
          <p:nvPr/>
        </p:nvSpPr>
        <p:spPr>
          <a:xfrm>
            <a:off x="12493079" y="6174433"/>
            <a:ext cx="4802684" cy="396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428625" lvl="0" marL="428625" marR="0" rtl="0" algn="l">
              <a:lnSpc>
                <a:spcPct val="16133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37"/>
              <a:buFont typeface="Montserrat"/>
              <a:buChar char="•"/>
            </a:pPr>
            <a:r>
              <a:rPr b="0" i="0" lang="en-US" sz="1937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Receber requisições</a:t>
            </a:r>
            <a:endParaRPr b="0" i="0" sz="193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5"/>
          <p:cNvSpPr/>
          <p:nvPr/>
        </p:nvSpPr>
        <p:spPr>
          <a:xfrm>
            <a:off x="12493079" y="6658124"/>
            <a:ext cx="4802684" cy="396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428625" lvl="0" marL="428625" marR="0" rtl="0" algn="l">
              <a:lnSpc>
                <a:spcPct val="16133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37"/>
              <a:buFont typeface="Montserrat"/>
              <a:buChar char="•"/>
            </a:pPr>
            <a:r>
              <a:rPr b="0" i="0" lang="en-US" sz="1937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Validar dados de entrada</a:t>
            </a:r>
            <a:endParaRPr b="0" i="0" sz="193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5"/>
          <p:cNvSpPr/>
          <p:nvPr/>
        </p:nvSpPr>
        <p:spPr>
          <a:xfrm>
            <a:off x="12493079" y="7141815"/>
            <a:ext cx="4802684" cy="396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428625" lvl="0" marL="428625" marR="0" rtl="0" algn="l">
              <a:lnSpc>
                <a:spcPct val="16133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37"/>
              <a:buFont typeface="Montserrat"/>
              <a:buChar char="•"/>
            </a:pPr>
            <a:r>
              <a:rPr b="0" i="0" lang="en-US" sz="1937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Retornar respostas apropriadas</a:t>
            </a:r>
            <a:endParaRPr b="0" i="0" sz="193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58" name="Google Shape;258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90817" y="3263951"/>
            <a:ext cx="5706219" cy="570621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59" name="Google Shape;259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955312" y="5885036"/>
            <a:ext cx="371178" cy="46389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60" name="Google Shape;260;p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6516350" y="285750"/>
            <a:ext cx="1485900" cy="316855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5"/>
          <p:cNvSpPr txBox="1"/>
          <p:nvPr/>
        </p:nvSpPr>
        <p:spPr>
          <a:xfrm>
            <a:off x="2667000" y="348209"/>
            <a:ext cx="6280430" cy="7089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None/>
            </a:pPr>
            <a:r>
              <a:rPr b="1" i="0" lang="en-US" sz="5600" u="none" cap="none" strike="noStrike">
                <a:solidFill>
                  <a:srgbClr val="E30613"/>
                </a:solidFill>
                <a:latin typeface="Arial"/>
                <a:ea typeface="Arial"/>
                <a:cs typeface="Arial"/>
                <a:sym typeface="Arial"/>
              </a:rPr>
              <a:t>Desenvolvimento</a:t>
            </a:r>
            <a:endParaRPr b="1" i="0" sz="5600" u="none" cap="none" strike="noStrike">
              <a:solidFill>
                <a:srgbClr val="E3061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2" name="Google Shape;262;p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2115800" y="702697"/>
            <a:ext cx="4876798" cy="2438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7" name="Google Shape;267;p6"/>
          <p:cNvCxnSpPr/>
          <p:nvPr/>
        </p:nvCxnSpPr>
        <p:spPr>
          <a:xfrm>
            <a:off x="3001685" y="1057186"/>
            <a:ext cx="5237960" cy="0"/>
          </a:xfrm>
          <a:prstGeom prst="straightConnector1">
            <a:avLst/>
          </a:prstGeom>
          <a:noFill/>
          <a:ln cap="flat" cmpd="sng" w="38100">
            <a:solidFill>
              <a:srgbClr val="E3061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8" name="Google Shape;268;p6"/>
          <p:cNvSpPr txBox="1"/>
          <p:nvPr/>
        </p:nvSpPr>
        <p:spPr>
          <a:xfrm>
            <a:off x="2667000" y="348209"/>
            <a:ext cx="6280430" cy="7089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None/>
            </a:pPr>
            <a:r>
              <a:rPr b="1" i="0" lang="en-US" sz="5600" u="none" cap="none" strike="noStrike">
                <a:solidFill>
                  <a:srgbClr val="E30613"/>
                </a:solidFill>
                <a:latin typeface="Arial"/>
                <a:ea typeface="Arial"/>
                <a:cs typeface="Arial"/>
                <a:sym typeface="Arial"/>
              </a:rPr>
              <a:t>Desenvolvimento</a:t>
            </a:r>
            <a:endParaRPr b="1" i="0" sz="5600" u="none" cap="none" strike="noStrike">
              <a:solidFill>
                <a:srgbClr val="E3061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9" name="Google Shape;26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115800" y="702697"/>
            <a:ext cx="4876798" cy="2438399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6"/>
          <p:cNvSpPr txBox="1"/>
          <p:nvPr/>
        </p:nvSpPr>
        <p:spPr>
          <a:xfrm>
            <a:off x="1981200" y="2019568"/>
            <a:ext cx="9884100" cy="440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startup DeliveryTech agora possui uma camada de acesso a dados robusta com repositories funcionais, mas ainda enfrenta </a:t>
            </a:r>
            <a:r>
              <a:rPr lang="en-US" sz="4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desafíos</a:t>
            </a:r>
            <a:r>
              <a:rPr b="0" i="0" lang="en-US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críticos para disponibilizar o sistema para os usuários finais. A equipe de desenvolvimento identificou os seguintes problemas urgentes: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362e5210cb6_0_0"/>
          <p:cNvSpPr/>
          <p:nvPr/>
        </p:nvSpPr>
        <p:spPr>
          <a:xfrm>
            <a:off x="980470" y="1915650"/>
            <a:ext cx="11842800" cy="7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66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13"/>
              <a:buFont typeface="Arial"/>
              <a:buNone/>
            </a:pPr>
            <a:r>
              <a:rPr b="1" i="0" lang="en-US" sz="4813" u="none" cap="none" strike="noStrike">
                <a:solidFill>
                  <a:srgbClr val="E30613"/>
                </a:solidFill>
                <a:latin typeface="PT Sans"/>
                <a:ea typeface="PT Sans"/>
                <a:cs typeface="PT Sans"/>
                <a:sym typeface="PT Sans"/>
              </a:rPr>
              <a:t>Problemas Críticos Identificados:</a:t>
            </a:r>
            <a:endParaRPr b="0" i="0" sz="481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g362e5210cb6_0_0"/>
          <p:cNvSpPr/>
          <p:nvPr/>
        </p:nvSpPr>
        <p:spPr>
          <a:xfrm>
            <a:off x="980556" y="3412907"/>
            <a:ext cx="16326900" cy="39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36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75"/>
              <a:buFont typeface="Arial"/>
              <a:buNone/>
            </a:pPr>
            <a:r>
              <a:rPr b="0" i="0" lang="en-US" sz="2375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1.       "Como os clientes vão acessar nosso sistema?" - Não há interface de comunicação externa</a:t>
            </a:r>
            <a:endParaRPr b="0" i="0" sz="2375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6336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75"/>
              <a:buFont typeface="Arial"/>
              <a:buNone/>
            </a:pPr>
            <a:r>
              <a:t/>
            </a:r>
            <a:endParaRPr b="0" i="0" sz="2375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6336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75"/>
              <a:buFont typeface="Arial"/>
              <a:buNone/>
            </a:pPr>
            <a:r>
              <a:rPr b="0" i="0" lang="en-US" sz="2375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2.       "Onde colocamos as regras de negócio?" - Lógica misturada com acesso a dados</a:t>
            </a:r>
            <a:endParaRPr b="0" i="0" sz="2375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6336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75"/>
              <a:buFont typeface="Arial"/>
              <a:buNone/>
            </a:pPr>
            <a:r>
              <a:t/>
            </a:r>
            <a:endParaRPr b="0" i="0" sz="2375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6336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75"/>
              <a:buFont typeface="Arial"/>
              <a:buNone/>
            </a:pPr>
            <a:r>
              <a:rPr b="0" i="0" lang="en-US" sz="2375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3.       "Como </a:t>
            </a:r>
            <a:r>
              <a:rPr lang="en-US" sz="2375">
                <a:latin typeface="Montserrat"/>
                <a:ea typeface="Montserrat"/>
                <a:cs typeface="Montserrat"/>
                <a:sym typeface="Montserrat"/>
              </a:rPr>
              <a:t>validar</a:t>
            </a:r>
            <a:r>
              <a:rPr b="0" i="0" lang="en-US" sz="2375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um pedido antes de salvar?" - Falta de validações de negócio</a:t>
            </a:r>
            <a:endParaRPr b="0" i="0" sz="2375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6336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75"/>
              <a:buFont typeface="Arial"/>
              <a:buNone/>
            </a:pPr>
            <a:r>
              <a:t/>
            </a:r>
            <a:endParaRPr b="0" i="0" sz="2375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6336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75"/>
              <a:buFont typeface="Arial"/>
              <a:buNone/>
            </a:pPr>
            <a:r>
              <a:rPr b="0" i="0" lang="en-US" sz="2375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4.       "E se o estoque acabar durante um pedido?" - Controle transacional inexistente</a:t>
            </a:r>
            <a:endParaRPr b="0" i="0" sz="2375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6336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75"/>
              <a:buFont typeface="Arial"/>
              <a:buNone/>
            </a:pPr>
            <a:r>
              <a:t/>
            </a:r>
            <a:endParaRPr b="0" i="0" sz="2375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6336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75"/>
              <a:buFont typeface="Arial"/>
              <a:buNone/>
            </a:pPr>
            <a:r>
              <a:rPr b="0" i="0" lang="en-US" sz="2375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5.       "Como outros sistemas vão se integrar conosco?" - Necessidade de API REST</a:t>
            </a:r>
            <a:endParaRPr b="0" i="0" sz="2375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6336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75"/>
              <a:buFont typeface="Arial"/>
              <a:buNone/>
            </a:pPr>
            <a:r>
              <a:t/>
            </a:r>
            <a:endParaRPr b="0" i="0" sz="2375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6336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75"/>
              <a:buFont typeface="Arial"/>
              <a:buNone/>
            </a:pPr>
            <a:r>
              <a:rPr b="0" i="0" lang="en-US" sz="2375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6.       "Como garantimos que operações complexas sejam atômicas?" - Gestão de transações</a:t>
            </a:r>
            <a:endParaRPr b="0" i="0" sz="2375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8" name="Google Shape;278;g362e5210cb6_0_0"/>
          <p:cNvSpPr txBox="1"/>
          <p:nvPr/>
        </p:nvSpPr>
        <p:spPr>
          <a:xfrm>
            <a:off x="2667000" y="348209"/>
            <a:ext cx="6280500" cy="83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None/>
            </a:pPr>
            <a:r>
              <a:rPr b="1" i="0" lang="en-US" sz="5600" u="none" cap="none" strike="noStrike">
                <a:solidFill>
                  <a:srgbClr val="E30613"/>
                </a:solidFill>
                <a:latin typeface="Arial"/>
                <a:ea typeface="Arial"/>
                <a:cs typeface="Arial"/>
                <a:sym typeface="Arial"/>
              </a:rPr>
              <a:t>Desenvolvimento</a:t>
            </a:r>
            <a:endParaRPr b="1" i="0" sz="5600" u="none" cap="none" strike="noStrike">
              <a:solidFill>
                <a:srgbClr val="E3061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9" name="Google Shape;279;g362e5210cb6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115800" y="702697"/>
            <a:ext cx="4876800" cy="2438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7"/>
          <p:cNvSpPr/>
          <p:nvPr/>
        </p:nvSpPr>
        <p:spPr>
          <a:xfrm>
            <a:off x="1116555" y="1725134"/>
            <a:ext cx="6128400" cy="7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66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13"/>
              <a:buFont typeface="Arial"/>
              <a:buNone/>
            </a:pPr>
            <a:r>
              <a:rPr b="1" i="0" lang="en-US" sz="4813" u="none" cap="none" strike="noStrike">
                <a:solidFill>
                  <a:srgbClr val="E30613"/>
                </a:solidFill>
                <a:latin typeface="PT Sans"/>
                <a:ea typeface="PT Sans"/>
                <a:cs typeface="PT Sans"/>
                <a:sym typeface="PT Sans"/>
              </a:rPr>
              <a:t>Problema Real</a:t>
            </a:r>
            <a:endParaRPr b="0" i="0" sz="481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7"/>
          <p:cNvSpPr/>
          <p:nvPr/>
        </p:nvSpPr>
        <p:spPr>
          <a:xfrm>
            <a:off x="817206" y="2749007"/>
            <a:ext cx="16326900" cy="39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36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Imagine que você está no iFood ou Uber Eats. Quando um cliente faz um pedido, várias operações acontecem:</a:t>
            </a:r>
            <a:endParaRPr b="1" i="0" sz="1875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6336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t/>
            </a:r>
            <a:endParaRPr b="0" i="0" sz="1875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6336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t/>
            </a:r>
            <a:endParaRPr b="0" i="0" sz="1875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87" name="Google Shape;287;p7"/>
          <p:cNvSpPr txBox="1"/>
          <p:nvPr/>
        </p:nvSpPr>
        <p:spPr>
          <a:xfrm>
            <a:off x="2667000" y="348209"/>
            <a:ext cx="6280430" cy="7089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None/>
            </a:pPr>
            <a:r>
              <a:rPr b="1" i="0" lang="en-US" sz="5600" u="none" cap="none" strike="noStrike">
                <a:solidFill>
                  <a:srgbClr val="E30613"/>
                </a:solidFill>
                <a:latin typeface="Arial"/>
                <a:ea typeface="Arial"/>
                <a:cs typeface="Arial"/>
                <a:sym typeface="Arial"/>
              </a:rPr>
              <a:t>Desenvolvimento</a:t>
            </a:r>
            <a:endParaRPr b="1" i="0" sz="5600" u="none" cap="none" strike="noStrike">
              <a:solidFill>
                <a:srgbClr val="E3061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8" name="Google Shape;288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605675" y="185622"/>
            <a:ext cx="4876800" cy="2438400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7"/>
          <p:cNvSpPr/>
          <p:nvPr/>
        </p:nvSpPr>
        <p:spPr>
          <a:xfrm>
            <a:off x="980556" y="3412907"/>
            <a:ext cx="16326900" cy="39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36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75"/>
              <a:buFont typeface="Arial"/>
              <a:buNone/>
            </a:pPr>
            <a:r>
              <a:rPr b="0" i="0" lang="en-US" sz="2375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7.       Validação do cliente - Está ativo? Endereço válido?</a:t>
            </a:r>
            <a:endParaRPr b="0" i="0" sz="2375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6336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75"/>
              <a:buFont typeface="Arial"/>
              <a:buNone/>
            </a:pPr>
            <a:r>
              <a:t/>
            </a:r>
            <a:endParaRPr b="0" i="0" sz="2375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6336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75"/>
              <a:buFont typeface="Arial"/>
              <a:buNone/>
            </a:pPr>
            <a:r>
              <a:rPr b="0" i="0" lang="en-US" sz="2375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8.       Verificação do restaurante - Está aberto? Entrega na região?</a:t>
            </a:r>
            <a:endParaRPr b="0" i="0" sz="2375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6336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75"/>
              <a:buFont typeface="Arial"/>
              <a:buNone/>
            </a:pPr>
            <a:r>
              <a:t/>
            </a:r>
            <a:endParaRPr b="0" i="0" sz="2375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6336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75"/>
              <a:buFont typeface="Arial"/>
              <a:buNone/>
            </a:pPr>
            <a:r>
              <a:rPr b="0" i="0" lang="en-US" sz="2375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9.       Validação dos produtos - Estão disponíveis? Preços corretos?</a:t>
            </a:r>
            <a:endParaRPr b="0" i="0" sz="2375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6336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75"/>
              <a:buFont typeface="Arial"/>
              <a:buNone/>
            </a:pPr>
            <a:r>
              <a:t/>
            </a:r>
            <a:endParaRPr b="0" i="0" sz="2375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6336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75"/>
              <a:buFont typeface="Arial"/>
              <a:buNone/>
            </a:pPr>
            <a:r>
              <a:rPr b="0" i="0" lang="en-US" sz="2375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10.   Cálculo do pedido - Subtotal + taxa de entrega + desconto</a:t>
            </a:r>
            <a:endParaRPr b="0" i="0" sz="2375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6336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75"/>
              <a:buFont typeface="Arial"/>
              <a:buNone/>
            </a:pPr>
            <a:r>
              <a:t/>
            </a:r>
            <a:endParaRPr b="0" i="0" sz="2375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6336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75"/>
              <a:buFont typeface="Arial"/>
              <a:buNone/>
            </a:pPr>
            <a:r>
              <a:rPr b="0" i="0" lang="en-US" sz="2375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11.   Processamento transacional - Salvar pedido, atualizar estoque, notificar restaurante</a:t>
            </a:r>
            <a:endParaRPr b="0" i="0" sz="2375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6336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75"/>
              <a:buFont typeface="Arial"/>
              <a:buNone/>
            </a:pPr>
            <a:r>
              <a:t/>
            </a:r>
            <a:endParaRPr b="0" i="0" sz="2375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6336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75"/>
              <a:buFont typeface="Arial"/>
              <a:buNone/>
            </a:pPr>
            <a:r>
              <a:rPr b="0" i="0" lang="en-US" sz="2375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12.   Resposta ao cliente - Confirmação com tempo estimado</a:t>
            </a:r>
            <a:endParaRPr b="0" i="0" sz="2375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8"/>
          <p:cNvSpPr/>
          <p:nvPr/>
        </p:nvSpPr>
        <p:spPr>
          <a:xfrm>
            <a:off x="992238" y="726579"/>
            <a:ext cx="6202264" cy="7750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36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75"/>
              <a:buFont typeface="Arial"/>
              <a:buNone/>
            </a:pPr>
            <a:r>
              <a:rPr b="1" i="0" lang="en-US" sz="4875" u="none" cap="none" strike="noStrike">
                <a:solidFill>
                  <a:srgbClr val="E30613"/>
                </a:solidFill>
                <a:latin typeface="PT Sans"/>
                <a:ea typeface="PT Sans"/>
                <a:cs typeface="PT Sans"/>
                <a:sym typeface="PT Sans"/>
              </a:rPr>
              <a:t>Arquitetura Necessária</a:t>
            </a:r>
            <a:endParaRPr b="0" i="0" sz="4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96" name="Google Shape;296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516350" y="285750"/>
            <a:ext cx="1485900" cy="316855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p8"/>
          <p:cNvSpPr txBox="1"/>
          <p:nvPr/>
        </p:nvSpPr>
        <p:spPr>
          <a:xfrm>
            <a:off x="2645229" y="100566"/>
            <a:ext cx="6280430" cy="7089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None/>
            </a:pPr>
            <a:r>
              <a:rPr b="1" i="0" lang="en-US" sz="5600" u="none" cap="none" strike="noStrike">
                <a:solidFill>
                  <a:srgbClr val="E30613"/>
                </a:solidFill>
                <a:latin typeface="Arial"/>
                <a:ea typeface="Arial"/>
                <a:cs typeface="Arial"/>
                <a:sym typeface="Arial"/>
              </a:rPr>
              <a:t>Desenvolvimento</a:t>
            </a:r>
            <a:endParaRPr b="1" i="0" sz="5600" u="none" cap="none" strike="noStrike">
              <a:solidFill>
                <a:srgbClr val="E3061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8" name="Google Shape;298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284529" y="809554"/>
            <a:ext cx="4876800" cy="2438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9" name="Google Shape;299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45425" y="1698175"/>
            <a:ext cx="3032325" cy="8316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9"/>
          <p:cNvSpPr/>
          <p:nvPr/>
        </p:nvSpPr>
        <p:spPr>
          <a:xfrm>
            <a:off x="7850251" y="887600"/>
            <a:ext cx="7278300" cy="77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36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75"/>
              <a:buFont typeface="Arial"/>
              <a:buNone/>
            </a:pPr>
            <a:r>
              <a:rPr b="1" i="0" lang="en-US" sz="4875" u="none" cap="none" strike="noStrike">
                <a:solidFill>
                  <a:srgbClr val="E30613"/>
                </a:solidFill>
                <a:latin typeface="PT Sans"/>
                <a:ea typeface="PT Sans"/>
                <a:cs typeface="PT Sans"/>
                <a:sym typeface="PT Sans"/>
              </a:rPr>
              <a:t>Estrutura REST Esperada</a:t>
            </a:r>
            <a:endParaRPr b="0" i="0" sz="4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06" name="Google Shape;30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03513" y="2273503"/>
            <a:ext cx="1240334" cy="1488430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9"/>
          <p:cNvSpPr/>
          <p:nvPr/>
        </p:nvSpPr>
        <p:spPr>
          <a:xfrm>
            <a:off x="5691795" y="2521451"/>
            <a:ext cx="3101100" cy="38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5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38"/>
              <a:buFont typeface="Arial"/>
              <a:buNone/>
            </a:pPr>
            <a:r>
              <a:rPr b="1" i="0" lang="en-US" sz="2438" u="none" cap="none" strike="noStrike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</a:rPr>
              <a:t>Cliente Web/Mobile</a:t>
            </a:r>
            <a:endParaRPr b="0" i="0" sz="243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9"/>
          <p:cNvSpPr/>
          <p:nvPr/>
        </p:nvSpPr>
        <p:spPr>
          <a:xfrm>
            <a:off x="5691794" y="3057976"/>
            <a:ext cx="7957200" cy="3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33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37"/>
              <a:buFont typeface="Arial"/>
              <a:buNone/>
            </a:pPr>
            <a:r>
              <a:rPr b="0" i="0" lang="en-US" sz="1937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Aplicativos e interfaces que enviam requisições HTTP</a:t>
            </a:r>
            <a:endParaRPr b="0" i="0" sz="193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09" name="Google Shape;309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03513" y="3761934"/>
            <a:ext cx="1240334" cy="1826270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9"/>
          <p:cNvSpPr/>
          <p:nvPr/>
        </p:nvSpPr>
        <p:spPr>
          <a:xfrm>
            <a:off x="5691795" y="4009881"/>
            <a:ext cx="3101100" cy="38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5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38"/>
              <a:buFont typeface="Arial"/>
              <a:buNone/>
            </a:pPr>
            <a:r>
              <a:rPr b="1" i="0" lang="en-US" sz="2438" u="none" cap="none" strike="noStrike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</a:rPr>
              <a:t>Controller</a:t>
            </a:r>
            <a:endParaRPr b="0" i="0" sz="243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9"/>
          <p:cNvSpPr/>
          <p:nvPr/>
        </p:nvSpPr>
        <p:spPr>
          <a:xfrm>
            <a:off x="5691794" y="4546407"/>
            <a:ext cx="7957200" cy="7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33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37"/>
              <a:buFont typeface="Arial"/>
              <a:buNone/>
            </a:pPr>
            <a:r>
              <a:rPr b="0" i="0" lang="en-US" sz="1937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Recebe requisições e realiza validações básicas dos dados recebidos</a:t>
            </a:r>
            <a:endParaRPr b="0" i="0" sz="193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12" name="Google Shape;312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203513" y="5588204"/>
            <a:ext cx="1240334" cy="1488430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9"/>
          <p:cNvSpPr/>
          <p:nvPr/>
        </p:nvSpPr>
        <p:spPr>
          <a:xfrm>
            <a:off x="5691795" y="5836151"/>
            <a:ext cx="3101100" cy="38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5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38"/>
              <a:buFont typeface="Arial"/>
              <a:buNone/>
            </a:pPr>
            <a:r>
              <a:rPr b="1" i="0" lang="en-US" sz="2438" u="none" cap="none" strike="noStrike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</a:rPr>
              <a:t>Service</a:t>
            </a:r>
            <a:endParaRPr b="0" i="0" sz="243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9"/>
          <p:cNvSpPr/>
          <p:nvPr/>
        </p:nvSpPr>
        <p:spPr>
          <a:xfrm>
            <a:off x="5691794" y="6372676"/>
            <a:ext cx="7957200" cy="3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33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37"/>
              <a:buFont typeface="Arial"/>
              <a:buNone/>
            </a:pPr>
            <a:r>
              <a:rPr b="0" i="0" lang="en-US" sz="1937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Implementa regras de negócio e gerencia transações</a:t>
            </a:r>
            <a:endParaRPr b="0" i="0" sz="193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15" name="Google Shape;315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203513" y="7076634"/>
            <a:ext cx="1240334" cy="1488430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9"/>
          <p:cNvSpPr/>
          <p:nvPr/>
        </p:nvSpPr>
        <p:spPr>
          <a:xfrm>
            <a:off x="5691795" y="7324581"/>
            <a:ext cx="3101100" cy="38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5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38"/>
              <a:buFont typeface="Arial"/>
              <a:buNone/>
            </a:pPr>
            <a:r>
              <a:rPr b="1" i="0" lang="en-US" sz="2438" u="none" cap="none" strike="noStrike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</a:rPr>
              <a:t>Repository</a:t>
            </a:r>
            <a:endParaRPr b="0" i="0" sz="243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9"/>
          <p:cNvSpPr/>
          <p:nvPr/>
        </p:nvSpPr>
        <p:spPr>
          <a:xfrm>
            <a:off x="5691794" y="7861106"/>
            <a:ext cx="7957200" cy="3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33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37"/>
              <a:buFont typeface="Arial"/>
              <a:buNone/>
            </a:pPr>
            <a:r>
              <a:rPr b="0" i="0" lang="en-US" sz="1937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Realiza operações de persistência no banco de dados</a:t>
            </a:r>
            <a:endParaRPr b="0" i="0" sz="193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9"/>
          <p:cNvSpPr/>
          <p:nvPr/>
        </p:nvSpPr>
        <p:spPr>
          <a:xfrm>
            <a:off x="4203513" y="8844117"/>
            <a:ext cx="9445500" cy="7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33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37"/>
              <a:buFont typeface="Arial"/>
              <a:buNone/>
            </a:pPr>
            <a:r>
              <a:rPr b="0" i="0" lang="en-US" sz="1937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Esta estrutura em camadas garante separação de responsabilidades e facilita a manutenção do código.</a:t>
            </a:r>
            <a:endParaRPr b="0" i="0" sz="193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19" name="Google Shape;319;p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6516350" y="285750"/>
            <a:ext cx="1485900" cy="316855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9"/>
          <p:cNvSpPr txBox="1"/>
          <p:nvPr/>
        </p:nvSpPr>
        <p:spPr>
          <a:xfrm>
            <a:off x="2810142" y="223157"/>
            <a:ext cx="6280430" cy="7089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None/>
            </a:pPr>
            <a:r>
              <a:rPr b="1" i="0" lang="en-US" sz="5600" u="none" cap="none" strike="noStrike">
                <a:solidFill>
                  <a:srgbClr val="E30613"/>
                </a:solidFill>
                <a:latin typeface="Arial"/>
                <a:ea typeface="Arial"/>
                <a:cs typeface="Arial"/>
                <a:sym typeface="Arial"/>
              </a:rPr>
              <a:t>Desenvolvimento</a:t>
            </a:r>
            <a:endParaRPr b="1" i="0" sz="5600" u="none" cap="none" strike="noStrike">
              <a:solidFill>
                <a:srgbClr val="E3061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1" name="Google Shape;321;p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4618089" y="722932"/>
            <a:ext cx="3101131" cy="15505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10"/>
          <p:cNvSpPr/>
          <p:nvPr/>
        </p:nvSpPr>
        <p:spPr>
          <a:xfrm>
            <a:off x="992249" y="1166075"/>
            <a:ext cx="12662700" cy="77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36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75"/>
              <a:buFont typeface="Arial"/>
              <a:buNone/>
            </a:pPr>
            <a:r>
              <a:rPr b="1" lang="en-US" sz="3875">
                <a:solidFill>
                  <a:srgbClr val="E30613"/>
                </a:solidFill>
                <a:latin typeface="PT Sans"/>
                <a:ea typeface="PT Sans"/>
                <a:cs typeface="PT Sans"/>
                <a:sym typeface="PT Sans"/>
              </a:rPr>
              <a:t>Missão: Transformar o Sistema em uma API Profissional</a:t>
            </a:r>
            <a:endParaRPr b="0" i="0" sz="3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0"/>
          <p:cNvSpPr/>
          <p:nvPr/>
        </p:nvSpPr>
        <p:spPr>
          <a:xfrm>
            <a:off x="503674" y="3429002"/>
            <a:ext cx="13093500" cy="30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6133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900">
                <a:solidFill>
                  <a:schemeClr val="dk1"/>
                </a:solidFill>
              </a:rPr>
              <a:t>Criar</a:t>
            </a:r>
            <a:r>
              <a:rPr lang="en-US" sz="1900">
                <a:solidFill>
                  <a:schemeClr val="dk1"/>
                </a:solidFill>
              </a:rPr>
              <a:t> a camada de </a:t>
            </a:r>
            <a:r>
              <a:rPr b="1" lang="en-US" sz="1900">
                <a:solidFill>
                  <a:schemeClr val="dk1"/>
                </a:solidFill>
              </a:rPr>
              <a:t>Serviços (Services)</a:t>
            </a:r>
            <a:r>
              <a:rPr lang="en-US" sz="1900">
                <a:solidFill>
                  <a:schemeClr val="dk1"/>
                </a:solidFill>
              </a:rPr>
              <a:t> com regras de negócio robustas.</a:t>
            </a:r>
            <a:br>
              <a:rPr lang="en-US" sz="1900">
                <a:solidFill>
                  <a:schemeClr val="dk1"/>
                </a:solidFill>
              </a:rPr>
            </a:b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6133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900">
                <a:solidFill>
                  <a:schemeClr val="dk1"/>
                </a:solidFill>
              </a:rPr>
              <a:t>Expor</a:t>
            </a:r>
            <a:r>
              <a:rPr lang="en-US" sz="1900">
                <a:solidFill>
                  <a:schemeClr val="dk1"/>
                </a:solidFill>
              </a:rPr>
              <a:t> essas funcionalidades por meio de </a:t>
            </a:r>
            <a:r>
              <a:rPr b="1" lang="en-US" sz="1900">
                <a:solidFill>
                  <a:schemeClr val="dk1"/>
                </a:solidFill>
              </a:rPr>
              <a:t>Controllers REST</a:t>
            </a:r>
            <a:r>
              <a:rPr lang="en-US" sz="1900">
                <a:solidFill>
                  <a:schemeClr val="dk1"/>
                </a:solidFill>
              </a:rPr>
              <a:t>, seguindo </a:t>
            </a:r>
            <a:r>
              <a:rPr b="1" lang="en-US" sz="1900">
                <a:solidFill>
                  <a:schemeClr val="dk1"/>
                </a:solidFill>
              </a:rPr>
              <a:t>boas práticas</a:t>
            </a:r>
            <a:r>
              <a:rPr lang="en-US" sz="1900">
                <a:solidFill>
                  <a:schemeClr val="dk1"/>
                </a:solidFill>
              </a:rPr>
              <a:t>.</a:t>
            </a:r>
            <a:endParaRPr sz="1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6133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38"/>
              <a:buFont typeface="Arial"/>
              <a:buNone/>
            </a:pPr>
            <a:r>
              <a:t/>
            </a:r>
            <a:endParaRPr sz="2738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preencoded.png" id="329" name="Google Shape;329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516350" y="285750"/>
            <a:ext cx="1485900" cy="31685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0" name="Google Shape;330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920109" y="169229"/>
            <a:ext cx="4082141" cy="2041071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10"/>
          <p:cNvSpPr txBox="1"/>
          <p:nvPr/>
        </p:nvSpPr>
        <p:spPr>
          <a:xfrm>
            <a:off x="335475" y="2391625"/>
            <a:ext cx="156753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Você é o(a) arquiteto(a) responsável por dar o próximo passo no DeliveryTech.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11"/>
          <p:cNvSpPr/>
          <p:nvPr/>
        </p:nvSpPr>
        <p:spPr>
          <a:xfrm>
            <a:off x="523899" y="158525"/>
            <a:ext cx="12979500" cy="77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36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75"/>
              <a:buFont typeface="Arial"/>
              <a:buNone/>
            </a:pPr>
            <a:r>
              <a:rPr b="1" lang="en-US" sz="4875">
                <a:solidFill>
                  <a:srgbClr val="E30613"/>
                </a:solidFill>
                <a:latin typeface="PT Sans"/>
                <a:ea typeface="PT Sans"/>
                <a:cs typeface="PT Sans"/>
                <a:sym typeface="PT Sans"/>
              </a:rPr>
              <a:t>Etapa 1 – Implementação dos Services</a:t>
            </a:r>
            <a:endParaRPr b="0" i="0" sz="4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1"/>
          <p:cNvSpPr txBox="1"/>
          <p:nvPr/>
        </p:nvSpPr>
        <p:spPr>
          <a:xfrm>
            <a:off x="918625" y="1294625"/>
            <a:ext cx="6717900" cy="89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</a:rPr>
              <a:t>ClienteService</a:t>
            </a:r>
            <a:br>
              <a:rPr b="1" lang="en-US" sz="1600">
                <a:solidFill>
                  <a:schemeClr val="dk1"/>
                </a:solidFill>
              </a:rPr>
            </a:br>
            <a:endParaRPr b="1"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>
                <a:solidFill>
                  <a:schemeClr val="dk1"/>
                </a:solidFill>
              </a:rPr>
              <a:t>Cadastrar clientes</a:t>
            </a:r>
            <a:br>
              <a:rPr lang="en-US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>
                <a:solidFill>
                  <a:schemeClr val="dk1"/>
                </a:solidFill>
              </a:rPr>
              <a:t>Buscar e atualizar dados</a:t>
            </a:r>
            <a:br>
              <a:rPr lang="en-US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>
                <a:solidFill>
                  <a:schemeClr val="dk1"/>
                </a:solidFill>
              </a:rPr>
              <a:t>Ativar/desativar clientes</a:t>
            </a:r>
            <a:br>
              <a:rPr lang="en-US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</a:rPr>
              <a:t>RestauranteService</a:t>
            </a:r>
            <a:br>
              <a:rPr b="1" lang="en-US" sz="1600">
                <a:solidFill>
                  <a:schemeClr val="dk1"/>
                </a:solidFill>
              </a:rPr>
            </a:br>
            <a:endParaRPr b="1"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>
                <a:solidFill>
                  <a:schemeClr val="dk1"/>
                </a:solidFill>
              </a:rPr>
              <a:t>Cadastrar e atualizar restaurantes</a:t>
            </a:r>
            <a:br>
              <a:rPr lang="en-US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>
                <a:solidFill>
                  <a:schemeClr val="dk1"/>
                </a:solidFill>
              </a:rPr>
              <a:t>Calcular taxa de entrega</a:t>
            </a:r>
            <a:br>
              <a:rPr lang="en-US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</a:rPr>
              <a:t>ProdutoService</a:t>
            </a:r>
            <a:br>
              <a:rPr b="1" lang="en-US" sz="1600">
                <a:solidFill>
                  <a:schemeClr val="dk1"/>
                </a:solidFill>
              </a:rPr>
            </a:br>
            <a:endParaRPr b="1"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>
                <a:solidFill>
                  <a:schemeClr val="dk1"/>
                </a:solidFill>
              </a:rPr>
              <a:t>Gerenciar disponibilidade de produtos</a:t>
            </a:r>
            <a:br>
              <a:rPr lang="en-US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>
                <a:solidFill>
                  <a:schemeClr val="dk1"/>
                </a:solidFill>
              </a:rPr>
              <a:t>Filtrar por restaurante</a:t>
            </a:r>
            <a:br>
              <a:rPr lang="en-US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</a:rPr>
              <a:t>PedidoService</a:t>
            </a:r>
            <a:br>
              <a:rPr b="1" lang="en-US" sz="1600">
                <a:solidFill>
                  <a:schemeClr val="dk1"/>
                </a:solidFill>
              </a:rPr>
            </a:br>
            <a:endParaRPr b="1"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>
                <a:solidFill>
                  <a:schemeClr val="dk1"/>
                </a:solidFill>
              </a:rPr>
              <a:t>Criar, buscar e cancelar pedidos</a:t>
            </a:r>
            <a:br>
              <a:rPr lang="en-US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>
                <a:solidFill>
                  <a:schemeClr val="dk1"/>
                </a:solidFill>
              </a:rPr>
              <a:t>Aplicar regras de negócio complexas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362e5210cb6_0_35"/>
          <p:cNvSpPr/>
          <p:nvPr/>
        </p:nvSpPr>
        <p:spPr>
          <a:xfrm>
            <a:off x="605552" y="368475"/>
            <a:ext cx="8054700" cy="77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36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75"/>
              <a:buFont typeface="Arial"/>
              <a:buNone/>
            </a:pPr>
            <a:r>
              <a:rPr b="1" lang="en-US" sz="4875">
                <a:solidFill>
                  <a:srgbClr val="E30613"/>
                </a:solidFill>
                <a:latin typeface="PT Sans"/>
                <a:ea typeface="PT Sans"/>
                <a:cs typeface="PT Sans"/>
                <a:sym typeface="PT Sans"/>
              </a:rPr>
              <a:t>Etapa 2 – Controllers REST</a:t>
            </a:r>
            <a:endParaRPr b="0" i="0" sz="4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g362e5210cb6_0_35"/>
          <p:cNvSpPr txBox="1"/>
          <p:nvPr/>
        </p:nvSpPr>
        <p:spPr>
          <a:xfrm>
            <a:off x="813675" y="1388625"/>
            <a:ext cx="12234900" cy="778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</a:rPr>
              <a:t>Controllers e endpoints:</a:t>
            </a:r>
            <a:endParaRPr b="1"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-US" sz="1600">
                <a:solidFill>
                  <a:schemeClr val="dk1"/>
                </a:solidFill>
              </a:rPr>
              <a:t>ClienteController</a:t>
            </a:r>
            <a:br>
              <a:rPr b="1" lang="en-US" sz="1600">
                <a:solidFill>
                  <a:schemeClr val="dk1"/>
                </a:solidFill>
              </a:rPr>
            </a:br>
            <a:endParaRPr b="1" sz="1600">
              <a:solidFill>
                <a:schemeClr val="dk1"/>
              </a:solidFill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-US" sz="1600">
                <a:solidFill>
                  <a:schemeClr val="dk1"/>
                </a:solidFill>
              </a:rPr>
              <a:t>POST </a:t>
            </a:r>
            <a:r>
              <a:rPr lang="en-US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/clientes</a:t>
            </a:r>
            <a:r>
              <a:rPr lang="en-US" sz="1600">
                <a:solidFill>
                  <a:schemeClr val="dk1"/>
                </a:solidFill>
              </a:rPr>
              <a:t> → Cadastrar cliente</a:t>
            </a:r>
            <a:br>
              <a:rPr lang="en-US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-US" sz="1600">
                <a:solidFill>
                  <a:schemeClr val="dk1"/>
                </a:solidFill>
              </a:rPr>
              <a:t>GET </a:t>
            </a:r>
            <a:r>
              <a:rPr lang="en-US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/clientes/{id}</a:t>
            </a:r>
            <a:r>
              <a:rPr lang="en-US" sz="1600">
                <a:solidFill>
                  <a:schemeClr val="dk1"/>
                </a:solidFill>
              </a:rPr>
              <a:t> → Buscar cliente</a:t>
            </a:r>
            <a:br>
              <a:rPr lang="en-US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-US" sz="1600">
                <a:solidFill>
                  <a:schemeClr val="dk1"/>
                </a:solidFill>
              </a:rPr>
              <a:t>RestauranteController</a:t>
            </a:r>
            <a:br>
              <a:rPr b="1" lang="en-US" sz="1600">
                <a:solidFill>
                  <a:schemeClr val="dk1"/>
                </a:solidFill>
              </a:rPr>
            </a:br>
            <a:endParaRPr b="1" sz="1600">
              <a:solidFill>
                <a:schemeClr val="dk1"/>
              </a:solidFill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-US" sz="1600">
                <a:solidFill>
                  <a:schemeClr val="dk1"/>
                </a:solidFill>
              </a:rPr>
              <a:t>GET com filtros e cálculo de taxa de entrega</a:t>
            </a:r>
            <a:br>
              <a:rPr lang="en-US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-US" sz="1600">
                <a:solidFill>
                  <a:schemeClr val="dk1"/>
                </a:solidFill>
              </a:rPr>
              <a:t>ProdutoController</a:t>
            </a:r>
            <a:br>
              <a:rPr b="1" lang="en-US" sz="1600">
                <a:solidFill>
                  <a:schemeClr val="dk1"/>
                </a:solidFill>
              </a:rPr>
            </a:br>
            <a:endParaRPr b="1" sz="1600">
              <a:solidFill>
                <a:schemeClr val="dk1"/>
              </a:solidFill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-US" sz="1600">
                <a:solidFill>
                  <a:schemeClr val="dk1"/>
                </a:solidFill>
              </a:rPr>
              <a:t>POST para cadastro de produto</a:t>
            </a:r>
            <a:br>
              <a:rPr lang="en-US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-US" sz="1600">
                <a:solidFill>
                  <a:schemeClr val="dk1"/>
                </a:solidFill>
              </a:rPr>
              <a:t>GET por restaurante</a:t>
            </a:r>
            <a:br>
              <a:rPr lang="en-US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-US" sz="1600">
                <a:solidFill>
                  <a:schemeClr val="dk1"/>
                </a:solidFill>
              </a:rPr>
              <a:t>PedidoController</a:t>
            </a:r>
            <a:br>
              <a:rPr b="1" lang="en-US" sz="1600">
                <a:solidFill>
                  <a:schemeClr val="dk1"/>
                </a:solidFill>
              </a:rPr>
            </a:br>
            <a:endParaRPr b="1" sz="1600">
              <a:solidFill>
                <a:schemeClr val="dk1"/>
              </a:solidFill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-US" sz="1600">
                <a:solidFill>
                  <a:schemeClr val="dk1"/>
                </a:solidFill>
              </a:rPr>
              <a:t>Criar pedido</a:t>
            </a:r>
            <a:br>
              <a:rPr lang="en-US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-US" sz="1600">
                <a:solidFill>
                  <a:schemeClr val="dk1"/>
                </a:solidFill>
              </a:rPr>
              <a:t>Consultar histórico e status</a:t>
            </a:r>
            <a:br>
              <a:rPr lang="en-US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-US" sz="1600">
                <a:solidFill>
                  <a:schemeClr val="dk1"/>
                </a:solidFill>
              </a:rPr>
              <a:t>Cancelar pedido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362e5210cb6_0_53"/>
          <p:cNvSpPr/>
          <p:nvPr/>
        </p:nvSpPr>
        <p:spPr>
          <a:xfrm>
            <a:off x="757175" y="415125"/>
            <a:ext cx="8801400" cy="77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36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75"/>
              <a:buFont typeface="Arial"/>
              <a:buNone/>
            </a:pPr>
            <a:r>
              <a:rPr b="1" lang="en-US" sz="4875">
                <a:solidFill>
                  <a:srgbClr val="E30613"/>
                </a:solidFill>
                <a:latin typeface="PT Sans"/>
                <a:ea typeface="PT Sans"/>
                <a:cs typeface="PT Sans"/>
                <a:sym typeface="PT Sans"/>
              </a:rPr>
              <a:t>Transações e Regras de Negócio</a:t>
            </a:r>
            <a:endParaRPr b="0" i="0" sz="4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g362e5210cb6_0_53"/>
          <p:cNvSpPr txBox="1"/>
          <p:nvPr/>
        </p:nvSpPr>
        <p:spPr>
          <a:xfrm>
            <a:off x="930250" y="1307000"/>
            <a:ext cx="11033400" cy="820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700">
                <a:solidFill>
                  <a:schemeClr val="dk1"/>
                </a:solidFill>
              </a:rPr>
              <a:t>Fluxo de Criação de Pedido</a:t>
            </a:r>
            <a:endParaRPr b="1"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AutoNum type="arabicPeriod"/>
            </a:pPr>
            <a:r>
              <a:rPr b="1" lang="en-US" sz="1700">
                <a:solidFill>
                  <a:schemeClr val="dk1"/>
                </a:solidFill>
              </a:rPr>
              <a:t>Validações</a:t>
            </a:r>
            <a:br>
              <a:rPr b="1" lang="en-US" sz="1700">
                <a:solidFill>
                  <a:schemeClr val="dk1"/>
                </a:solidFill>
              </a:rPr>
            </a:br>
            <a:endParaRPr b="1" sz="1700">
              <a:solidFill>
                <a:schemeClr val="dk1"/>
              </a:solidFill>
            </a:endParaRPr>
          </a:p>
          <a:p>
            <a:pPr indent="-3365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○"/>
            </a:pPr>
            <a:r>
              <a:rPr lang="en-US" sz="1700">
                <a:solidFill>
                  <a:schemeClr val="dk1"/>
                </a:solidFill>
              </a:rPr>
              <a:t>Cliente: existe e está ativo</a:t>
            </a:r>
            <a:br>
              <a:rPr lang="en-US" sz="1700">
                <a:solidFill>
                  <a:schemeClr val="dk1"/>
                </a:solidFill>
              </a:rPr>
            </a:br>
            <a:endParaRPr sz="1700">
              <a:solidFill>
                <a:schemeClr val="dk1"/>
              </a:solidFill>
            </a:endParaRPr>
          </a:p>
          <a:p>
            <a:pPr indent="-3365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○"/>
            </a:pPr>
            <a:r>
              <a:rPr lang="en-US" sz="1700">
                <a:solidFill>
                  <a:schemeClr val="dk1"/>
                </a:solidFill>
              </a:rPr>
              <a:t>Restaurante: existe e está operacional</a:t>
            </a:r>
            <a:br>
              <a:rPr lang="en-US" sz="1700">
                <a:solidFill>
                  <a:schemeClr val="dk1"/>
                </a:solidFill>
              </a:rPr>
            </a:br>
            <a:endParaRPr sz="1700">
              <a:solidFill>
                <a:schemeClr val="dk1"/>
              </a:solidFill>
            </a:endParaRPr>
          </a:p>
          <a:p>
            <a:pPr indent="-3365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○"/>
            </a:pPr>
            <a:r>
              <a:rPr lang="en-US" sz="1700">
                <a:solidFill>
                  <a:schemeClr val="dk1"/>
                </a:solidFill>
              </a:rPr>
              <a:t>Produtos: pertencem ao restaurante e estão disponíveis</a:t>
            </a:r>
            <a:br>
              <a:rPr lang="en-US" sz="1700">
                <a:solidFill>
                  <a:schemeClr val="dk1"/>
                </a:solidFill>
              </a:rPr>
            </a:b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AutoNum type="arabicPeriod"/>
            </a:pPr>
            <a:r>
              <a:rPr b="1" lang="en-US" sz="1700">
                <a:solidFill>
                  <a:schemeClr val="dk1"/>
                </a:solidFill>
              </a:rPr>
              <a:t>Regras de Negócio</a:t>
            </a:r>
            <a:br>
              <a:rPr b="1" lang="en-US" sz="1700">
                <a:solidFill>
                  <a:schemeClr val="dk1"/>
                </a:solidFill>
              </a:rPr>
            </a:br>
            <a:endParaRPr b="1" sz="1700">
              <a:solidFill>
                <a:schemeClr val="dk1"/>
              </a:solidFill>
            </a:endParaRPr>
          </a:p>
          <a:p>
            <a:pPr indent="-3365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○"/>
            </a:pPr>
            <a:r>
              <a:rPr lang="en-US" sz="1700">
                <a:solidFill>
                  <a:schemeClr val="dk1"/>
                </a:solidFill>
              </a:rPr>
              <a:t>E-mail único</a:t>
            </a:r>
            <a:br>
              <a:rPr lang="en-US" sz="1700">
                <a:solidFill>
                  <a:schemeClr val="dk1"/>
                </a:solidFill>
              </a:rPr>
            </a:br>
            <a:endParaRPr sz="1700">
              <a:solidFill>
                <a:schemeClr val="dk1"/>
              </a:solidFill>
            </a:endParaRPr>
          </a:p>
          <a:p>
            <a:pPr indent="-3365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○"/>
            </a:pPr>
            <a:r>
              <a:rPr lang="en-US" sz="1700">
                <a:solidFill>
                  <a:schemeClr val="dk1"/>
                </a:solidFill>
              </a:rPr>
              <a:t>Status válidos</a:t>
            </a:r>
            <a:br>
              <a:rPr lang="en-US" sz="1700">
                <a:solidFill>
                  <a:schemeClr val="dk1"/>
                </a:solidFill>
              </a:rPr>
            </a:br>
            <a:endParaRPr sz="1700">
              <a:solidFill>
                <a:schemeClr val="dk1"/>
              </a:solidFill>
            </a:endParaRPr>
          </a:p>
          <a:p>
            <a:pPr indent="-3365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○"/>
            </a:pPr>
            <a:r>
              <a:rPr lang="en-US" sz="1700">
                <a:solidFill>
                  <a:schemeClr val="dk1"/>
                </a:solidFill>
              </a:rPr>
              <a:t>Total do pedido correto</a:t>
            </a:r>
            <a:br>
              <a:rPr lang="en-US" sz="1700">
                <a:solidFill>
                  <a:schemeClr val="dk1"/>
                </a:solidFill>
              </a:rPr>
            </a:br>
            <a:endParaRPr sz="1700">
              <a:solidFill>
                <a:schemeClr val="dk1"/>
              </a:solidFill>
            </a:endParaRPr>
          </a:p>
          <a:p>
            <a:pPr indent="-3365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○"/>
            </a:pPr>
            <a:r>
              <a:rPr lang="en-US" sz="1700">
                <a:solidFill>
                  <a:schemeClr val="dk1"/>
                </a:solidFill>
              </a:rPr>
              <a:t>Cliente apto a realizar pedidos</a:t>
            </a:r>
            <a:br>
              <a:rPr lang="en-US" sz="1700">
                <a:solidFill>
                  <a:schemeClr val="dk1"/>
                </a:solidFill>
              </a:rPr>
            </a:b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AutoNum type="arabicPeriod"/>
            </a:pPr>
            <a:r>
              <a:rPr b="1" lang="en-US" sz="1700">
                <a:solidFill>
                  <a:schemeClr val="dk1"/>
                </a:solidFill>
              </a:rPr>
              <a:t>Tratamento de Exceções</a:t>
            </a:r>
            <a:br>
              <a:rPr b="1" lang="en-US" sz="1700">
                <a:solidFill>
                  <a:schemeClr val="dk1"/>
                </a:solidFill>
              </a:rPr>
            </a:br>
            <a:endParaRPr b="1" sz="1700">
              <a:solidFill>
                <a:schemeClr val="dk1"/>
              </a:solidFill>
            </a:endParaRPr>
          </a:p>
          <a:p>
            <a:pPr indent="-3365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○"/>
            </a:pPr>
            <a:r>
              <a:rPr lang="en-US" sz="17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EntityNotFoundException</a:t>
            </a:r>
            <a:r>
              <a:rPr lang="en-US" sz="1700">
                <a:solidFill>
                  <a:schemeClr val="dk1"/>
                </a:solidFill>
              </a:rPr>
              <a:t> → recurso não encontrado</a:t>
            </a:r>
            <a:br>
              <a:rPr lang="en-US" sz="1700">
                <a:solidFill>
                  <a:schemeClr val="dk1"/>
                </a:solidFill>
              </a:rPr>
            </a:br>
            <a:endParaRPr sz="1700">
              <a:solidFill>
                <a:schemeClr val="dk1"/>
              </a:solidFill>
            </a:endParaRPr>
          </a:p>
          <a:p>
            <a:pPr indent="-3365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○"/>
            </a:pPr>
            <a:r>
              <a:rPr lang="en-US" sz="17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BusinessException</a:t>
            </a:r>
            <a:r>
              <a:rPr lang="en-US" sz="1700">
                <a:solidFill>
                  <a:schemeClr val="dk1"/>
                </a:solidFill>
              </a:rPr>
              <a:t> → violação de regra de negócio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362e5210cb6_0_62"/>
          <p:cNvSpPr/>
          <p:nvPr/>
        </p:nvSpPr>
        <p:spPr>
          <a:xfrm>
            <a:off x="675550" y="380125"/>
            <a:ext cx="15557100" cy="77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36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75"/>
              <a:buFont typeface="Arial"/>
              <a:buNone/>
            </a:pPr>
            <a:r>
              <a:rPr b="1" lang="en-US" sz="4875">
                <a:solidFill>
                  <a:srgbClr val="E30613"/>
                </a:solidFill>
                <a:latin typeface="PT Sans"/>
                <a:ea typeface="PT Sans"/>
                <a:cs typeface="PT Sans"/>
                <a:sym typeface="PT Sans"/>
              </a:rPr>
              <a:t>Cenários de Teste – API DeliveryTech</a:t>
            </a:r>
            <a:endParaRPr b="0" i="0" sz="4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g362e5210cb6_0_62"/>
          <p:cNvSpPr txBox="1"/>
          <p:nvPr/>
        </p:nvSpPr>
        <p:spPr>
          <a:xfrm>
            <a:off x="557050" y="1971775"/>
            <a:ext cx="10427100" cy="6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800">
                <a:solidFill>
                  <a:schemeClr val="dk1"/>
                </a:solidFill>
              </a:rPr>
              <a:t>Clientes</a:t>
            </a:r>
            <a:endParaRPr b="1"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-US" sz="1800">
                <a:solidFill>
                  <a:schemeClr val="dk1"/>
                </a:solidFill>
              </a:rPr>
              <a:t>POST</a:t>
            </a:r>
            <a:r>
              <a:rPr lang="en-US" sz="1800">
                <a:solidFill>
                  <a:schemeClr val="dk1"/>
                </a:solidFill>
              </a:rPr>
              <a:t> </a:t>
            </a:r>
            <a:r>
              <a:rPr lang="en-US" sz="18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/api/clientes</a:t>
            </a:r>
            <a:r>
              <a:rPr lang="en-US" sz="1800">
                <a:solidFill>
                  <a:schemeClr val="dk1"/>
                </a:solidFill>
              </a:rPr>
              <a:t> → Cadastrar cliente</a:t>
            </a:r>
            <a:br>
              <a:rPr lang="en-US" sz="1800">
                <a:solidFill>
                  <a:schemeClr val="dk1"/>
                </a:solidFill>
              </a:rPr>
            </a:b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-US" sz="1800">
                <a:solidFill>
                  <a:schemeClr val="dk1"/>
                </a:solidFill>
              </a:rPr>
              <a:t>GET</a:t>
            </a:r>
            <a:r>
              <a:rPr lang="en-US" sz="1800">
                <a:solidFill>
                  <a:schemeClr val="dk1"/>
                </a:solidFill>
              </a:rPr>
              <a:t> </a:t>
            </a:r>
            <a:r>
              <a:rPr lang="en-US" sz="18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/api/clientes/{id}</a:t>
            </a:r>
            <a:r>
              <a:rPr lang="en-US" sz="1800">
                <a:solidFill>
                  <a:schemeClr val="dk1"/>
                </a:solidFill>
              </a:rPr>
              <a:t> → Buscar cliente por ID</a:t>
            </a:r>
            <a:br>
              <a:rPr lang="en-US" sz="1800">
                <a:solidFill>
                  <a:schemeClr val="dk1"/>
                </a:solidFill>
              </a:rPr>
            </a:b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800">
                <a:solidFill>
                  <a:schemeClr val="dk1"/>
                </a:solidFill>
              </a:rPr>
              <a:t>Pedidos</a:t>
            </a:r>
            <a:endParaRPr b="1"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-US" sz="1800">
                <a:solidFill>
                  <a:schemeClr val="dk1"/>
                </a:solidFill>
              </a:rPr>
              <a:t>POST</a:t>
            </a:r>
            <a:r>
              <a:rPr lang="en-US" sz="1800">
                <a:solidFill>
                  <a:schemeClr val="dk1"/>
                </a:solidFill>
              </a:rPr>
              <a:t> </a:t>
            </a:r>
            <a:r>
              <a:rPr lang="en-US" sz="18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/api/pedidos</a:t>
            </a:r>
            <a:r>
              <a:rPr lang="en-US" sz="1800">
                <a:solidFill>
                  <a:schemeClr val="dk1"/>
                </a:solidFill>
              </a:rPr>
              <a:t> → Criar pedido</a:t>
            </a:r>
            <a:br>
              <a:rPr lang="en-US" sz="1800">
                <a:solidFill>
                  <a:schemeClr val="dk1"/>
                </a:solidFill>
              </a:rPr>
            </a:b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-US" sz="1800">
                <a:solidFill>
                  <a:schemeClr val="dk1"/>
                </a:solidFill>
              </a:rPr>
              <a:t>PATCH</a:t>
            </a:r>
            <a:r>
              <a:rPr lang="en-US" sz="1800">
                <a:solidFill>
                  <a:schemeClr val="dk1"/>
                </a:solidFill>
              </a:rPr>
              <a:t> </a:t>
            </a:r>
            <a:r>
              <a:rPr lang="en-US" sz="18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/api/pedidos/{id}/status</a:t>
            </a:r>
            <a:r>
              <a:rPr lang="en-US" sz="1800">
                <a:solidFill>
                  <a:schemeClr val="dk1"/>
                </a:solidFill>
              </a:rPr>
              <a:t> → Atualizar status do pedido</a:t>
            </a:r>
            <a:br>
              <a:rPr lang="en-US" sz="1800">
                <a:solidFill>
                  <a:schemeClr val="dk1"/>
                </a:solidFill>
              </a:rPr>
            </a:b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800">
                <a:solidFill>
                  <a:schemeClr val="dk1"/>
                </a:solidFill>
              </a:rPr>
              <a:t>Produtos</a:t>
            </a:r>
            <a:endParaRPr b="1"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-US" sz="1800">
                <a:solidFill>
                  <a:schemeClr val="dk1"/>
                </a:solidFill>
              </a:rPr>
              <a:t>GET</a:t>
            </a:r>
            <a:r>
              <a:rPr lang="en-US" sz="1800">
                <a:solidFill>
                  <a:schemeClr val="dk1"/>
                </a:solidFill>
              </a:rPr>
              <a:t> </a:t>
            </a:r>
            <a:r>
              <a:rPr lang="en-US" sz="18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/api/restaurantes/{id}/produtos</a:t>
            </a:r>
            <a:r>
              <a:rPr lang="en-US" sz="1800">
                <a:solidFill>
                  <a:schemeClr val="dk1"/>
                </a:solidFill>
              </a:rPr>
              <a:t> → Buscar produtos por restaurante</a:t>
            </a:r>
            <a:br>
              <a:rPr lang="en-US" sz="1800">
                <a:solidFill>
                  <a:schemeClr val="dk1"/>
                </a:solidFill>
              </a:rPr>
            </a:b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800">
                <a:solidFill>
                  <a:schemeClr val="dk1"/>
                </a:solidFill>
              </a:rPr>
              <a:t>Objetivo:</a:t>
            </a:r>
            <a:r>
              <a:rPr lang="en-US" sz="1800">
                <a:solidFill>
                  <a:schemeClr val="dk1"/>
                </a:solidFill>
              </a:rPr>
              <a:t> Validar funcionamento dos endpoints, status HTTP corretos e integridade dos dados.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60" name="Google Shape;360;g362e5210cb6_0_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17431" y="2368363"/>
            <a:ext cx="9343419" cy="2121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362e5210cb6_0_72"/>
          <p:cNvSpPr/>
          <p:nvPr/>
        </p:nvSpPr>
        <p:spPr>
          <a:xfrm>
            <a:off x="4162875" y="426775"/>
            <a:ext cx="8801400" cy="77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36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75"/>
              <a:buFont typeface="Arial"/>
              <a:buNone/>
            </a:pPr>
            <a:r>
              <a:rPr b="1" i="0" lang="en-US" sz="4875" u="none" cap="none" strike="noStrike">
                <a:solidFill>
                  <a:srgbClr val="E30613"/>
                </a:solidFill>
                <a:latin typeface="PT Sans"/>
                <a:ea typeface="PT Sans"/>
                <a:cs typeface="PT Sans"/>
                <a:sym typeface="PT Sans"/>
              </a:rPr>
              <a:t>Dicas de Implementação</a:t>
            </a:r>
            <a:endParaRPr b="0" i="0" sz="4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67" name="Google Shape;367;g362e5210cb6_0_72"/>
          <p:cNvGraphicFramePr/>
          <p:nvPr/>
        </p:nvGraphicFramePr>
        <p:xfrm>
          <a:off x="2660000" y="3429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{92D80360-AAAE-4211-A377-FAB62E312068}</a:tableStyleId>
              </a:tblPr>
              <a:tblGrid>
                <a:gridCol w="5196425"/>
                <a:gridCol w="6076350"/>
              </a:tblGrid>
              <a:tr h="9428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/>
                        <a:t>Boa prática</a:t>
                      </a:r>
                      <a:endParaRPr b="1"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/>
                        <a:t>Por que é importante</a:t>
                      </a:r>
                      <a:endParaRPr b="1" sz="1600"/>
                    </a:p>
                  </a:txBody>
                  <a:tcPr marT="91425" marB="91425" marR="91425" marL="91425"/>
                </a:tc>
              </a:tr>
              <a:tr h="684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Comece pelos Services</a:t>
                      </a:r>
                      <a:endParaRPr sz="1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Estrutura a lógica antes da camada de interface</a:t>
                      </a:r>
                      <a:endParaRPr sz="1900"/>
                    </a:p>
                  </a:txBody>
                  <a:tcPr marT="91425" marB="91425" marR="91425" marL="91425"/>
                </a:tc>
              </a:tr>
              <a:tr h="684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Use </a:t>
                      </a:r>
                      <a:r>
                        <a:rPr lang="en-US" sz="16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@Transactional</a:t>
                      </a:r>
                      <a:r>
                        <a:rPr lang="en-US" sz="1600"/>
                        <a:t> em operações críticas</a:t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Garante atomicidade e consistência dos dados</a:t>
                      </a:r>
                      <a:endParaRPr sz="1900"/>
                    </a:p>
                  </a:txBody>
                  <a:tcPr marT="91425" marB="91425" marR="91425" marL="91425"/>
                </a:tc>
              </a:tr>
              <a:tr h="684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Valide sempre as entidades</a:t>
                      </a:r>
                      <a:endParaRPr sz="1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Evita processar informações inválidas e erros em cascata</a:t>
                      </a:r>
                      <a:endParaRPr sz="1900"/>
                    </a:p>
                  </a:txBody>
                  <a:tcPr marT="91425" marB="91425" marR="91425" marL="91425"/>
                </a:tc>
              </a:tr>
              <a:tr h="684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Use status HTTP corretos e DTOs separados</a:t>
                      </a:r>
                      <a:endParaRPr sz="1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Mantém clareza na API e facilita integração</a:t>
                      </a:r>
                      <a:endParaRPr sz="19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362e5210cb6_0_92"/>
          <p:cNvSpPr/>
          <p:nvPr/>
        </p:nvSpPr>
        <p:spPr>
          <a:xfrm>
            <a:off x="990451" y="682973"/>
            <a:ext cx="7245600" cy="73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32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625"/>
              <a:buFont typeface="Arial"/>
              <a:buNone/>
            </a:pPr>
            <a:r>
              <a:rPr b="1" i="0" lang="en-US" sz="4625" u="none" cap="none" strike="noStrike">
                <a:solidFill>
                  <a:srgbClr val="E30613"/>
                </a:solidFill>
                <a:latin typeface="PT Sans"/>
                <a:ea typeface="PT Sans"/>
                <a:cs typeface="PT Sans"/>
                <a:sym typeface="PT Sans"/>
              </a:rPr>
              <a:t>Desenvolvimento da Solução</a:t>
            </a:r>
            <a:endParaRPr b="0" i="0" sz="46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g362e5210cb6_0_92"/>
          <p:cNvSpPr/>
          <p:nvPr/>
        </p:nvSpPr>
        <p:spPr>
          <a:xfrm>
            <a:off x="1796500" y="3148625"/>
            <a:ext cx="15422700" cy="14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4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13"/>
              <a:buFont typeface="Arial"/>
              <a:buNone/>
            </a:pPr>
            <a:r>
              <a:rPr b="0" i="0" lang="en-US" sz="3013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- Projeto Spring Boot completo </a:t>
            </a:r>
            <a:endParaRPr b="0" i="0" sz="3013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6214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13"/>
              <a:buFont typeface="Arial"/>
              <a:buNone/>
            </a:pPr>
            <a:r>
              <a:rPr b="0" i="0" lang="en-US" sz="3013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- Repositório no GitHub (</a:t>
            </a:r>
            <a:r>
              <a:rPr b="1" i="0" lang="en-US" sz="3013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OPCIONAL</a:t>
            </a:r>
            <a:r>
              <a:rPr b="0" i="0" lang="en-US" sz="3013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)</a:t>
            </a:r>
            <a:endParaRPr b="0" i="0" sz="3013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6214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13"/>
              <a:buFont typeface="Arial"/>
              <a:buNone/>
            </a:pPr>
            <a:r>
              <a:rPr b="0" i="0" lang="en-US" sz="3013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- Documentação com exemplos de requisições e respostas</a:t>
            </a:r>
            <a:endParaRPr b="0" i="0" sz="3013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75" name="Google Shape;375;g362e5210cb6_0_92"/>
          <p:cNvSpPr/>
          <p:nvPr/>
        </p:nvSpPr>
        <p:spPr>
          <a:xfrm>
            <a:off x="990450" y="1418175"/>
            <a:ext cx="8801400" cy="77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36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75"/>
              <a:buFont typeface="Arial"/>
              <a:buNone/>
            </a:pPr>
            <a:r>
              <a:rPr b="1" i="0" lang="en-US" sz="4875" u="none" cap="none" strike="noStrike">
                <a:solidFill>
                  <a:srgbClr val="E30613"/>
                </a:solidFill>
                <a:latin typeface="PT Sans"/>
                <a:ea typeface="PT Sans"/>
                <a:cs typeface="PT Sans"/>
                <a:sym typeface="PT Sans"/>
              </a:rPr>
              <a:t>Entrega</a:t>
            </a:r>
            <a:endParaRPr b="0" i="0" sz="4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12"/>
          <p:cNvSpPr txBox="1"/>
          <p:nvPr/>
        </p:nvSpPr>
        <p:spPr>
          <a:xfrm>
            <a:off x="3505200" y="348209"/>
            <a:ext cx="6280430" cy="7089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None/>
            </a:pPr>
            <a:r>
              <a:rPr b="1" i="0" lang="en-US" sz="5600" u="none" cap="none" strike="noStrike">
                <a:solidFill>
                  <a:srgbClr val="E30613"/>
                </a:solidFill>
                <a:latin typeface="Arial"/>
                <a:ea typeface="Arial"/>
                <a:cs typeface="Arial"/>
                <a:sym typeface="Arial"/>
              </a:rPr>
              <a:t>Codificando</a:t>
            </a:r>
            <a:endParaRPr b="1" i="0" sz="5600" u="none" cap="none" strike="noStrike">
              <a:solidFill>
                <a:srgbClr val="E3061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p12"/>
          <p:cNvSpPr txBox="1"/>
          <p:nvPr/>
        </p:nvSpPr>
        <p:spPr>
          <a:xfrm>
            <a:off x="5358346" y="4336124"/>
            <a:ext cx="67590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1" i="0" lang="en-US" sz="5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ACESSANDO O LAB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21"/>
          <p:cNvSpPr/>
          <p:nvPr/>
        </p:nvSpPr>
        <p:spPr>
          <a:xfrm>
            <a:off x="910613" y="192215"/>
            <a:ext cx="6496200" cy="50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25"/>
              <a:buFont typeface="Arial"/>
              <a:buNone/>
            </a:pPr>
            <a:r>
              <a:rPr b="1" i="0" lang="en-US" sz="3125" u="none" cap="none" strike="noStrike">
                <a:solidFill>
                  <a:srgbClr val="E30613"/>
                </a:solidFill>
                <a:latin typeface="PT Sans"/>
                <a:ea typeface="PT Sans"/>
                <a:cs typeface="PT Sans"/>
                <a:sym typeface="PT Sans"/>
              </a:rPr>
              <a:t>PedidoServiceImpl.java </a:t>
            </a:r>
            <a:endParaRPr b="0" i="0" sz="3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88" name="Google Shape;388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516350" y="285750"/>
            <a:ext cx="1485900" cy="31685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9" name="Google Shape;389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965260"/>
            <a:ext cx="6644075" cy="924875"/>
          </a:xfrm>
          <a:prstGeom prst="rect">
            <a:avLst/>
          </a:prstGeom>
          <a:noFill/>
          <a:ln>
            <a:noFill/>
          </a:ln>
        </p:spPr>
      </p:pic>
      <p:sp>
        <p:nvSpPr>
          <p:cNvPr id="390" name="Google Shape;390;p21"/>
          <p:cNvSpPr txBox="1"/>
          <p:nvPr/>
        </p:nvSpPr>
        <p:spPr>
          <a:xfrm>
            <a:off x="152400" y="2111050"/>
            <a:ext cx="5023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Define o pacote onde essa classe está localizada.</a:t>
            </a:r>
            <a:endParaRPr/>
          </a:p>
        </p:txBody>
      </p:sp>
      <p:pic>
        <p:nvPicPr>
          <p:cNvPr id="391" name="Google Shape;391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2400" y="2663650"/>
            <a:ext cx="5221575" cy="2217525"/>
          </a:xfrm>
          <a:prstGeom prst="rect">
            <a:avLst/>
          </a:prstGeom>
          <a:noFill/>
          <a:ln>
            <a:noFill/>
          </a:ln>
        </p:spPr>
      </p:pic>
      <p:sp>
        <p:nvSpPr>
          <p:cNvPr id="392" name="Google Shape;392;p21"/>
          <p:cNvSpPr txBox="1"/>
          <p:nvPr/>
        </p:nvSpPr>
        <p:spPr>
          <a:xfrm>
            <a:off x="207150" y="5109175"/>
            <a:ext cx="6717900" cy="3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I</a:t>
            </a:r>
            <a:r>
              <a:rPr lang="en-US" sz="1500">
                <a:solidFill>
                  <a:schemeClr val="dk1"/>
                </a:solidFill>
              </a:rPr>
              <a:t>mporta todas as classes necessárias: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-US" sz="1500">
                <a:solidFill>
                  <a:schemeClr val="dk1"/>
                </a:solidFill>
              </a:rPr>
              <a:t>Entidades</a:t>
            </a:r>
            <a:r>
              <a:rPr lang="en-US" sz="1500">
                <a:solidFill>
                  <a:schemeClr val="dk1"/>
                </a:solidFill>
              </a:rPr>
              <a:t> (</a:t>
            </a:r>
            <a:r>
              <a:rPr lang="en-US" sz="15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Pedido</a:t>
            </a:r>
            <a:r>
              <a:rPr lang="en-US" sz="1500">
                <a:solidFill>
                  <a:schemeClr val="dk1"/>
                </a:solidFill>
              </a:rPr>
              <a:t>) e </a:t>
            </a:r>
            <a:r>
              <a:rPr b="1" lang="en-US" sz="1500">
                <a:solidFill>
                  <a:schemeClr val="dk1"/>
                </a:solidFill>
              </a:rPr>
              <a:t>enum</a:t>
            </a:r>
            <a:r>
              <a:rPr lang="en-US" sz="1500">
                <a:solidFill>
                  <a:schemeClr val="dk1"/>
                </a:solidFill>
              </a:rPr>
              <a:t> (</a:t>
            </a:r>
            <a:r>
              <a:rPr lang="en-US" sz="15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StatusPedido</a:t>
            </a:r>
            <a:r>
              <a:rPr lang="en-US" sz="1500">
                <a:solidFill>
                  <a:schemeClr val="dk1"/>
                </a:solidFill>
              </a:rPr>
              <a:t>).</a:t>
            </a:r>
            <a:br>
              <a:rPr lang="en-US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-US" sz="1500">
                <a:solidFill>
                  <a:schemeClr val="dk1"/>
                </a:solidFill>
              </a:rPr>
              <a:t>Repository</a:t>
            </a:r>
            <a:r>
              <a:rPr lang="en-US" sz="1500">
                <a:solidFill>
                  <a:schemeClr val="dk1"/>
                </a:solidFill>
              </a:rPr>
              <a:t> e </a:t>
            </a:r>
            <a:r>
              <a:rPr b="1" lang="en-US" sz="1500">
                <a:solidFill>
                  <a:schemeClr val="dk1"/>
                </a:solidFill>
              </a:rPr>
              <a:t>Service</a:t>
            </a:r>
            <a:r>
              <a:rPr lang="en-US" sz="1500">
                <a:solidFill>
                  <a:schemeClr val="dk1"/>
                </a:solidFill>
              </a:rPr>
              <a:t> para contratos e acesso a dados.</a:t>
            </a:r>
            <a:br>
              <a:rPr lang="en-US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-US" sz="1500">
                <a:solidFill>
                  <a:schemeClr val="dk1"/>
                </a:solidFill>
              </a:rPr>
              <a:t>Lombok</a:t>
            </a:r>
            <a:r>
              <a:rPr lang="en-US" sz="1500">
                <a:solidFill>
                  <a:schemeClr val="dk1"/>
                </a:solidFill>
              </a:rPr>
              <a:t> (</a:t>
            </a:r>
            <a:r>
              <a:rPr lang="en-US" sz="15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@RequiredArgsConstructor</a:t>
            </a:r>
            <a:r>
              <a:rPr lang="en-US" sz="1500">
                <a:solidFill>
                  <a:schemeClr val="dk1"/>
                </a:solidFill>
              </a:rPr>
              <a:t>) para gerar construtor.</a:t>
            </a:r>
            <a:br>
              <a:rPr lang="en-US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-US" sz="1500">
                <a:solidFill>
                  <a:schemeClr val="dk1"/>
                </a:solidFill>
              </a:rPr>
              <a:t>Spring</a:t>
            </a:r>
            <a:r>
              <a:rPr lang="en-US" sz="1500">
                <a:solidFill>
                  <a:schemeClr val="dk1"/>
                </a:solidFill>
              </a:rPr>
              <a:t> (</a:t>
            </a:r>
            <a:r>
              <a:rPr lang="en-US" sz="15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@Service</a:t>
            </a:r>
            <a:r>
              <a:rPr lang="en-US" sz="1500">
                <a:solidFill>
                  <a:schemeClr val="dk1"/>
                </a:solidFill>
              </a:rPr>
              <a:t>) para registrar o bean.</a:t>
            </a:r>
            <a:br>
              <a:rPr lang="en-US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-US" sz="1500">
                <a:solidFill>
                  <a:schemeClr val="dk1"/>
                </a:solidFill>
              </a:rPr>
              <a:t>Java Collections</a:t>
            </a:r>
            <a:r>
              <a:rPr lang="en-US" sz="1500">
                <a:solidFill>
                  <a:schemeClr val="dk1"/>
                </a:solidFill>
              </a:rPr>
              <a:t> (</a:t>
            </a:r>
            <a:r>
              <a:rPr lang="en-US" sz="15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List</a:t>
            </a:r>
            <a:r>
              <a:rPr lang="en-US" sz="1500">
                <a:solidFill>
                  <a:schemeClr val="dk1"/>
                </a:solidFill>
              </a:rPr>
              <a:t>, </a:t>
            </a:r>
            <a:r>
              <a:rPr lang="en-US" sz="15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Optional</a:t>
            </a:r>
            <a:r>
              <a:rPr lang="en-US" sz="1500">
                <a:solidFill>
                  <a:schemeClr val="dk1"/>
                </a:solidFill>
              </a:rPr>
              <a:t>).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93" name="Google Shape;393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016600" y="975254"/>
            <a:ext cx="7985650" cy="1219673"/>
          </a:xfrm>
          <a:prstGeom prst="rect">
            <a:avLst/>
          </a:prstGeom>
          <a:noFill/>
          <a:ln>
            <a:noFill/>
          </a:ln>
        </p:spPr>
      </p:pic>
      <p:sp>
        <p:nvSpPr>
          <p:cNvPr id="394" name="Google Shape;394;p21"/>
          <p:cNvSpPr txBox="1"/>
          <p:nvPr/>
        </p:nvSpPr>
        <p:spPr>
          <a:xfrm>
            <a:off x="9969300" y="2368325"/>
            <a:ext cx="8141100" cy="16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@Service</a:t>
            </a:r>
            <a:r>
              <a:rPr lang="en-US" sz="1300">
                <a:solidFill>
                  <a:schemeClr val="dk1"/>
                </a:solidFill>
              </a:rPr>
              <a:t> → indica que essa classe é um componente da camada de serviço do Spring.</a:t>
            </a:r>
            <a:br>
              <a:rPr lang="en-US" sz="1300">
                <a:solidFill>
                  <a:schemeClr val="dk1"/>
                </a:solidFill>
              </a:rPr>
            </a:b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@RequiredArgsConstructor</a:t>
            </a:r>
            <a:r>
              <a:rPr lang="en-US" sz="1300">
                <a:solidFill>
                  <a:schemeClr val="dk1"/>
                </a:solidFill>
              </a:rPr>
              <a:t> → gera automaticamente o construtor com todos os atributos </a:t>
            </a:r>
            <a:r>
              <a:rPr lang="en-US" sz="1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final</a:t>
            </a:r>
            <a:r>
              <a:rPr lang="en-US" sz="1300">
                <a:solidFill>
                  <a:schemeClr val="dk1"/>
                </a:solidFill>
              </a:rPr>
              <a:t>.</a:t>
            </a:r>
            <a:br>
              <a:rPr lang="en-US" sz="1300">
                <a:solidFill>
                  <a:schemeClr val="dk1"/>
                </a:solidFill>
              </a:rPr>
            </a:b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implements PedidoService</a:t>
            </a:r>
            <a:r>
              <a:rPr lang="en-US" sz="1300">
                <a:solidFill>
                  <a:schemeClr val="dk1"/>
                </a:solidFill>
              </a:rPr>
              <a:t> → garante que essa classe implementa todos os métodos do contrato</a:t>
            </a:r>
            <a:r>
              <a:rPr lang="en-US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95" name="Google Shape;395;p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917200" y="3888675"/>
            <a:ext cx="9786500" cy="992500"/>
          </a:xfrm>
          <a:prstGeom prst="rect">
            <a:avLst/>
          </a:prstGeom>
          <a:noFill/>
          <a:ln>
            <a:noFill/>
          </a:ln>
        </p:spPr>
      </p:pic>
      <p:sp>
        <p:nvSpPr>
          <p:cNvPr id="396" name="Google Shape;396;p21"/>
          <p:cNvSpPr txBox="1"/>
          <p:nvPr/>
        </p:nvSpPr>
        <p:spPr>
          <a:xfrm>
            <a:off x="7974875" y="5237500"/>
            <a:ext cx="67179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>
                <a:solidFill>
                  <a:schemeClr val="dk1"/>
                </a:solidFill>
              </a:rPr>
              <a:t>Declara a dependência para acessar o banco de dados.</a:t>
            </a:r>
            <a:br>
              <a:rPr lang="en-US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</a:rPr>
              <a:t>Como é </a:t>
            </a:r>
            <a:r>
              <a:rPr lang="en-US" sz="15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final</a:t>
            </a:r>
            <a:r>
              <a:rPr lang="en-US" sz="1500">
                <a:solidFill>
                  <a:schemeClr val="dk1"/>
                </a:solidFill>
              </a:rPr>
              <a:t>, será injetada pelo construtor gerado pelo Lombok.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g3641e1e0e50_0_35"/>
          <p:cNvSpPr/>
          <p:nvPr/>
        </p:nvSpPr>
        <p:spPr>
          <a:xfrm>
            <a:off x="910613" y="192215"/>
            <a:ext cx="6496200" cy="50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25"/>
              <a:buFont typeface="Arial"/>
              <a:buNone/>
            </a:pPr>
            <a:r>
              <a:rPr b="1" i="0" lang="en-US" sz="3125" u="none" cap="none" strike="noStrike">
                <a:solidFill>
                  <a:srgbClr val="E30613"/>
                </a:solidFill>
                <a:latin typeface="PT Sans"/>
                <a:ea typeface="PT Sans"/>
                <a:cs typeface="PT Sans"/>
                <a:sym typeface="PT Sans"/>
              </a:rPr>
              <a:t>PedidoServiceImpl.java </a:t>
            </a:r>
            <a:endParaRPr b="0" i="0" sz="3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03" name="Google Shape;403;g3641e1e0e50_0_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516350" y="285750"/>
            <a:ext cx="1485900" cy="31685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4" name="Google Shape;404;g3641e1e0e50_0_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9025" y="941956"/>
            <a:ext cx="5921400" cy="2163850"/>
          </a:xfrm>
          <a:prstGeom prst="rect">
            <a:avLst/>
          </a:prstGeom>
          <a:noFill/>
          <a:ln>
            <a:noFill/>
          </a:ln>
        </p:spPr>
      </p:pic>
      <p:sp>
        <p:nvSpPr>
          <p:cNvPr id="405" name="Google Shape;405;g3641e1e0e50_0_35"/>
          <p:cNvSpPr txBox="1"/>
          <p:nvPr/>
        </p:nvSpPr>
        <p:spPr>
          <a:xfrm>
            <a:off x="269025" y="3488000"/>
            <a:ext cx="9528900" cy="24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@Override</a:t>
            </a:r>
            <a:r>
              <a:rPr lang="en-US">
                <a:solidFill>
                  <a:schemeClr val="dk1"/>
                </a:solidFill>
              </a:rPr>
              <a:t> → sobrescreve o método da interface </a:t>
            </a:r>
            <a:r>
              <a:rPr lang="en-US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PedidoService</a:t>
            </a:r>
            <a:r>
              <a:rPr lang="en-US">
                <a:solidFill>
                  <a:schemeClr val="dk1"/>
                </a:solidFill>
              </a:rPr>
              <a:t>.</a:t>
            </a:r>
            <a:br>
              <a:rPr lang="en-US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chemeClr val="dk1"/>
                </a:solidFill>
              </a:rPr>
              <a:t>Parâmetro:</a:t>
            </a:r>
            <a:r>
              <a:rPr lang="en-US">
                <a:solidFill>
                  <a:schemeClr val="dk1"/>
                </a:solidFill>
              </a:rPr>
              <a:t> </a:t>
            </a:r>
            <a:r>
              <a:rPr lang="en-US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Pedido pedido</a:t>
            </a:r>
            <a:r>
              <a:rPr lang="en-US">
                <a:solidFill>
                  <a:schemeClr val="dk1"/>
                </a:solidFill>
              </a:rPr>
              <a:t> → entidade que será persistida.</a:t>
            </a:r>
            <a:br>
              <a:rPr lang="en-US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pedido.setStatus(StatusPedido.CRIADO);</a:t>
            </a:r>
            <a:r>
              <a:rPr lang="en-US">
                <a:solidFill>
                  <a:schemeClr val="dk1"/>
                </a:solidFill>
              </a:rPr>
              <a:t> → define o status inicial do pedido como “CRIADO”.</a:t>
            </a:r>
            <a:br>
              <a:rPr lang="en-US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return pedidoRepository.save(pedido);</a:t>
            </a:r>
            <a:r>
              <a:rPr lang="en-US">
                <a:solidFill>
                  <a:schemeClr val="dk1"/>
                </a:solidFill>
              </a:rPr>
              <a:t> → salva o pedido no banco e retorna a versão persistida (com ID, datas etc.).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06" name="Google Shape;406;g3641e1e0e50_0_3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44775" y="5889205"/>
            <a:ext cx="4010025" cy="1057275"/>
          </a:xfrm>
          <a:prstGeom prst="rect">
            <a:avLst/>
          </a:prstGeom>
          <a:noFill/>
          <a:ln>
            <a:noFill/>
          </a:ln>
        </p:spPr>
      </p:pic>
      <p:sp>
        <p:nvSpPr>
          <p:cNvPr id="407" name="Google Shape;407;g3641e1e0e50_0_35"/>
          <p:cNvSpPr txBox="1"/>
          <p:nvPr/>
        </p:nvSpPr>
        <p:spPr>
          <a:xfrm>
            <a:off x="444775" y="7546825"/>
            <a:ext cx="7156800" cy="13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>
                <a:solidFill>
                  <a:schemeClr val="dk1"/>
                </a:solidFill>
              </a:rPr>
              <a:t>Busca um pedido pelo </a:t>
            </a:r>
            <a:r>
              <a:rPr lang="en-US" sz="15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id</a:t>
            </a:r>
            <a:r>
              <a:rPr lang="en-US" sz="1500">
                <a:solidFill>
                  <a:schemeClr val="dk1"/>
                </a:solidFill>
              </a:rPr>
              <a:t>.</a:t>
            </a:r>
            <a:br>
              <a:rPr lang="en-US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>
                <a:solidFill>
                  <a:schemeClr val="dk1"/>
                </a:solidFill>
              </a:rPr>
              <a:t>Retorna </a:t>
            </a:r>
            <a:r>
              <a:rPr lang="en-US" sz="15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Optional&lt;Pedido&gt;</a:t>
            </a:r>
            <a:r>
              <a:rPr lang="en-US" sz="1500">
                <a:solidFill>
                  <a:schemeClr val="dk1"/>
                </a:solidFill>
              </a:rPr>
              <a:t> para indicar que o resultado pode estar ausente.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08" name="Google Shape;408;g3641e1e0e50_0_3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626775" y="1174873"/>
            <a:ext cx="5921400" cy="1349180"/>
          </a:xfrm>
          <a:prstGeom prst="rect">
            <a:avLst/>
          </a:prstGeom>
          <a:noFill/>
          <a:ln>
            <a:noFill/>
          </a:ln>
        </p:spPr>
      </p:pic>
      <p:sp>
        <p:nvSpPr>
          <p:cNvPr id="409" name="Google Shape;409;g3641e1e0e50_0_35"/>
          <p:cNvSpPr txBox="1"/>
          <p:nvPr/>
        </p:nvSpPr>
        <p:spPr>
          <a:xfrm>
            <a:off x="10626775" y="3252000"/>
            <a:ext cx="7285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Retorna todos os pedidos associados a um cliente específico, usando </a:t>
            </a:r>
            <a:r>
              <a:rPr b="1" lang="en-US">
                <a:solidFill>
                  <a:schemeClr val="dk1"/>
                </a:solidFill>
              </a:rPr>
              <a:t>query derivada</a:t>
            </a:r>
            <a:endParaRPr sz="3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10" name="Google Shape;410;g3641e1e0e50_0_3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0463525" y="4434400"/>
            <a:ext cx="6496201" cy="1483777"/>
          </a:xfrm>
          <a:prstGeom prst="rect">
            <a:avLst/>
          </a:prstGeom>
          <a:noFill/>
          <a:ln>
            <a:noFill/>
          </a:ln>
        </p:spPr>
      </p:pic>
      <p:sp>
        <p:nvSpPr>
          <p:cNvPr id="411" name="Google Shape;411;g3641e1e0e50_0_35"/>
          <p:cNvSpPr txBox="1"/>
          <p:nvPr/>
        </p:nvSpPr>
        <p:spPr>
          <a:xfrm>
            <a:off x="10739075" y="6946475"/>
            <a:ext cx="6788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Lista todos os pedidos de um restaurante, também via </a:t>
            </a:r>
            <a:r>
              <a:rPr b="1" lang="en-US">
                <a:solidFill>
                  <a:schemeClr val="dk1"/>
                </a:solidFill>
              </a:rPr>
              <a:t>query derivada</a:t>
            </a:r>
            <a:r>
              <a:rPr lang="en-US">
                <a:solidFill>
                  <a:schemeClr val="dk1"/>
                </a:solidFill>
              </a:rPr>
              <a:t>.</a:t>
            </a:r>
            <a:endParaRPr sz="3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g3641e1e0e50_0_120"/>
          <p:cNvSpPr/>
          <p:nvPr/>
        </p:nvSpPr>
        <p:spPr>
          <a:xfrm>
            <a:off x="910613" y="192215"/>
            <a:ext cx="6496200" cy="50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25"/>
              <a:buFont typeface="Arial"/>
              <a:buNone/>
            </a:pPr>
            <a:r>
              <a:rPr b="1" i="0" lang="en-US" sz="3125" u="none" cap="none" strike="noStrike">
                <a:solidFill>
                  <a:srgbClr val="E30613"/>
                </a:solidFill>
                <a:latin typeface="PT Sans"/>
                <a:ea typeface="PT Sans"/>
                <a:cs typeface="PT Sans"/>
                <a:sym typeface="PT Sans"/>
              </a:rPr>
              <a:t>PedidoServiceImpl.java </a:t>
            </a:r>
            <a:endParaRPr b="0" i="0" sz="3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18" name="Google Shape;418;g3641e1e0e50_0_1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516350" y="285750"/>
            <a:ext cx="1485900" cy="316855"/>
          </a:xfrm>
          <a:prstGeom prst="rect">
            <a:avLst/>
          </a:prstGeom>
          <a:noFill/>
          <a:ln>
            <a:noFill/>
          </a:ln>
        </p:spPr>
      </p:pic>
      <p:pic>
        <p:nvPicPr>
          <p:cNvPr id="419" name="Google Shape;419;g3641e1e0e50_0_1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848627"/>
            <a:ext cx="8557849" cy="2580375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g3641e1e0e50_0_120"/>
          <p:cNvSpPr txBox="1"/>
          <p:nvPr/>
        </p:nvSpPr>
        <p:spPr>
          <a:xfrm>
            <a:off x="152400" y="3931200"/>
            <a:ext cx="6717900" cy="183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>
                <a:solidFill>
                  <a:schemeClr val="dk1"/>
                </a:solidFill>
              </a:rPr>
              <a:t>Busca o pedido pelo </a:t>
            </a:r>
            <a:r>
              <a:rPr lang="en-US" sz="15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id</a:t>
            </a:r>
            <a:r>
              <a:rPr lang="en-US" sz="1500">
                <a:solidFill>
                  <a:schemeClr val="dk1"/>
                </a:solidFill>
              </a:rPr>
              <a:t>.</a:t>
            </a:r>
            <a:br>
              <a:rPr lang="en-US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>
                <a:solidFill>
                  <a:schemeClr val="dk1"/>
                </a:solidFill>
              </a:rPr>
              <a:t>Se encontrado, atualiza o </a:t>
            </a:r>
            <a:r>
              <a:rPr b="1" lang="en-US" sz="1500">
                <a:solidFill>
                  <a:schemeClr val="dk1"/>
                </a:solidFill>
              </a:rPr>
              <a:t>status</a:t>
            </a:r>
            <a:r>
              <a:rPr lang="en-US" sz="1500">
                <a:solidFill>
                  <a:schemeClr val="dk1"/>
                </a:solidFill>
              </a:rPr>
              <a:t> e salva no banco.</a:t>
            </a:r>
            <a:br>
              <a:rPr lang="en-US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>
                <a:solidFill>
                  <a:schemeClr val="dk1"/>
                </a:solidFill>
              </a:rPr>
              <a:t>Se não encontrado, lança </a:t>
            </a:r>
            <a:r>
              <a:rPr lang="en-US" sz="15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RuntimeException</a:t>
            </a:r>
            <a:r>
              <a:rPr lang="en-US" sz="1500">
                <a:solidFill>
                  <a:schemeClr val="dk1"/>
                </a:solidFill>
              </a:rPr>
              <a:t>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21" name="Google Shape;421;g3641e1e0e50_0_1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04150" y="5459748"/>
            <a:ext cx="6247850" cy="2707400"/>
          </a:xfrm>
          <a:prstGeom prst="rect">
            <a:avLst/>
          </a:prstGeom>
          <a:noFill/>
          <a:ln>
            <a:noFill/>
          </a:ln>
        </p:spPr>
      </p:pic>
      <p:sp>
        <p:nvSpPr>
          <p:cNvPr id="422" name="Google Shape;422;g3641e1e0e50_0_120"/>
          <p:cNvSpPr txBox="1"/>
          <p:nvPr/>
        </p:nvSpPr>
        <p:spPr>
          <a:xfrm>
            <a:off x="428775" y="8374900"/>
            <a:ext cx="6717900" cy="183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>
                <a:solidFill>
                  <a:schemeClr val="dk1"/>
                </a:solidFill>
              </a:rPr>
              <a:t>Tenta localizar o pedido pelo </a:t>
            </a:r>
            <a:r>
              <a:rPr lang="en-US" sz="15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id</a:t>
            </a:r>
            <a:r>
              <a:rPr lang="en-US" sz="1500">
                <a:solidFill>
                  <a:schemeClr val="dk1"/>
                </a:solidFill>
              </a:rPr>
              <a:t>.</a:t>
            </a:r>
            <a:br>
              <a:rPr lang="en-US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>
                <a:solidFill>
                  <a:schemeClr val="dk1"/>
                </a:solidFill>
              </a:rPr>
              <a:t>Se existir, altera o status para </a:t>
            </a:r>
            <a:r>
              <a:rPr lang="en-US" sz="15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CANCELADO</a:t>
            </a:r>
            <a:r>
              <a:rPr lang="en-US" sz="1500">
                <a:solidFill>
                  <a:schemeClr val="dk1"/>
                </a:solidFill>
              </a:rPr>
              <a:t> e persiste a mudança.</a:t>
            </a:r>
            <a:br>
              <a:rPr lang="en-US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>
                <a:solidFill>
                  <a:schemeClr val="dk1"/>
                </a:solidFill>
              </a:rPr>
              <a:t>Não retorna nada.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25"/>
          <p:cNvSpPr/>
          <p:nvPr/>
        </p:nvSpPr>
        <p:spPr>
          <a:xfrm>
            <a:off x="992252" y="1844425"/>
            <a:ext cx="8568300" cy="77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36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75"/>
              <a:buFont typeface="Arial"/>
              <a:buNone/>
            </a:pPr>
            <a:r>
              <a:rPr b="1" i="0" lang="en-US" sz="4875" u="none" cap="none" strike="noStrike">
                <a:solidFill>
                  <a:srgbClr val="E30613"/>
                </a:solidFill>
                <a:latin typeface="PT Sans"/>
                <a:ea typeface="PT Sans"/>
                <a:cs typeface="PT Sans"/>
                <a:sym typeface="PT Sans"/>
              </a:rPr>
              <a:t>Controllers REST - Conceito</a:t>
            </a:r>
            <a:endParaRPr b="0" i="0" sz="4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25"/>
          <p:cNvSpPr/>
          <p:nvPr/>
        </p:nvSpPr>
        <p:spPr>
          <a:xfrm>
            <a:off x="992238" y="3239541"/>
            <a:ext cx="3721299" cy="465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8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75"/>
              <a:buFont typeface="Arial"/>
              <a:buNone/>
            </a:pPr>
            <a:r>
              <a:rPr b="1" lang="en-US" sz="2875">
                <a:solidFill>
                  <a:srgbClr val="E30613"/>
                </a:solidFill>
                <a:latin typeface="PT Sans"/>
                <a:ea typeface="PT Sans"/>
                <a:cs typeface="PT Sans"/>
                <a:sym typeface="PT Sans"/>
              </a:rPr>
              <a:t>Anotações </a:t>
            </a:r>
            <a:r>
              <a:rPr b="1" i="0" lang="en-US" sz="2875" u="none" cap="none" strike="noStrike">
                <a:solidFill>
                  <a:srgbClr val="E30613"/>
                </a:solidFill>
                <a:latin typeface="PT Sans"/>
                <a:ea typeface="PT Sans"/>
                <a:cs typeface="PT Sans"/>
                <a:sym typeface="PT Sans"/>
              </a:rPr>
              <a:t>Principais</a:t>
            </a:r>
            <a:endParaRPr b="0" i="0" sz="2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25"/>
          <p:cNvSpPr/>
          <p:nvPr/>
        </p:nvSpPr>
        <p:spPr>
          <a:xfrm>
            <a:off x="992238" y="3952578"/>
            <a:ext cx="7849195" cy="793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428625" lvl="0" marL="428625" marR="0" rtl="0" algn="l">
              <a:lnSpc>
                <a:spcPct val="16133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37"/>
              <a:buFont typeface="Montserrat"/>
              <a:buChar char="•"/>
            </a:pPr>
            <a:r>
              <a:rPr b="1" i="0" lang="en-US" sz="1937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@RestController</a:t>
            </a:r>
            <a:r>
              <a:rPr b="0" i="0" lang="en-US" sz="1937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: Marca a classe como um controller que retorna dados diretamente no corpo da resposta</a:t>
            </a:r>
            <a:endParaRPr b="0" i="0" sz="193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25"/>
          <p:cNvSpPr/>
          <p:nvPr/>
        </p:nvSpPr>
        <p:spPr>
          <a:xfrm>
            <a:off x="992238" y="4833194"/>
            <a:ext cx="7849195" cy="793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428625" lvl="0" marL="428625" marR="0" rtl="0" algn="l">
              <a:lnSpc>
                <a:spcPct val="16133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37"/>
              <a:buFont typeface="Montserrat"/>
              <a:buChar char="•"/>
            </a:pPr>
            <a:r>
              <a:rPr b="1" i="0" lang="en-US" sz="1937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@RequestMapping</a:t>
            </a:r>
            <a:r>
              <a:rPr b="0" i="0" lang="en-US" sz="1937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: Define o caminho base para todos os endpoints do controller</a:t>
            </a:r>
            <a:endParaRPr b="0" i="0" sz="193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25"/>
          <p:cNvSpPr/>
          <p:nvPr/>
        </p:nvSpPr>
        <p:spPr>
          <a:xfrm>
            <a:off x="992238" y="5713811"/>
            <a:ext cx="7849195" cy="793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428625" lvl="0" marL="428625" marR="0" rtl="0" algn="l">
              <a:lnSpc>
                <a:spcPct val="16133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37"/>
              <a:buFont typeface="Montserrat"/>
              <a:buChar char="•"/>
            </a:pPr>
            <a:r>
              <a:rPr b="1" i="0" lang="en-US" sz="1937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@GetMapping, @PostMapping, etc</a:t>
            </a:r>
            <a:r>
              <a:rPr b="0" i="0" lang="en-US" sz="1937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: Definem os métodos HTTP para cada endpoint</a:t>
            </a:r>
            <a:endParaRPr b="0" i="0" sz="193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25"/>
          <p:cNvSpPr/>
          <p:nvPr/>
        </p:nvSpPr>
        <p:spPr>
          <a:xfrm>
            <a:off x="992238" y="6594425"/>
            <a:ext cx="7849195" cy="396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428625" lvl="0" marL="428625" marR="0" rtl="0" algn="l">
              <a:lnSpc>
                <a:spcPct val="16133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37"/>
              <a:buFont typeface="Montserrat"/>
              <a:buChar char="•"/>
            </a:pPr>
            <a:r>
              <a:rPr b="1" i="0" lang="en-US" sz="1937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@Valid</a:t>
            </a:r>
            <a:r>
              <a:rPr b="0" i="0" lang="en-US" sz="1937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: Ativa a validação dos dados recebidos</a:t>
            </a:r>
            <a:endParaRPr b="0" i="0" sz="193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25"/>
          <p:cNvSpPr/>
          <p:nvPr/>
        </p:nvSpPr>
        <p:spPr>
          <a:xfrm>
            <a:off x="992238" y="7078117"/>
            <a:ext cx="7849195" cy="793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428625" lvl="0" marL="428625" marR="0" rtl="0" algn="l">
              <a:lnSpc>
                <a:spcPct val="16133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37"/>
              <a:buFont typeface="Montserrat"/>
              <a:buChar char="•"/>
            </a:pPr>
            <a:r>
              <a:rPr b="1" i="0" lang="en-US" sz="1937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@RequestBody</a:t>
            </a:r>
            <a:r>
              <a:rPr b="0" i="0" lang="en-US" sz="1937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: Indica que os dados vêm no corpo da requisição</a:t>
            </a:r>
            <a:endParaRPr b="0" i="0" sz="193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25"/>
          <p:cNvSpPr/>
          <p:nvPr/>
        </p:nvSpPr>
        <p:spPr>
          <a:xfrm>
            <a:off x="992238" y="7958733"/>
            <a:ext cx="7849195" cy="396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428625" lvl="0" marL="428625" marR="0" rtl="0" algn="l">
              <a:lnSpc>
                <a:spcPct val="16133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37"/>
              <a:buFont typeface="Montserrat"/>
              <a:buChar char="•"/>
            </a:pPr>
            <a:r>
              <a:rPr b="1" i="0" lang="en-US" sz="1937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@PathVariable</a:t>
            </a:r>
            <a:r>
              <a:rPr b="0" i="0" lang="en-US" sz="1937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: Extrai variáveis da URL</a:t>
            </a:r>
            <a:endParaRPr b="0" i="0" sz="193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25"/>
          <p:cNvSpPr/>
          <p:nvPr/>
        </p:nvSpPr>
        <p:spPr>
          <a:xfrm>
            <a:off x="9456093" y="3239541"/>
            <a:ext cx="3721299" cy="465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8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75"/>
              <a:buFont typeface="Arial"/>
              <a:buNone/>
            </a:pPr>
            <a:r>
              <a:rPr b="1" i="0" lang="en-US" sz="2875" u="none" cap="none" strike="noStrike">
                <a:solidFill>
                  <a:srgbClr val="E30613"/>
                </a:solidFill>
                <a:latin typeface="PT Sans"/>
                <a:ea typeface="PT Sans"/>
                <a:cs typeface="PT Sans"/>
                <a:sym typeface="PT Sans"/>
              </a:rPr>
              <a:t>Responsabilidades</a:t>
            </a:r>
            <a:endParaRPr b="0" i="0" sz="2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25"/>
          <p:cNvSpPr/>
          <p:nvPr/>
        </p:nvSpPr>
        <p:spPr>
          <a:xfrm>
            <a:off x="9456093" y="3952578"/>
            <a:ext cx="7849195" cy="396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33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37"/>
              <a:buFont typeface="Arial"/>
              <a:buNone/>
            </a:pPr>
            <a:r>
              <a:rPr b="0" i="0" lang="en-US" sz="1937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Os controllers REST são responsáveis por:</a:t>
            </a:r>
            <a:endParaRPr b="0" i="0" sz="193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25"/>
          <p:cNvSpPr/>
          <p:nvPr/>
        </p:nvSpPr>
        <p:spPr>
          <a:xfrm>
            <a:off x="9456093" y="4572744"/>
            <a:ext cx="7849195" cy="396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428625" lvl="0" marL="428625" marR="0" rtl="0" algn="l">
              <a:lnSpc>
                <a:spcPct val="16133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37"/>
              <a:buFont typeface="Calibri"/>
              <a:buAutoNum type="arabicPeriod"/>
            </a:pPr>
            <a:r>
              <a:rPr b="0" i="0" lang="en-US" sz="1937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Receber requisições HTTP</a:t>
            </a:r>
            <a:endParaRPr b="0" i="0" sz="193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25"/>
          <p:cNvSpPr/>
          <p:nvPr/>
        </p:nvSpPr>
        <p:spPr>
          <a:xfrm>
            <a:off x="9456093" y="5056435"/>
            <a:ext cx="7849195" cy="396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428625" lvl="0" marL="428625" marR="0" rtl="0" algn="l">
              <a:lnSpc>
                <a:spcPct val="16133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37"/>
              <a:buFont typeface="Calibri"/>
              <a:buAutoNum type="arabicPeriod" startAt="2"/>
            </a:pPr>
            <a:r>
              <a:rPr b="0" i="0" lang="en-US" sz="1937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Validar formato dos dados recebidos</a:t>
            </a:r>
            <a:endParaRPr b="0" i="0" sz="193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25"/>
          <p:cNvSpPr/>
          <p:nvPr/>
        </p:nvSpPr>
        <p:spPr>
          <a:xfrm>
            <a:off x="9456093" y="5540128"/>
            <a:ext cx="7849195" cy="396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428625" lvl="0" marL="428625" marR="0" rtl="0" algn="l">
              <a:lnSpc>
                <a:spcPct val="16133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37"/>
              <a:buFont typeface="Calibri"/>
              <a:buAutoNum type="arabicPeriod" startAt="3"/>
            </a:pPr>
            <a:r>
              <a:rPr b="0" i="0" lang="en-US" sz="1937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Delegar processamento ao service</a:t>
            </a:r>
            <a:endParaRPr b="0" i="0" sz="193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25"/>
          <p:cNvSpPr/>
          <p:nvPr/>
        </p:nvSpPr>
        <p:spPr>
          <a:xfrm>
            <a:off x="9456093" y="6023819"/>
            <a:ext cx="7849195" cy="396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428625" lvl="0" marL="428625" marR="0" rtl="0" algn="l">
              <a:lnSpc>
                <a:spcPct val="16133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37"/>
              <a:buFont typeface="Calibri"/>
              <a:buAutoNum type="arabicPeriod" startAt="4"/>
            </a:pPr>
            <a:r>
              <a:rPr b="0" i="0" lang="en-US" sz="1937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Retornar resposta apropriada</a:t>
            </a:r>
            <a:endParaRPr b="0" i="0" sz="193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25"/>
          <p:cNvSpPr/>
          <p:nvPr/>
        </p:nvSpPr>
        <p:spPr>
          <a:xfrm>
            <a:off x="9456093" y="6507510"/>
            <a:ext cx="7849195" cy="396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428625" lvl="0" marL="428625" marR="0" rtl="0" algn="l">
              <a:lnSpc>
                <a:spcPct val="16133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37"/>
              <a:buFont typeface="Calibri"/>
              <a:buAutoNum type="arabicPeriod" startAt="5"/>
            </a:pPr>
            <a:r>
              <a:rPr b="0" i="0" lang="en-US" sz="1937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Definir códigos HTTP corretos</a:t>
            </a:r>
            <a:endParaRPr b="0" i="0" sz="193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25"/>
          <p:cNvSpPr/>
          <p:nvPr/>
        </p:nvSpPr>
        <p:spPr>
          <a:xfrm>
            <a:off x="9456093" y="7127676"/>
            <a:ext cx="7849195" cy="396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33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37"/>
              <a:buFont typeface="Arial"/>
              <a:buNone/>
            </a:pPr>
            <a:r>
              <a:rPr b="0" i="0" lang="en-US" sz="1937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Controllers devem ser simples e não conter lógica de negócio.</a:t>
            </a:r>
            <a:endParaRPr b="0" i="0" sz="193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44" name="Google Shape;444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516350" y="285750"/>
            <a:ext cx="1485900" cy="316855"/>
          </a:xfrm>
          <a:prstGeom prst="rect">
            <a:avLst/>
          </a:prstGeom>
          <a:noFill/>
          <a:ln>
            <a:noFill/>
          </a:ln>
        </p:spPr>
      </p:pic>
      <p:pic>
        <p:nvPicPr>
          <p:cNvPr id="445" name="Google Shape;445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270168" y="178657"/>
            <a:ext cx="4017832" cy="22575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26"/>
          <p:cNvSpPr/>
          <p:nvPr/>
        </p:nvSpPr>
        <p:spPr>
          <a:xfrm>
            <a:off x="898938" y="436812"/>
            <a:ext cx="5271900" cy="65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76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5"/>
              <a:buFont typeface="Arial"/>
              <a:buNone/>
            </a:pPr>
            <a:r>
              <a:rPr b="1" i="0" lang="en-US" sz="4125" u="none" cap="none" strike="noStrike">
                <a:solidFill>
                  <a:srgbClr val="E30613"/>
                </a:solidFill>
                <a:latin typeface="PT Sans"/>
                <a:ea typeface="PT Sans"/>
                <a:cs typeface="PT Sans"/>
                <a:sym typeface="PT Sans"/>
              </a:rPr>
              <a:t>ClienteController.java</a:t>
            </a:r>
            <a:endParaRPr b="0" i="0" sz="4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52" name="Google Shape;452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516350" y="285750"/>
            <a:ext cx="1485900" cy="316855"/>
          </a:xfrm>
          <a:prstGeom prst="rect">
            <a:avLst/>
          </a:prstGeom>
          <a:noFill/>
          <a:ln>
            <a:noFill/>
          </a:ln>
        </p:spPr>
      </p:pic>
      <p:sp>
        <p:nvSpPr>
          <p:cNvPr id="453" name="Google Shape;453;p26"/>
          <p:cNvSpPr txBox="1"/>
          <p:nvPr/>
        </p:nvSpPr>
        <p:spPr>
          <a:xfrm>
            <a:off x="618150" y="1609525"/>
            <a:ext cx="12103800" cy="485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</a:rPr>
              <a:t>Anotações de classe</a:t>
            </a:r>
            <a:endParaRPr b="1"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@RestController</a:t>
            </a:r>
            <a:r>
              <a:rPr lang="en-US" sz="1600">
                <a:solidFill>
                  <a:schemeClr val="dk1"/>
                </a:solidFill>
              </a:rPr>
              <a:t> → expõe endpoints REST; métodos retornam dados no corpo da resposta.</a:t>
            </a:r>
            <a:br>
              <a:rPr lang="en-US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@RequestMapping("/api/clientes")</a:t>
            </a:r>
            <a:r>
              <a:rPr lang="en-US" sz="1600">
                <a:solidFill>
                  <a:schemeClr val="dk1"/>
                </a:solidFill>
              </a:rPr>
              <a:t> → </a:t>
            </a:r>
            <a:r>
              <a:rPr b="1" lang="en-US" sz="1600">
                <a:solidFill>
                  <a:schemeClr val="dk1"/>
                </a:solidFill>
              </a:rPr>
              <a:t>prefixo</a:t>
            </a:r>
            <a:r>
              <a:rPr lang="en-US" sz="1600">
                <a:solidFill>
                  <a:schemeClr val="dk1"/>
                </a:solidFill>
              </a:rPr>
              <a:t> de rota para todos os métodos.</a:t>
            </a:r>
            <a:br>
              <a:rPr lang="en-US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@RequiredArgsConstructor</a:t>
            </a:r>
            <a:r>
              <a:rPr lang="en-US" sz="1600">
                <a:solidFill>
                  <a:schemeClr val="dk1"/>
                </a:solidFill>
              </a:rPr>
              <a:t> → Lombok gera construtor com os campos </a:t>
            </a:r>
            <a:r>
              <a:rPr lang="en-US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final</a:t>
            </a:r>
            <a:r>
              <a:rPr lang="en-US" sz="1600">
                <a:solidFill>
                  <a:schemeClr val="dk1"/>
                </a:solidFill>
              </a:rPr>
              <a:t>.</a:t>
            </a:r>
            <a:br>
              <a:rPr lang="en-US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</a:rPr>
              <a:t>Declaração e dependências</a:t>
            </a:r>
            <a:endParaRPr b="1"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public class ClienteController { ... }</a:t>
            </a:r>
            <a:br>
              <a:rPr lang="en-US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endParaRPr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private static final Logger logger = LoggerFactory.getLogger(ClienteController.class);</a:t>
            </a:r>
            <a:br>
              <a:rPr lang="en-US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US" sz="1600">
                <a:solidFill>
                  <a:schemeClr val="dk1"/>
                </a:solidFill>
              </a:rPr>
              <a:t> Cria </a:t>
            </a:r>
            <a:r>
              <a:rPr b="1" lang="en-US" sz="1600">
                <a:solidFill>
                  <a:schemeClr val="dk1"/>
                </a:solidFill>
              </a:rPr>
              <a:t>logger</a:t>
            </a:r>
            <a:r>
              <a:rPr lang="en-US" sz="1600">
                <a:solidFill>
                  <a:schemeClr val="dk1"/>
                </a:solidFill>
              </a:rPr>
              <a:t> para escrever logs (info/debug/warn).</a:t>
            </a:r>
            <a:br>
              <a:rPr lang="en-US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private final ClienteService clienteService;</a:t>
            </a:r>
            <a:br>
              <a:rPr lang="en-US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US" sz="1600">
                <a:solidFill>
                  <a:schemeClr val="dk1"/>
                </a:solidFill>
              </a:rPr>
              <a:t> Injeta o </a:t>
            </a:r>
            <a:r>
              <a:rPr b="1" lang="en-US" sz="1600">
                <a:solidFill>
                  <a:schemeClr val="dk1"/>
                </a:solidFill>
              </a:rPr>
              <a:t>service</a:t>
            </a:r>
            <a:r>
              <a:rPr lang="en-US" sz="1600">
                <a:solidFill>
                  <a:schemeClr val="dk1"/>
                </a:solidFill>
              </a:rPr>
              <a:t> usado pelos endpoints.</a:t>
            </a: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g3641e1e0e50_0_171"/>
          <p:cNvSpPr/>
          <p:nvPr/>
        </p:nvSpPr>
        <p:spPr>
          <a:xfrm>
            <a:off x="898938" y="436812"/>
            <a:ext cx="5271900" cy="65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76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5"/>
              <a:buFont typeface="Arial"/>
              <a:buNone/>
            </a:pPr>
            <a:r>
              <a:rPr b="1" i="0" lang="en-US" sz="4125" u="none" cap="none" strike="noStrike">
                <a:solidFill>
                  <a:srgbClr val="E30613"/>
                </a:solidFill>
                <a:latin typeface="PT Sans"/>
                <a:ea typeface="PT Sans"/>
                <a:cs typeface="PT Sans"/>
                <a:sym typeface="PT Sans"/>
              </a:rPr>
              <a:t>ClienteController.java</a:t>
            </a:r>
            <a:endParaRPr b="0" i="0" sz="4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60" name="Google Shape;460;g3641e1e0e50_0_17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516350" y="285750"/>
            <a:ext cx="1485900" cy="316855"/>
          </a:xfrm>
          <a:prstGeom prst="rect">
            <a:avLst/>
          </a:prstGeom>
          <a:noFill/>
          <a:ln>
            <a:noFill/>
          </a:ln>
        </p:spPr>
      </p:pic>
      <p:sp>
        <p:nvSpPr>
          <p:cNvPr id="461" name="Google Shape;461;g3641e1e0e50_0_171"/>
          <p:cNvSpPr txBox="1"/>
          <p:nvPr/>
        </p:nvSpPr>
        <p:spPr>
          <a:xfrm>
            <a:off x="618150" y="1609525"/>
            <a:ext cx="12103800" cy="7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700">
                <a:solidFill>
                  <a:schemeClr val="dk1"/>
                </a:solidFill>
              </a:rPr>
              <a:t>POST /api/clientes — cadastrar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  <p:pic>
        <p:nvPicPr>
          <p:cNvPr id="462" name="Google Shape;462;g3641e1e0e50_0_17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2468125"/>
            <a:ext cx="12371175" cy="3719750"/>
          </a:xfrm>
          <a:prstGeom prst="rect">
            <a:avLst/>
          </a:prstGeom>
          <a:noFill/>
          <a:ln>
            <a:noFill/>
          </a:ln>
        </p:spPr>
      </p:pic>
      <p:sp>
        <p:nvSpPr>
          <p:cNvPr id="463" name="Google Shape;463;g3641e1e0e50_0_171"/>
          <p:cNvSpPr txBox="1"/>
          <p:nvPr/>
        </p:nvSpPr>
        <p:spPr>
          <a:xfrm>
            <a:off x="175950" y="6340275"/>
            <a:ext cx="8766900" cy="321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@</a:t>
            </a:r>
            <a:r>
              <a:rPr lang="en-US" sz="15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PostMapping</a:t>
            </a:r>
            <a:r>
              <a:rPr lang="en-US" sz="1500">
                <a:solidFill>
                  <a:schemeClr val="dk1"/>
                </a:solidFill>
              </a:rPr>
              <a:t> → mapeia </a:t>
            </a:r>
            <a:r>
              <a:rPr b="1" lang="en-US" sz="1500">
                <a:solidFill>
                  <a:schemeClr val="dk1"/>
                </a:solidFill>
              </a:rPr>
              <a:t>POST /api/clientes</a:t>
            </a:r>
            <a:r>
              <a:rPr lang="en-US" sz="1500">
                <a:solidFill>
                  <a:schemeClr val="dk1"/>
                </a:solidFill>
              </a:rPr>
              <a:t>.</a:t>
            </a:r>
            <a:br>
              <a:rPr lang="en-US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@Valid @RequestBody ClienteRequest request</a:t>
            </a:r>
            <a:r>
              <a:rPr lang="en-US" sz="1500">
                <a:solidFill>
                  <a:schemeClr val="dk1"/>
                </a:solidFill>
              </a:rPr>
              <a:t> → lê e </a:t>
            </a:r>
            <a:r>
              <a:rPr b="1" lang="en-US" sz="1500">
                <a:solidFill>
                  <a:schemeClr val="dk1"/>
                </a:solidFill>
              </a:rPr>
              <a:t>valida</a:t>
            </a:r>
            <a:r>
              <a:rPr lang="en-US" sz="1500">
                <a:solidFill>
                  <a:schemeClr val="dk1"/>
                </a:solidFill>
              </a:rPr>
              <a:t> o JSON enviado.</a:t>
            </a:r>
            <a:br>
              <a:rPr lang="en-US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500">
                <a:solidFill>
                  <a:schemeClr val="dk1"/>
                </a:solidFill>
              </a:rPr>
              <a:t>Builder de Cliente</a:t>
            </a:r>
            <a:r>
              <a:rPr lang="en-US" sz="1500">
                <a:solidFill>
                  <a:schemeClr val="dk1"/>
                </a:solidFill>
              </a:rPr>
              <a:t> → monta a entidade a partir do request.</a:t>
            </a:r>
            <a:br>
              <a:rPr lang="en-US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clienteService.cadastrar(...)</a:t>
            </a:r>
            <a:r>
              <a:rPr lang="en-US" sz="1500">
                <a:solidFill>
                  <a:schemeClr val="dk1"/>
                </a:solidFill>
              </a:rPr>
              <a:t> → delega ao service para persistir.</a:t>
            </a:r>
            <a:br>
              <a:rPr lang="en-US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>
                <a:solidFill>
                  <a:schemeClr val="dk1"/>
                </a:solidFill>
              </a:rPr>
              <a:t>Logs: </a:t>
            </a:r>
            <a:r>
              <a:rPr lang="en-US" sz="15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info</a:t>
            </a:r>
            <a:r>
              <a:rPr lang="en-US" sz="1500">
                <a:solidFill>
                  <a:schemeClr val="dk1"/>
                </a:solidFill>
              </a:rPr>
              <a:t> (início) e </a:t>
            </a:r>
            <a:r>
              <a:rPr lang="en-US" sz="15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debug</a:t>
            </a:r>
            <a:r>
              <a:rPr lang="en-US" sz="1500">
                <a:solidFill>
                  <a:schemeClr val="dk1"/>
                </a:solidFill>
              </a:rPr>
              <a:t> (ID gerado).</a:t>
            </a:r>
            <a:br>
              <a:rPr lang="en-US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ResponseEntity.ok(...)</a:t>
            </a:r>
            <a:r>
              <a:rPr lang="en-US" sz="1500">
                <a:solidFill>
                  <a:schemeClr val="dk1"/>
                </a:solidFill>
              </a:rPr>
              <a:t> → retorna </a:t>
            </a:r>
            <a:r>
              <a:rPr b="1" lang="en-US" sz="1500">
                <a:solidFill>
                  <a:schemeClr val="dk1"/>
                </a:solidFill>
              </a:rPr>
              <a:t>200 OK</a:t>
            </a:r>
            <a:r>
              <a:rPr lang="en-US" sz="1500">
                <a:solidFill>
                  <a:schemeClr val="dk1"/>
                </a:solidFill>
              </a:rPr>
              <a:t> com </a:t>
            </a:r>
            <a:r>
              <a:rPr lang="en-US" sz="15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ClienteResponse</a:t>
            </a:r>
            <a:r>
              <a:rPr lang="en-US" sz="1500">
                <a:solidFill>
                  <a:schemeClr val="dk1"/>
                </a:solidFill>
              </a:rPr>
              <a:t>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g3641e1e0e50_0_164"/>
          <p:cNvSpPr/>
          <p:nvPr/>
        </p:nvSpPr>
        <p:spPr>
          <a:xfrm>
            <a:off x="898938" y="436812"/>
            <a:ext cx="5271900" cy="65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76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5"/>
              <a:buFont typeface="Arial"/>
              <a:buNone/>
            </a:pPr>
            <a:r>
              <a:rPr b="1" i="0" lang="en-US" sz="4125" u="none" cap="none" strike="noStrike">
                <a:solidFill>
                  <a:srgbClr val="E30613"/>
                </a:solidFill>
                <a:latin typeface="PT Sans"/>
                <a:ea typeface="PT Sans"/>
                <a:cs typeface="PT Sans"/>
                <a:sym typeface="PT Sans"/>
              </a:rPr>
              <a:t>ClienteController.java</a:t>
            </a:r>
            <a:endParaRPr b="0" i="0" sz="4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70" name="Google Shape;470;g3641e1e0e50_0_1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516350" y="285750"/>
            <a:ext cx="1485900" cy="316855"/>
          </a:xfrm>
          <a:prstGeom prst="rect">
            <a:avLst/>
          </a:prstGeom>
          <a:noFill/>
          <a:ln>
            <a:noFill/>
          </a:ln>
        </p:spPr>
      </p:pic>
      <p:sp>
        <p:nvSpPr>
          <p:cNvPr id="471" name="Google Shape;471;g3641e1e0e50_0_164"/>
          <p:cNvSpPr txBox="1"/>
          <p:nvPr/>
        </p:nvSpPr>
        <p:spPr>
          <a:xfrm>
            <a:off x="408225" y="1936100"/>
            <a:ext cx="5105700" cy="7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chemeClr val="dk1"/>
                </a:solidFill>
              </a:rPr>
              <a:t>GET /api/clientes — listar ativos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  <p:pic>
        <p:nvPicPr>
          <p:cNvPr id="472" name="Google Shape;472;g3641e1e0e50_0_16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2794700"/>
            <a:ext cx="10494700" cy="2536100"/>
          </a:xfrm>
          <a:prstGeom prst="rect">
            <a:avLst/>
          </a:prstGeom>
          <a:noFill/>
          <a:ln>
            <a:noFill/>
          </a:ln>
        </p:spPr>
      </p:pic>
      <p:sp>
        <p:nvSpPr>
          <p:cNvPr id="473" name="Google Shape;473;g3641e1e0e50_0_164"/>
          <p:cNvSpPr txBox="1"/>
          <p:nvPr/>
        </p:nvSpPr>
        <p:spPr>
          <a:xfrm>
            <a:off x="408225" y="5809000"/>
            <a:ext cx="9922800" cy="24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@GetMapping</a:t>
            </a:r>
            <a:r>
              <a:rPr lang="en-US" sz="1600">
                <a:solidFill>
                  <a:schemeClr val="dk1"/>
                </a:solidFill>
              </a:rPr>
              <a:t> → mapeia </a:t>
            </a:r>
            <a:r>
              <a:rPr b="1" lang="en-US" sz="1600">
                <a:solidFill>
                  <a:schemeClr val="dk1"/>
                </a:solidFill>
              </a:rPr>
              <a:t>GET /api/clientes</a:t>
            </a:r>
            <a:r>
              <a:rPr lang="en-US" sz="1600">
                <a:solidFill>
                  <a:schemeClr val="dk1"/>
                </a:solidFill>
              </a:rPr>
              <a:t>.</a:t>
            </a:r>
            <a:br>
              <a:rPr lang="en-US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chemeClr val="dk1"/>
                </a:solidFill>
              </a:rPr>
              <a:t>Chama </a:t>
            </a:r>
            <a:r>
              <a:rPr lang="en-US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listarAtivos()</a:t>
            </a:r>
            <a:r>
              <a:rPr lang="en-US" sz="1600">
                <a:solidFill>
                  <a:schemeClr val="dk1"/>
                </a:solidFill>
              </a:rPr>
              <a:t> no service.</a:t>
            </a:r>
            <a:br>
              <a:rPr lang="en-US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chemeClr val="dk1"/>
                </a:solidFill>
              </a:rPr>
              <a:t>Converte entidades em </a:t>
            </a:r>
            <a:r>
              <a:rPr b="1" lang="en-US" sz="1600">
                <a:solidFill>
                  <a:schemeClr val="dk1"/>
                </a:solidFill>
              </a:rPr>
              <a:t>ClienteResponse</a:t>
            </a:r>
            <a:r>
              <a:rPr lang="en-US" sz="1600">
                <a:solidFill>
                  <a:schemeClr val="dk1"/>
                </a:solidFill>
              </a:rPr>
              <a:t> via </a:t>
            </a:r>
            <a:r>
              <a:rPr b="1" lang="en-US" sz="1600">
                <a:solidFill>
                  <a:schemeClr val="dk1"/>
                </a:solidFill>
              </a:rPr>
              <a:t>stream → map → collect</a:t>
            </a:r>
            <a:r>
              <a:rPr lang="en-US" sz="1600">
                <a:solidFill>
                  <a:schemeClr val="dk1"/>
                </a:solidFill>
              </a:rPr>
              <a:t>.</a:t>
            </a:r>
            <a:br>
              <a:rPr lang="en-US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chemeClr val="dk1"/>
                </a:solidFill>
              </a:rPr>
              <a:t>Log </a:t>
            </a:r>
            <a:r>
              <a:rPr lang="en-US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info</a:t>
            </a:r>
            <a:r>
              <a:rPr lang="en-US" sz="1600">
                <a:solidFill>
                  <a:schemeClr val="dk1"/>
                </a:solidFill>
              </a:rPr>
              <a:t> registrando a listagem.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g3641e1e0e50_0_200"/>
          <p:cNvSpPr/>
          <p:nvPr/>
        </p:nvSpPr>
        <p:spPr>
          <a:xfrm>
            <a:off x="898938" y="436812"/>
            <a:ext cx="5271900" cy="65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76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5"/>
              <a:buFont typeface="Arial"/>
              <a:buNone/>
            </a:pPr>
            <a:r>
              <a:rPr b="1" i="0" lang="en-US" sz="4125" u="none" cap="none" strike="noStrike">
                <a:solidFill>
                  <a:srgbClr val="E30613"/>
                </a:solidFill>
                <a:latin typeface="PT Sans"/>
                <a:ea typeface="PT Sans"/>
                <a:cs typeface="PT Sans"/>
                <a:sym typeface="PT Sans"/>
              </a:rPr>
              <a:t>ClienteController.java</a:t>
            </a:r>
            <a:endParaRPr b="0" i="0" sz="4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80" name="Google Shape;480;g3641e1e0e50_0_20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516350" y="285750"/>
            <a:ext cx="1485900" cy="316855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g3641e1e0e50_0_200"/>
          <p:cNvSpPr txBox="1"/>
          <p:nvPr/>
        </p:nvSpPr>
        <p:spPr>
          <a:xfrm>
            <a:off x="396550" y="1947750"/>
            <a:ext cx="5933700" cy="7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chemeClr val="dk1"/>
                </a:solidFill>
              </a:rPr>
              <a:t>GET /api/clientes/clientes — endpoint “simplificado”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  <p:pic>
        <p:nvPicPr>
          <p:cNvPr id="482" name="Google Shape;482;g3641e1e0e50_0_20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2806350"/>
            <a:ext cx="10921675" cy="3200925"/>
          </a:xfrm>
          <a:prstGeom prst="rect">
            <a:avLst/>
          </a:prstGeom>
          <a:noFill/>
          <a:ln>
            <a:noFill/>
          </a:ln>
        </p:spPr>
      </p:pic>
      <p:sp>
        <p:nvSpPr>
          <p:cNvPr id="483" name="Google Shape;483;g3641e1e0e50_0_200"/>
          <p:cNvSpPr txBox="1"/>
          <p:nvPr/>
        </p:nvSpPr>
        <p:spPr>
          <a:xfrm>
            <a:off x="152400" y="6613075"/>
            <a:ext cx="86622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@GetMapping("/clientes")</a:t>
            </a:r>
            <a:r>
              <a:rPr lang="en-US" sz="1600">
                <a:solidFill>
                  <a:schemeClr val="dk1"/>
                </a:solidFill>
              </a:rPr>
              <a:t> com o </a:t>
            </a:r>
            <a:r>
              <a:rPr b="1" lang="en-US" sz="1600">
                <a:solidFill>
                  <a:schemeClr val="dk1"/>
                </a:solidFill>
              </a:rPr>
              <a:t>prefixo</a:t>
            </a:r>
            <a:r>
              <a:rPr lang="en-US" sz="1600">
                <a:solidFill>
                  <a:schemeClr val="dk1"/>
                </a:solidFill>
              </a:rPr>
              <a:t> da classe resulta em </a:t>
            </a:r>
            <a:r>
              <a:rPr b="1" lang="en-US" sz="1600">
                <a:solidFill>
                  <a:schemeClr val="dk1"/>
                </a:solidFill>
              </a:rPr>
              <a:t>GET /api/clientes/clientes</a:t>
            </a:r>
            <a:r>
              <a:rPr lang="en-US" sz="1600">
                <a:solidFill>
                  <a:schemeClr val="dk1"/>
                </a:solidFill>
              </a:rPr>
              <a:t>.</a:t>
            </a:r>
            <a:br>
              <a:rPr lang="en-US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</a:rPr>
              <a:t>Mesma lógica de listagem e mapeamento para </a:t>
            </a:r>
            <a:r>
              <a:rPr lang="en-US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ClienteResponse</a:t>
            </a:r>
            <a:r>
              <a:rPr lang="en-US" sz="1600">
                <a:solidFill>
                  <a:schemeClr val="dk1"/>
                </a:solidFill>
              </a:rPr>
              <a:t>.</a:t>
            </a:r>
            <a:br>
              <a:rPr lang="en-US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</a:rPr>
              <a:t>Log </a:t>
            </a:r>
            <a:r>
              <a:rPr lang="en-US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info</a:t>
            </a:r>
            <a:r>
              <a:rPr lang="en-US" sz="1600">
                <a:solidFill>
                  <a:schemeClr val="dk1"/>
                </a:solidFill>
              </a:rPr>
              <a:t> indicando acesso ao endpoint.</a:t>
            </a: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g3641e1e0e50_0_191"/>
          <p:cNvSpPr/>
          <p:nvPr/>
        </p:nvSpPr>
        <p:spPr>
          <a:xfrm>
            <a:off x="898938" y="436812"/>
            <a:ext cx="5271900" cy="65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76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5"/>
              <a:buFont typeface="Arial"/>
              <a:buNone/>
            </a:pPr>
            <a:r>
              <a:rPr b="1" i="0" lang="en-US" sz="4125" u="none" cap="none" strike="noStrike">
                <a:solidFill>
                  <a:srgbClr val="E30613"/>
                </a:solidFill>
                <a:latin typeface="PT Sans"/>
                <a:ea typeface="PT Sans"/>
                <a:cs typeface="PT Sans"/>
                <a:sym typeface="PT Sans"/>
              </a:rPr>
              <a:t>ClienteController.java</a:t>
            </a:r>
            <a:endParaRPr b="0" i="0" sz="4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90" name="Google Shape;490;g3641e1e0e50_0_19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516350" y="285750"/>
            <a:ext cx="1485900" cy="316855"/>
          </a:xfrm>
          <a:prstGeom prst="rect">
            <a:avLst/>
          </a:prstGeom>
          <a:noFill/>
          <a:ln>
            <a:noFill/>
          </a:ln>
        </p:spPr>
      </p:pic>
      <p:sp>
        <p:nvSpPr>
          <p:cNvPr id="491" name="Google Shape;491;g3641e1e0e50_0_191"/>
          <p:cNvSpPr txBox="1"/>
          <p:nvPr/>
        </p:nvSpPr>
        <p:spPr>
          <a:xfrm>
            <a:off x="233250" y="1621200"/>
            <a:ext cx="6552000" cy="7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chemeClr val="dk1"/>
                </a:solidFill>
              </a:rPr>
              <a:t>GET /api/clientes/{id} — buscar por ID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  <p:pic>
        <p:nvPicPr>
          <p:cNvPr id="492" name="Google Shape;492;g3641e1e0e50_0_19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2479800"/>
            <a:ext cx="9694826" cy="3504150"/>
          </a:xfrm>
          <a:prstGeom prst="rect">
            <a:avLst/>
          </a:prstGeom>
          <a:noFill/>
          <a:ln>
            <a:noFill/>
          </a:ln>
        </p:spPr>
      </p:pic>
      <p:sp>
        <p:nvSpPr>
          <p:cNvPr id="493" name="Google Shape;493;g3641e1e0e50_0_191"/>
          <p:cNvSpPr txBox="1"/>
          <p:nvPr/>
        </p:nvSpPr>
        <p:spPr>
          <a:xfrm>
            <a:off x="152400" y="6543775"/>
            <a:ext cx="9179100" cy="19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@PathVariable Long id</a:t>
            </a:r>
            <a:r>
              <a:rPr lang="en-US" sz="1600">
                <a:solidFill>
                  <a:schemeClr val="dk1"/>
                </a:solidFill>
              </a:rPr>
              <a:t> → captura o </a:t>
            </a:r>
            <a:r>
              <a:rPr b="1" lang="en-US" sz="1600">
                <a:solidFill>
                  <a:schemeClr val="dk1"/>
                </a:solidFill>
              </a:rPr>
              <a:t>ID</a:t>
            </a:r>
            <a:r>
              <a:rPr lang="en-US" sz="1600">
                <a:solidFill>
                  <a:schemeClr val="dk1"/>
                </a:solidFill>
              </a:rPr>
              <a:t> da URL.</a:t>
            </a:r>
            <a:br>
              <a:rPr lang="en-US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chemeClr val="dk1"/>
                </a:solidFill>
              </a:rPr>
              <a:t>Busca no service → se presente, mapeia para </a:t>
            </a:r>
            <a:r>
              <a:rPr lang="en-US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ClienteResponse</a:t>
            </a:r>
            <a:r>
              <a:rPr lang="en-US" sz="1600">
                <a:solidFill>
                  <a:schemeClr val="dk1"/>
                </a:solidFill>
              </a:rPr>
              <a:t> e retorna </a:t>
            </a:r>
            <a:r>
              <a:rPr b="1" lang="en-US" sz="1600">
                <a:solidFill>
                  <a:schemeClr val="dk1"/>
                </a:solidFill>
              </a:rPr>
              <a:t>200 OK</a:t>
            </a:r>
            <a:r>
              <a:rPr lang="en-US" sz="1600">
                <a:solidFill>
                  <a:schemeClr val="dk1"/>
                </a:solidFill>
              </a:rPr>
              <a:t>.</a:t>
            </a:r>
            <a:br>
              <a:rPr lang="en-US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chemeClr val="dk1"/>
                </a:solidFill>
              </a:rPr>
              <a:t>Se ausente, log </a:t>
            </a:r>
            <a:r>
              <a:rPr lang="en-US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warn</a:t>
            </a:r>
            <a:r>
              <a:rPr lang="en-US" sz="1600">
                <a:solidFill>
                  <a:schemeClr val="dk1"/>
                </a:solidFill>
              </a:rPr>
              <a:t> e retorna </a:t>
            </a:r>
            <a:r>
              <a:rPr b="1" lang="en-US" sz="1600">
                <a:solidFill>
                  <a:schemeClr val="dk1"/>
                </a:solidFill>
              </a:rPr>
              <a:t>404 Not Found</a:t>
            </a:r>
            <a:r>
              <a:rPr lang="en-US" sz="1600">
                <a:solidFill>
                  <a:schemeClr val="dk1"/>
                </a:solidFill>
              </a:rPr>
              <a:t>.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g3641e1e0e50_0_232"/>
          <p:cNvSpPr/>
          <p:nvPr/>
        </p:nvSpPr>
        <p:spPr>
          <a:xfrm>
            <a:off x="898938" y="436812"/>
            <a:ext cx="5271900" cy="65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76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5"/>
              <a:buFont typeface="Arial"/>
              <a:buNone/>
            </a:pPr>
            <a:r>
              <a:rPr b="1" i="0" lang="en-US" sz="4125" u="none" cap="none" strike="noStrike">
                <a:solidFill>
                  <a:srgbClr val="E30613"/>
                </a:solidFill>
                <a:latin typeface="PT Sans"/>
                <a:ea typeface="PT Sans"/>
                <a:cs typeface="PT Sans"/>
                <a:sym typeface="PT Sans"/>
              </a:rPr>
              <a:t>ClienteController.java</a:t>
            </a:r>
            <a:endParaRPr b="0" i="0" sz="4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00" name="Google Shape;500;g3641e1e0e50_0_2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516350" y="285750"/>
            <a:ext cx="1485900" cy="316855"/>
          </a:xfrm>
          <a:prstGeom prst="rect">
            <a:avLst/>
          </a:prstGeom>
          <a:noFill/>
          <a:ln>
            <a:noFill/>
          </a:ln>
        </p:spPr>
      </p:pic>
      <p:sp>
        <p:nvSpPr>
          <p:cNvPr id="501" name="Google Shape;501;g3641e1e0e50_0_232"/>
          <p:cNvSpPr txBox="1"/>
          <p:nvPr/>
        </p:nvSpPr>
        <p:spPr>
          <a:xfrm>
            <a:off x="279925" y="1667850"/>
            <a:ext cx="4744200" cy="7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chemeClr val="dk1"/>
                </a:solidFill>
              </a:rPr>
              <a:t>PUT /api/clientes/{id} — atualizar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  <p:pic>
        <p:nvPicPr>
          <p:cNvPr id="502" name="Google Shape;502;g3641e1e0e50_0_2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2526450"/>
            <a:ext cx="10922651" cy="3107600"/>
          </a:xfrm>
          <a:prstGeom prst="rect">
            <a:avLst/>
          </a:prstGeom>
          <a:noFill/>
          <a:ln>
            <a:noFill/>
          </a:ln>
        </p:spPr>
      </p:pic>
      <p:sp>
        <p:nvSpPr>
          <p:cNvPr id="503" name="Google Shape;503;g3641e1e0e50_0_232"/>
          <p:cNvSpPr txBox="1"/>
          <p:nvPr/>
        </p:nvSpPr>
        <p:spPr>
          <a:xfrm>
            <a:off x="279925" y="6333850"/>
            <a:ext cx="7919400" cy="27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@PutMapping("/{id}")</a:t>
            </a:r>
            <a:r>
              <a:rPr lang="en-US" sz="1500">
                <a:solidFill>
                  <a:schemeClr val="dk1"/>
                </a:solidFill>
              </a:rPr>
              <a:t> → </a:t>
            </a:r>
            <a:r>
              <a:rPr b="1" lang="en-US" sz="1500">
                <a:solidFill>
                  <a:schemeClr val="dk1"/>
                </a:solidFill>
              </a:rPr>
              <a:t>PUT</a:t>
            </a:r>
            <a:r>
              <a:rPr lang="en-US" sz="1500">
                <a:solidFill>
                  <a:schemeClr val="dk1"/>
                </a:solidFill>
              </a:rPr>
              <a:t> no recurso específico.</a:t>
            </a:r>
            <a:br>
              <a:rPr lang="en-US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>
                <a:solidFill>
                  <a:schemeClr val="dk1"/>
                </a:solidFill>
              </a:rPr>
              <a:t>Lê e </a:t>
            </a:r>
            <a:r>
              <a:rPr b="1" lang="en-US" sz="1500">
                <a:solidFill>
                  <a:schemeClr val="dk1"/>
                </a:solidFill>
              </a:rPr>
              <a:t>valida</a:t>
            </a:r>
            <a:r>
              <a:rPr lang="en-US" sz="1500">
                <a:solidFill>
                  <a:schemeClr val="dk1"/>
                </a:solidFill>
              </a:rPr>
              <a:t> </a:t>
            </a:r>
            <a:r>
              <a:rPr lang="en-US" sz="15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ClienteRequest</a:t>
            </a:r>
            <a:r>
              <a:rPr lang="en-US" sz="1500">
                <a:solidFill>
                  <a:schemeClr val="dk1"/>
                </a:solidFill>
              </a:rPr>
              <a:t>.</a:t>
            </a:r>
            <a:br>
              <a:rPr lang="en-US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>
                <a:solidFill>
                  <a:schemeClr val="dk1"/>
                </a:solidFill>
              </a:rPr>
              <a:t>Constrói </a:t>
            </a:r>
            <a:r>
              <a:rPr lang="en-US" sz="15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Cliente</a:t>
            </a:r>
            <a:r>
              <a:rPr lang="en-US" sz="1500">
                <a:solidFill>
                  <a:schemeClr val="dk1"/>
                </a:solidFill>
              </a:rPr>
              <a:t> com os novos dados.</a:t>
            </a:r>
            <a:br>
              <a:rPr lang="en-US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>
                <a:solidFill>
                  <a:schemeClr val="dk1"/>
                </a:solidFill>
              </a:rPr>
              <a:t>Chama </a:t>
            </a:r>
            <a:r>
              <a:rPr lang="en-US" sz="15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clienteService.atualizar(...)</a:t>
            </a:r>
            <a:r>
              <a:rPr lang="en-US" sz="1500">
                <a:solidFill>
                  <a:schemeClr val="dk1"/>
                </a:solidFill>
              </a:rPr>
              <a:t>.</a:t>
            </a:r>
            <a:br>
              <a:rPr lang="en-US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>
                <a:solidFill>
                  <a:schemeClr val="dk1"/>
                </a:solidFill>
              </a:rPr>
              <a:t>Retorna </a:t>
            </a:r>
            <a:r>
              <a:rPr b="1" lang="en-US" sz="1500">
                <a:solidFill>
                  <a:schemeClr val="dk1"/>
                </a:solidFill>
              </a:rPr>
              <a:t>200 OK</a:t>
            </a:r>
            <a:r>
              <a:rPr lang="en-US" sz="1500">
                <a:solidFill>
                  <a:schemeClr val="dk1"/>
                </a:solidFill>
              </a:rPr>
              <a:t> com </a:t>
            </a:r>
            <a:r>
              <a:rPr lang="en-US" sz="15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ClienteResponse</a:t>
            </a:r>
            <a:r>
              <a:rPr lang="en-US" sz="1500">
                <a:solidFill>
                  <a:schemeClr val="dk1"/>
                </a:solidFill>
              </a:rPr>
              <a:t>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g3641e1e0e50_0_241"/>
          <p:cNvSpPr/>
          <p:nvPr/>
        </p:nvSpPr>
        <p:spPr>
          <a:xfrm>
            <a:off x="898938" y="436812"/>
            <a:ext cx="5271900" cy="65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76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5"/>
              <a:buFont typeface="Arial"/>
              <a:buNone/>
            </a:pPr>
            <a:r>
              <a:rPr b="1" i="0" lang="en-US" sz="4125" u="none" cap="none" strike="noStrike">
                <a:solidFill>
                  <a:srgbClr val="E30613"/>
                </a:solidFill>
                <a:latin typeface="PT Sans"/>
                <a:ea typeface="PT Sans"/>
                <a:cs typeface="PT Sans"/>
                <a:sym typeface="PT Sans"/>
              </a:rPr>
              <a:t>ClienteController.java</a:t>
            </a:r>
            <a:endParaRPr b="0" i="0" sz="4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10" name="Google Shape;510;g3641e1e0e50_0_2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516350" y="285750"/>
            <a:ext cx="1485900" cy="316855"/>
          </a:xfrm>
          <a:prstGeom prst="rect">
            <a:avLst/>
          </a:prstGeom>
          <a:noFill/>
          <a:ln>
            <a:noFill/>
          </a:ln>
        </p:spPr>
      </p:pic>
      <p:sp>
        <p:nvSpPr>
          <p:cNvPr id="511" name="Google Shape;511;g3641e1e0e50_0_241"/>
          <p:cNvSpPr txBox="1"/>
          <p:nvPr/>
        </p:nvSpPr>
        <p:spPr>
          <a:xfrm>
            <a:off x="209950" y="1574550"/>
            <a:ext cx="6073800" cy="7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chemeClr val="dk1"/>
                </a:solidFill>
              </a:rPr>
              <a:t>PATCH /api/clientes/{id}/status — ativar/desativar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  <p:pic>
        <p:nvPicPr>
          <p:cNvPr id="512" name="Google Shape;512;g3641e1e0e50_0_2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2433150"/>
            <a:ext cx="8683124" cy="2407800"/>
          </a:xfrm>
          <a:prstGeom prst="rect">
            <a:avLst/>
          </a:prstGeom>
          <a:noFill/>
          <a:ln>
            <a:noFill/>
          </a:ln>
        </p:spPr>
      </p:pic>
      <p:sp>
        <p:nvSpPr>
          <p:cNvPr id="513" name="Google Shape;513;g3641e1e0e50_0_241"/>
          <p:cNvSpPr txBox="1"/>
          <p:nvPr/>
        </p:nvSpPr>
        <p:spPr>
          <a:xfrm>
            <a:off x="498750" y="5494100"/>
            <a:ext cx="6717900" cy="19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@PatchMapping("/{id}/status")</a:t>
            </a:r>
            <a:r>
              <a:rPr lang="en-US" sz="1600">
                <a:solidFill>
                  <a:schemeClr val="dk1"/>
                </a:solidFill>
              </a:rPr>
              <a:t> → </a:t>
            </a:r>
            <a:r>
              <a:rPr b="1" lang="en-US" sz="1600">
                <a:solidFill>
                  <a:schemeClr val="dk1"/>
                </a:solidFill>
              </a:rPr>
              <a:t>PATCH</a:t>
            </a:r>
            <a:r>
              <a:rPr lang="en-US" sz="1600">
                <a:solidFill>
                  <a:schemeClr val="dk1"/>
                </a:solidFill>
              </a:rPr>
              <a:t> para alternar </a:t>
            </a:r>
            <a:r>
              <a:rPr lang="en-US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ativo</a:t>
            </a:r>
            <a:r>
              <a:rPr lang="en-US" sz="1600">
                <a:solidFill>
                  <a:schemeClr val="dk1"/>
                </a:solidFill>
              </a:rPr>
              <a:t>.</a:t>
            </a:r>
            <a:br>
              <a:rPr lang="en-US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chemeClr val="dk1"/>
                </a:solidFill>
              </a:rPr>
              <a:t>Delegação ao service.</a:t>
            </a:r>
            <a:br>
              <a:rPr lang="en-US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chemeClr val="dk1"/>
                </a:solidFill>
              </a:rPr>
              <a:t>Retorno </a:t>
            </a:r>
            <a:r>
              <a:rPr b="1" lang="en-US" sz="1600">
                <a:solidFill>
                  <a:schemeClr val="dk1"/>
                </a:solidFill>
              </a:rPr>
              <a:t>204 No Content</a:t>
            </a:r>
            <a:r>
              <a:rPr lang="en-US" sz="1600">
                <a:solidFill>
                  <a:schemeClr val="dk1"/>
                </a:solidFill>
              </a:rPr>
              <a:t> (sem corpo).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g3641e1e0e50_0_223"/>
          <p:cNvSpPr/>
          <p:nvPr/>
        </p:nvSpPr>
        <p:spPr>
          <a:xfrm>
            <a:off x="898938" y="436812"/>
            <a:ext cx="5271900" cy="65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76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5"/>
              <a:buFont typeface="Arial"/>
              <a:buNone/>
            </a:pPr>
            <a:r>
              <a:rPr b="1" i="0" lang="en-US" sz="4125" u="none" cap="none" strike="noStrike">
                <a:solidFill>
                  <a:srgbClr val="E30613"/>
                </a:solidFill>
                <a:latin typeface="PT Sans"/>
                <a:ea typeface="PT Sans"/>
                <a:cs typeface="PT Sans"/>
                <a:sym typeface="PT Sans"/>
              </a:rPr>
              <a:t>ClienteController.java</a:t>
            </a:r>
            <a:endParaRPr b="0" i="0" sz="4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20" name="Google Shape;520;g3641e1e0e50_0_2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516350" y="285750"/>
            <a:ext cx="1485900" cy="316855"/>
          </a:xfrm>
          <a:prstGeom prst="rect">
            <a:avLst/>
          </a:prstGeom>
          <a:noFill/>
          <a:ln>
            <a:noFill/>
          </a:ln>
        </p:spPr>
      </p:pic>
      <p:sp>
        <p:nvSpPr>
          <p:cNvPr id="521" name="Google Shape;521;g3641e1e0e50_0_223"/>
          <p:cNvSpPr txBox="1"/>
          <p:nvPr/>
        </p:nvSpPr>
        <p:spPr>
          <a:xfrm>
            <a:off x="139950" y="1586225"/>
            <a:ext cx="6295500" cy="7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chemeClr val="dk1"/>
                </a:solidFill>
              </a:rPr>
              <a:t>GET /api/clientes/status — health/status simples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  <p:pic>
        <p:nvPicPr>
          <p:cNvPr id="522" name="Google Shape;522;g3641e1e0e50_0_2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2444825"/>
            <a:ext cx="8289050" cy="2827650"/>
          </a:xfrm>
          <a:prstGeom prst="rect">
            <a:avLst/>
          </a:prstGeom>
          <a:noFill/>
          <a:ln>
            <a:noFill/>
          </a:ln>
        </p:spPr>
      </p:pic>
      <p:sp>
        <p:nvSpPr>
          <p:cNvPr id="523" name="Google Shape;523;g3641e1e0e50_0_223"/>
          <p:cNvSpPr txBox="1"/>
          <p:nvPr/>
        </p:nvSpPr>
        <p:spPr>
          <a:xfrm>
            <a:off x="152400" y="6158200"/>
            <a:ext cx="64812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</a:rPr>
              <a:t>Endpoint de </a:t>
            </a:r>
            <a:r>
              <a:rPr b="1" lang="en-US" sz="1600">
                <a:solidFill>
                  <a:schemeClr val="dk1"/>
                </a:solidFill>
              </a:rPr>
              <a:t>status</a:t>
            </a:r>
            <a:r>
              <a:rPr lang="en-US" sz="1600">
                <a:solidFill>
                  <a:schemeClr val="dk1"/>
                </a:solidFill>
              </a:rPr>
              <a:t>.</a:t>
            </a:r>
            <a:br>
              <a:rPr lang="en-US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</a:rPr>
              <a:t>Log </a:t>
            </a:r>
            <a:r>
              <a:rPr lang="en-US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debug</a:t>
            </a:r>
            <a:r>
              <a:rPr lang="en-US" sz="1600">
                <a:solidFill>
                  <a:schemeClr val="dk1"/>
                </a:solidFill>
              </a:rPr>
              <a:t> (acesso) e </a:t>
            </a:r>
            <a:r>
              <a:rPr lang="en-US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info</a:t>
            </a:r>
            <a:r>
              <a:rPr lang="en-US" sz="1600">
                <a:solidFill>
                  <a:schemeClr val="dk1"/>
                </a:solidFill>
              </a:rPr>
              <a:t> (núcleos de CPU disponíveis).</a:t>
            </a:r>
            <a:br>
              <a:rPr lang="en-US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</a:rPr>
              <a:t>Responde com </a:t>
            </a:r>
            <a:r>
              <a:rPr b="1" lang="en-US" sz="1600">
                <a:solidFill>
                  <a:schemeClr val="dk1"/>
                </a:solidFill>
              </a:rPr>
              <a:t>200 OK</a:t>
            </a:r>
            <a:r>
              <a:rPr lang="en-US" sz="1600">
                <a:solidFill>
                  <a:schemeClr val="dk1"/>
                </a:solidFill>
              </a:rPr>
              <a:t> e a mensagem </a:t>
            </a:r>
            <a:r>
              <a:rPr lang="en-US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"API está online"</a:t>
            </a:r>
            <a:r>
              <a:rPr lang="en-US" sz="1600">
                <a:solidFill>
                  <a:schemeClr val="dk1"/>
                </a:solidFill>
              </a:rPr>
              <a:t>.</a:t>
            </a: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27"/>
          <p:cNvSpPr/>
          <p:nvPr/>
        </p:nvSpPr>
        <p:spPr>
          <a:xfrm>
            <a:off x="855377" y="451185"/>
            <a:ext cx="5271900" cy="65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76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5"/>
              <a:buFont typeface="Arial"/>
              <a:buNone/>
            </a:pPr>
            <a:r>
              <a:rPr b="1" i="0" lang="en-US" sz="4125" u="none" cap="none" strike="noStrike">
                <a:solidFill>
                  <a:srgbClr val="E30613"/>
                </a:solidFill>
                <a:latin typeface="PT Sans"/>
                <a:ea typeface="PT Sans"/>
                <a:cs typeface="PT Sans"/>
                <a:sym typeface="PT Sans"/>
              </a:rPr>
              <a:t>PedidoController.java</a:t>
            </a:r>
            <a:endParaRPr b="0" i="0" sz="4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30" name="Google Shape;530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516350" y="285750"/>
            <a:ext cx="1485900" cy="316855"/>
          </a:xfrm>
          <a:prstGeom prst="rect">
            <a:avLst/>
          </a:prstGeom>
          <a:noFill/>
          <a:ln>
            <a:noFill/>
          </a:ln>
        </p:spPr>
      </p:pic>
      <p:sp>
        <p:nvSpPr>
          <p:cNvPr id="531" name="Google Shape;531;p27"/>
          <p:cNvSpPr txBox="1"/>
          <p:nvPr/>
        </p:nvSpPr>
        <p:spPr>
          <a:xfrm>
            <a:off x="233275" y="1702850"/>
            <a:ext cx="6073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Método </a:t>
            </a:r>
            <a:r>
              <a:rPr lang="en-US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criar(@Valid @RequestBody PedidoRequest request)</a:t>
            </a:r>
            <a:endParaRPr sz="1700"/>
          </a:p>
        </p:txBody>
      </p:sp>
      <p:sp>
        <p:nvSpPr>
          <p:cNvPr id="532" name="Google Shape;532;p27"/>
          <p:cNvSpPr txBox="1"/>
          <p:nvPr/>
        </p:nvSpPr>
        <p:spPr>
          <a:xfrm>
            <a:off x="233275" y="2262675"/>
            <a:ext cx="8079900" cy="129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1"/>
                </a:solidFill>
              </a:rPr>
              <a:t>Entrada e validação</a:t>
            </a:r>
            <a:endParaRPr b="1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@PostMapping</a:t>
            </a:r>
            <a:r>
              <a:rPr lang="en-US">
                <a:solidFill>
                  <a:schemeClr val="dk1"/>
                </a:solidFill>
              </a:rPr>
              <a:t> → mapeia </a:t>
            </a:r>
            <a:r>
              <a:rPr b="1" lang="en-US">
                <a:solidFill>
                  <a:schemeClr val="dk1"/>
                </a:solidFill>
              </a:rPr>
              <a:t>POST /api/pedidos</a:t>
            </a:r>
            <a:r>
              <a:rPr lang="en-US">
                <a:solidFill>
                  <a:schemeClr val="dk1"/>
                </a:solidFill>
              </a:rPr>
              <a:t>.</a:t>
            </a:r>
            <a:br>
              <a:rPr lang="en-US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@Valid @RequestBody PedidoRequest</a:t>
            </a:r>
            <a:r>
              <a:rPr lang="en-US">
                <a:solidFill>
                  <a:schemeClr val="dk1"/>
                </a:solidFill>
              </a:rPr>
              <a:t> → lê o JSON e valida (Bean Validation).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533" name="Google Shape;533;p27"/>
          <p:cNvSpPr txBox="1"/>
          <p:nvPr/>
        </p:nvSpPr>
        <p:spPr>
          <a:xfrm>
            <a:off x="233275" y="4268750"/>
            <a:ext cx="4464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/>
              <a:t>Carregar entidades referenciadas</a:t>
            </a:r>
            <a:endParaRPr b="1" sz="1600"/>
          </a:p>
        </p:txBody>
      </p:sp>
      <p:pic>
        <p:nvPicPr>
          <p:cNvPr id="534" name="Google Shape;534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4852250"/>
            <a:ext cx="10345600" cy="1749850"/>
          </a:xfrm>
          <a:prstGeom prst="rect">
            <a:avLst/>
          </a:prstGeom>
          <a:noFill/>
          <a:ln>
            <a:noFill/>
          </a:ln>
        </p:spPr>
      </p:pic>
      <p:sp>
        <p:nvSpPr>
          <p:cNvPr id="535" name="Google Shape;535;p27"/>
          <p:cNvSpPr txBox="1"/>
          <p:nvPr/>
        </p:nvSpPr>
        <p:spPr>
          <a:xfrm>
            <a:off x="233275" y="7220250"/>
            <a:ext cx="67179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chemeClr val="dk1"/>
                </a:solidFill>
              </a:rPr>
              <a:t>Busca </a:t>
            </a:r>
            <a:r>
              <a:rPr b="1" lang="en-US" sz="1600">
                <a:solidFill>
                  <a:schemeClr val="dk1"/>
                </a:solidFill>
              </a:rPr>
              <a:t>Cliente</a:t>
            </a:r>
            <a:r>
              <a:rPr lang="en-US" sz="1600">
                <a:solidFill>
                  <a:schemeClr val="dk1"/>
                </a:solidFill>
              </a:rPr>
              <a:t> e </a:t>
            </a:r>
            <a:r>
              <a:rPr b="1" lang="en-US" sz="1600">
                <a:solidFill>
                  <a:schemeClr val="dk1"/>
                </a:solidFill>
              </a:rPr>
              <a:t>Restaurante</a:t>
            </a:r>
            <a:r>
              <a:rPr lang="en-US" sz="1600">
                <a:solidFill>
                  <a:schemeClr val="dk1"/>
                </a:solidFill>
              </a:rPr>
              <a:t> pelos IDs do request.</a:t>
            </a:r>
            <a:br>
              <a:rPr lang="en-US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chemeClr val="dk1"/>
                </a:solidFill>
              </a:rPr>
              <a:t>Se não achar, lança </a:t>
            </a:r>
            <a:r>
              <a:rPr lang="en-US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RuntimeException</a:t>
            </a:r>
            <a:r>
              <a:rPr lang="en-US" sz="1600">
                <a:solidFill>
                  <a:schemeClr val="dk1"/>
                </a:solidFill>
              </a:rPr>
              <a:t> com mensagem específica.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g3641e1e0e50_0_297"/>
          <p:cNvSpPr/>
          <p:nvPr/>
        </p:nvSpPr>
        <p:spPr>
          <a:xfrm>
            <a:off x="855377" y="451185"/>
            <a:ext cx="5271900" cy="65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76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5"/>
              <a:buFont typeface="Arial"/>
              <a:buNone/>
            </a:pPr>
            <a:r>
              <a:rPr b="1" i="0" lang="en-US" sz="4125" u="none" cap="none" strike="noStrike">
                <a:solidFill>
                  <a:srgbClr val="E30613"/>
                </a:solidFill>
                <a:latin typeface="PT Sans"/>
                <a:ea typeface="PT Sans"/>
                <a:cs typeface="PT Sans"/>
                <a:sym typeface="PT Sans"/>
              </a:rPr>
              <a:t>PedidoController.java</a:t>
            </a:r>
            <a:endParaRPr b="0" i="0" sz="4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42" name="Google Shape;542;g3641e1e0e50_0_29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516350" y="285750"/>
            <a:ext cx="1485900" cy="316855"/>
          </a:xfrm>
          <a:prstGeom prst="rect">
            <a:avLst/>
          </a:prstGeom>
          <a:noFill/>
          <a:ln>
            <a:noFill/>
          </a:ln>
        </p:spPr>
      </p:pic>
      <p:sp>
        <p:nvSpPr>
          <p:cNvPr id="543" name="Google Shape;543;g3641e1e0e50_0_297"/>
          <p:cNvSpPr txBox="1"/>
          <p:nvPr/>
        </p:nvSpPr>
        <p:spPr>
          <a:xfrm>
            <a:off x="291575" y="1877775"/>
            <a:ext cx="30000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/>
              <a:t>Montar itens do pedido</a:t>
            </a:r>
            <a:endParaRPr b="1" sz="1700"/>
          </a:p>
        </p:txBody>
      </p:sp>
      <p:pic>
        <p:nvPicPr>
          <p:cNvPr id="544" name="Google Shape;544;g3641e1e0e50_0_29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2476575"/>
            <a:ext cx="8114075" cy="2945950"/>
          </a:xfrm>
          <a:prstGeom prst="rect">
            <a:avLst/>
          </a:prstGeom>
          <a:noFill/>
          <a:ln>
            <a:noFill/>
          </a:ln>
        </p:spPr>
      </p:pic>
      <p:sp>
        <p:nvSpPr>
          <p:cNvPr id="545" name="Google Shape;545;g3641e1e0e50_0_297"/>
          <p:cNvSpPr txBox="1"/>
          <p:nvPr/>
        </p:nvSpPr>
        <p:spPr>
          <a:xfrm>
            <a:off x="291575" y="5959925"/>
            <a:ext cx="7426800" cy="13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</a:rPr>
              <a:t>Para cada item do request: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US" sz="1500">
                <a:solidFill>
                  <a:schemeClr val="dk1"/>
                </a:solidFill>
              </a:rPr>
              <a:t>Busca o </a:t>
            </a:r>
            <a:r>
              <a:rPr b="1" lang="en-US" sz="1500">
                <a:solidFill>
                  <a:schemeClr val="dk1"/>
                </a:solidFill>
              </a:rPr>
              <a:t>Produto</a:t>
            </a:r>
            <a:r>
              <a:rPr lang="en-US" sz="1500">
                <a:solidFill>
                  <a:schemeClr val="dk1"/>
                </a:solidFill>
              </a:rPr>
              <a:t> pelo </a:t>
            </a:r>
            <a:r>
              <a:rPr lang="en-US" sz="15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produtoId</a:t>
            </a:r>
            <a:r>
              <a:rPr lang="en-US" sz="1500">
                <a:solidFill>
                  <a:schemeClr val="dk1"/>
                </a:solidFill>
              </a:rPr>
              <a:t>.</a:t>
            </a:r>
            <a:br>
              <a:rPr lang="en-US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US" sz="1500">
                <a:solidFill>
                  <a:schemeClr val="dk1"/>
                </a:solidFill>
              </a:rPr>
              <a:t>Cria </a:t>
            </a:r>
            <a:r>
              <a:rPr lang="en-US" sz="15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ItemPedido</a:t>
            </a:r>
            <a:r>
              <a:rPr lang="en-US" sz="1500">
                <a:solidFill>
                  <a:schemeClr val="dk1"/>
                </a:solidFill>
              </a:rPr>
              <a:t> com </a:t>
            </a:r>
            <a:r>
              <a:rPr b="1" lang="en-US" sz="1500">
                <a:solidFill>
                  <a:schemeClr val="dk1"/>
                </a:solidFill>
              </a:rPr>
              <a:t>quantidade</a:t>
            </a:r>
            <a:r>
              <a:rPr lang="en-US" sz="1500">
                <a:solidFill>
                  <a:schemeClr val="dk1"/>
                </a:solidFill>
              </a:rPr>
              <a:t> e </a:t>
            </a:r>
            <a:r>
              <a:rPr b="1" lang="en-US" sz="1500">
                <a:solidFill>
                  <a:schemeClr val="dk1"/>
                </a:solidFill>
              </a:rPr>
              <a:t>preçoUnitário = preço do produto</a:t>
            </a:r>
            <a:r>
              <a:rPr lang="en-US" sz="1500">
                <a:solidFill>
                  <a:schemeClr val="dk1"/>
                </a:solidFill>
              </a:rPr>
              <a:t>.</a:t>
            </a:r>
            <a:endParaRPr sz="15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g3641e1e0e50_0_291"/>
          <p:cNvSpPr/>
          <p:nvPr/>
        </p:nvSpPr>
        <p:spPr>
          <a:xfrm>
            <a:off x="855377" y="451185"/>
            <a:ext cx="5271900" cy="65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76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5"/>
              <a:buFont typeface="Arial"/>
              <a:buNone/>
            </a:pPr>
            <a:r>
              <a:rPr b="1" i="0" lang="en-US" sz="4125" u="none" cap="none" strike="noStrike">
                <a:solidFill>
                  <a:srgbClr val="E30613"/>
                </a:solidFill>
                <a:latin typeface="PT Sans"/>
                <a:ea typeface="PT Sans"/>
                <a:cs typeface="PT Sans"/>
                <a:sym typeface="PT Sans"/>
              </a:rPr>
              <a:t>PedidoController.java</a:t>
            </a:r>
            <a:endParaRPr b="0" i="0" sz="4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52" name="Google Shape;552;g3641e1e0e50_0_29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516350" y="285750"/>
            <a:ext cx="1485900" cy="316855"/>
          </a:xfrm>
          <a:prstGeom prst="rect">
            <a:avLst/>
          </a:prstGeom>
          <a:noFill/>
          <a:ln>
            <a:noFill/>
          </a:ln>
        </p:spPr>
      </p:pic>
      <p:sp>
        <p:nvSpPr>
          <p:cNvPr id="553" name="Google Shape;553;g3641e1e0e50_0_291"/>
          <p:cNvSpPr txBox="1"/>
          <p:nvPr/>
        </p:nvSpPr>
        <p:spPr>
          <a:xfrm>
            <a:off x="279900" y="1877775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/>
              <a:t>Calcular o total</a:t>
            </a:r>
            <a:endParaRPr b="1" sz="1800"/>
          </a:p>
        </p:txBody>
      </p:sp>
      <p:pic>
        <p:nvPicPr>
          <p:cNvPr id="554" name="Google Shape;554;g3641e1e0e50_0_29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2491875"/>
            <a:ext cx="11601800" cy="1532625"/>
          </a:xfrm>
          <a:prstGeom prst="rect">
            <a:avLst/>
          </a:prstGeom>
          <a:noFill/>
          <a:ln>
            <a:noFill/>
          </a:ln>
        </p:spPr>
      </p:pic>
      <p:sp>
        <p:nvSpPr>
          <p:cNvPr id="555" name="Google Shape;555;g3641e1e0e50_0_291"/>
          <p:cNvSpPr txBox="1"/>
          <p:nvPr/>
        </p:nvSpPr>
        <p:spPr>
          <a:xfrm>
            <a:off x="279900" y="4443700"/>
            <a:ext cx="75435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</a:rPr>
              <a:t>Soma </a:t>
            </a:r>
            <a:r>
              <a:rPr lang="en-US" sz="15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preçoUnitário × quantidade</a:t>
            </a:r>
            <a:r>
              <a:rPr lang="en-US" sz="1500">
                <a:solidFill>
                  <a:schemeClr val="dk1"/>
                </a:solidFill>
              </a:rPr>
              <a:t> de cada item → </a:t>
            </a:r>
            <a:r>
              <a:rPr b="1" lang="en-US" sz="15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BigDecimal total</a:t>
            </a:r>
            <a:r>
              <a:rPr lang="en-US" sz="1500">
                <a:solidFill>
                  <a:schemeClr val="dk1"/>
                </a:solidFill>
              </a:rPr>
              <a:t>.</a:t>
            </a:r>
            <a:endParaRPr sz="1800"/>
          </a:p>
        </p:txBody>
      </p:sp>
      <p:sp>
        <p:nvSpPr>
          <p:cNvPr id="556" name="Google Shape;556;g3641e1e0e50_0_291"/>
          <p:cNvSpPr txBox="1"/>
          <p:nvPr/>
        </p:nvSpPr>
        <p:spPr>
          <a:xfrm>
            <a:off x="279900" y="5073500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/>
              <a:t>Construir o Pedido</a:t>
            </a:r>
            <a:endParaRPr b="1" sz="1800"/>
          </a:p>
        </p:txBody>
      </p:sp>
      <p:pic>
        <p:nvPicPr>
          <p:cNvPr id="557" name="Google Shape;557;g3641e1e0e50_0_29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2400" y="5687600"/>
            <a:ext cx="6446225" cy="2521925"/>
          </a:xfrm>
          <a:prstGeom prst="rect">
            <a:avLst/>
          </a:prstGeom>
          <a:noFill/>
          <a:ln>
            <a:noFill/>
          </a:ln>
        </p:spPr>
      </p:pic>
      <p:sp>
        <p:nvSpPr>
          <p:cNvPr id="558" name="Google Shape;558;g3641e1e0e50_0_291"/>
          <p:cNvSpPr txBox="1"/>
          <p:nvPr/>
        </p:nvSpPr>
        <p:spPr>
          <a:xfrm>
            <a:off x="279900" y="8537500"/>
            <a:ext cx="72867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</a:rPr>
              <a:t>C</a:t>
            </a:r>
            <a:r>
              <a:rPr lang="en-US" sz="1600">
                <a:solidFill>
                  <a:schemeClr val="dk1"/>
                </a:solidFill>
              </a:rPr>
              <a:t>ria a entidade </a:t>
            </a:r>
            <a:r>
              <a:rPr lang="en-US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Pedido</a:t>
            </a:r>
            <a:r>
              <a:rPr lang="en-US" sz="1600">
                <a:solidFill>
                  <a:schemeClr val="dk1"/>
                </a:solidFill>
              </a:rPr>
              <a:t> com </a:t>
            </a:r>
            <a:r>
              <a:rPr b="1" lang="en-US" sz="1600">
                <a:solidFill>
                  <a:schemeClr val="dk1"/>
                </a:solidFill>
              </a:rPr>
              <a:t>cliente, restaurante, status inicial </a:t>
            </a:r>
            <a:r>
              <a:rPr b="1" lang="en-US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CRIADO</a:t>
            </a:r>
            <a:r>
              <a:rPr b="1" lang="en-US" sz="1600">
                <a:solidFill>
                  <a:schemeClr val="dk1"/>
                </a:solidFill>
              </a:rPr>
              <a:t>, total, endereço e itens</a:t>
            </a:r>
            <a:r>
              <a:rPr lang="en-US" sz="1600">
                <a:solidFill>
                  <a:schemeClr val="dk1"/>
                </a:solidFill>
              </a:rPr>
              <a:t>.</a:t>
            </a:r>
            <a:endParaRPr sz="190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g3641e1e0e50_0_285"/>
          <p:cNvSpPr/>
          <p:nvPr/>
        </p:nvSpPr>
        <p:spPr>
          <a:xfrm>
            <a:off x="855377" y="451185"/>
            <a:ext cx="5271900" cy="65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76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5"/>
              <a:buFont typeface="Arial"/>
              <a:buNone/>
            </a:pPr>
            <a:r>
              <a:rPr b="1" i="0" lang="en-US" sz="4125" u="none" cap="none" strike="noStrike">
                <a:solidFill>
                  <a:srgbClr val="E30613"/>
                </a:solidFill>
                <a:latin typeface="PT Sans"/>
                <a:ea typeface="PT Sans"/>
                <a:cs typeface="PT Sans"/>
                <a:sym typeface="PT Sans"/>
              </a:rPr>
              <a:t>PedidoController.java</a:t>
            </a:r>
            <a:endParaRPr b="0" i="0" sz="4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65" name="Google Shape;565;g3641e1e0e50_0_28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516350" y="285750"/>
            <a:ext cx="1485900" cy="316855"/>
          </a:xfrm>
          <a:prstGeom prst="rect">
            <a:avLst/>
          </a:prstGeom>
          <a:noFill/>
          <a:ln>
            <a:noFill/>
          </a:ln>
        </p:spPr>
      </p:pic>
      <p:sp>
        <p:nvSpPr>
          <p:cNvPr id="566" name="Google Shape;566;g3641e1e0e50_0_285"/>
          <p:cNvSpPr txBox="1"/>
          <p:nvPr/>
        </p:nvSpPr>
        <p:spPr>
          <a:xfrm>
            <a:off x="221600" y="1527875"/>
            <a:ext cx="4545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/>
              <a:t>Persistir e obter entidade salva</a:t>
            </a:r>
            <a:endParaRPr b="1" sz="1800"/>
          </a:p>
        </p:txBody>
      </p:sp>
      <p:pic>
        <p:nvPicPr>
          <p:cNvPr id="567" name="Google Shape;567;g3641e1e0e50_0_28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2141975"/>
            <a:ext cx="6836025" cy="774525"/>
          </a:xfrm>
          <a:prstGeom prst="rect">
            <a:avLst/>
          </a:prstGeom>
          <a:noFill/>
          <a:ln>
            <a:noFill/>
          </a:ln>
        </p:spPr>
      </p:pic>
      <p:sp>
        <p:nvSpPr>
          <p:cNvPr id="568" name="Google Shape;568;g3641e1e0e50_0_285"/>
          <p:cNvSpPr txBox="1"/>
          <p:nvPr/>
        </p:nvSpPr>
        <p:spPr>
          <a:xfrm>
            <a:off x="93325" y="3167400"/>
            <a:ext cx="5724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</a:rPr>
              <a:t>Chama o </a:t>
            </a:r>
            <a:r>
              <a:rPr b="1" lang="en-US" sz="1500">
                <a:solidFill>
                  <a:schemeClr val="dk1"/>
                </a:solidFill>
              </a:rPr>
              <a:t>service</a:t>
            </a:r>
            <a:r>
              <a:rPr lang="en-US" sz="1500">
                <a:solidFill>
                  <a:schemeClr val="dk1"/>
                </a:solidFill>
              </a:rPr>
              <a:t> para salvar o pedido no banco.</a:t>
            </a:r>
            <a:endParaRPr sz="1800"/>
          </a:p>
        </p:txBody>
      </p:sp>
      <p:sp>
        <p:nvSpPr>
          <p:cNvPr id="569" name="Google Shape;569;g3641e1e0e50_0_285"/>
          <p:cNvSpPr txBox="1"/>
          <p:nvPr/>
        </p:nvSpPr>
        <p:spPr>
          <a:xfrm>
            <a:off x="221600" y="4035475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/>
              <a:t>Montar itens de resposta</a:t>
            </a:r>
            <a:endParaRPr b="1" sz="1800"/>
          </a:p>
        </p:txBody>
      </p:sp>
      <p:pic>
        <p:nvPicPr>
          <p:cNvPr id="570" name="Google Shape;570;g3641e1e0e50_0_28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21600" y="4760724"/>
            <a:ext cx="7683325" cy="2291525"/>
          </a:xfrm>
          <a:prstGeom prst="rect">
            <a:avLst/>
          </a:prstGeom>
          <a:noFill/>
          <a:ln>
            <a:noFill/>
          </a:ln>
        </p:spPr>
      </p:pic>
      <p:sp>
        <p:nvSpPr>
          <p:cNvPr id="571" name="Google Shape;571;g3641e1e0e50_0_285"/>
          <p:cNvSpPr txBox="1"/>
          <p:nvPr/>
        </p:nvSpPr>
        <p:spPr>
          <a:xfrm>
            <a:off x="221600" y="7422675"/>
            <a:ext cx="7158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Converte cada </a:t>
            </a:r>
            <a:r>
              <a:rPr lang="en-US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ItemPedido</a:t>
            </a:r>
            <a:r>
              <a:rPr lang="en-US">
                <a:solidFill>
                  <a:schemeClr val="dk1"/>
                </a:solidFill>
              </a:rPr>
              <a:t> salvo para </a:t>
            </a:r>
            <a:r>
              <a:rPr b="1" lang="en-US">
                <a:solidFill>
                  <a:schemeClr val="dk1"/>
                </a:solidFill>
              </a:rPr>
              <a:t>DTO de saída</a:t>
            </a:r>
            <a:r>
              <a:rPr lang="en-US">
                <a:solidFill>
                  <a:schemeClr val="dk1"/>
                </a:solidFill>
              </a:rPr>
              <a:t> com dados do produto e valores.</a:t>
            </a:r>
            <a:endParaRPr sz="170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6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g3641e1e0e50_0_266"/>
          <p:cNvSpPr/>
          <p:nvPr/>
        </p:nvSpPr>
        <p:spPr>
          <a:xfrm>
            <a:off x="540452" y="285760"/>
            <a:ext cx="5271900" cy="65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76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25"/>
              <a:buFont typeface="Arial"/>
              <a:buNone/>
            </a:pPr>
            <a:r>
              <a:rPr b="1" i="0" lang="en-US" sz="4125" u="none" cap="none" strike="noStrike">
                <a:solidFill>
                  <a:srgbClr val="E30613"/>
                </a:solidFill>
                <a:latin typeface="PT Sans"/>
                <a:ea typeface="PT Sans"/>
                <a:cs typeface="PT Sans"/>
                <a:sym typeface="PT Sans"/>
              </a:rPr>
              <a:t>PedidoController.java</a:t>
            </a:r>
            <a:endParaRPr b="0" i="0" sz="4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78" name="Google Shape;578;g3641e1e0e50_0_26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516350" y="285750"/>
            <a:ext cx="1485900" cy="316855"/>
          </a:xfrm>
          <a:prstGeom prst="rect">
            <a:avLst/>
          </a:prstGeom>
          <a:noFill/>
          <a:ln>
            <a:noFill/>
          </a:ln>
        </p:spPr>
      </p:pic>
      <p:sp>
        <p:nvSpPr>
          <p:cNvPr id="579" name="Google Shape;579;g3641e1e0e50_0_266"/>
          <p:cNvSpPr txBox="1"/>
          <p:nvPr/>
        </p:nvSpPr>
        <p:spPr>
          <a:xfrm>
            <a:off x="431550" y="1516225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/>
              <a:t>Responder ao cliente</a:t>
            </a:r>
            <a:endParaRPr b="1" sz="1800"/>
          </a:p>
        </p:txBody>
      </p:sp>
      <p:pic>
        <p:nvPicPr>
          <p:cNvPr id="580" name="Google Shape;580;g3641e1e0e50_0_26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4075" y="2098730"/>
            <a:ext cx="7181025" cy="4054050"/>
          </a:xfrm>
          <a:prstGeom prst="rect">
            <a:avLst/>
          </a:prstGeom>
          <a:noFill/>
          <a:ln>
            <a:noFill/>
          </a:ln>
        </p:spPr>
      </p:pic>
      <p:sp>
        <p:nvSpPr>
          <p:cNvPr id="581" name="Google Shape;581;g3641e1e0e50_0_266"/>
          <p:cNvSpPr txBox="1"/>
          <p:nvPr/>
        </p:nvSpPr>
        <p:spPr>
          <a:xfrm>
            <a:off x="164075" y="6519750"/>
            <a:ext cx="7823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</a:rPr>
              <a:t>Retorna </a:t>
            </a:r>
            <a:r>
              <a:rPr b="1" lang="en-US" sz="1600">
                <a:solidFill>
                  <a:schemeClr val="dk1"/>
                </a:solidFill>
              </a:rPr>
              <a:t>200 OK</a:t>
            </a:r>
            <a:r>
              <a:rPr lang="en-US" sz="1600">
                <a:solidFill>
                  <a:schemeClr val="dk1"/>
                </a:solidFill>
              </a:rPr>
              <a:t> com </a:t>
            </a:r>
            <a:r>
              <a:rPr lang="en-US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PedidoResponse</a:t>
            </a:r>
            <a:r>
              <a:rPr lang="en-US" sz="1600">
                <a:solidFill>
                  <a:schemeClr val="dk1"/>
                </a:solidFill>
              </a:rPr>
              <a:t> (IDs, endereço, total, status, data e itens).</a:t>
            </a:r>
            <a:endParaRPr sz="1900"/>
          </a:p>
        </p:txBody>
      </p:sp>
      <p:sp>
        <p:nvSpPr>
          <p:cNvPr id="582" name="Google Shape;582;g3641e1e0e50_0_266"/>
          <p:cNvSpPr txBox="1"/>
          <p:nvPr/>
        </p:nvSpPr>
        <p:spPr>
          <a:xfrm>
            <a:off x="653150" y="7744400"/>
            <a:ext cx="143547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O sistema r</a:t>
            </a:r>
            <a:r>
              <a:rPr lang="en-US" sz="1800">
                <a:solidFill>
                  <a:schemeClr val="dk1"/>
                </a:solidFill>
              </a:rPr>
              <a:t>ecebe o </a:t>
            </a:r>
            <a:r>
              <a:rPr lang="en-US" sz="18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PedidoRequest</a:t>
            </a:r>
            <a:r>
              <a:rPr lang="en-US" sz="1800">
                <a:solidFill>
                  <a:schemeClr val="dk1"/>
                </a:solidFill>
              </a:rPr>
              <a:t>, carrega cliente/restaurante, </a:t>
            </a:r>
            <a:r>
              <a:rPr b="1" lang="en-US" sz="1800">
                <a:solidFill>
                  <a:schemeClr val="dk1"/>
                </a:solidFill>
              </a:rPr>
              <a:t>mapeia itens</a:t>
            </a:r>
            <a:r>
              <a:rPr lang="en-US" sz="1800">
                <a:solidFill>
                  <a:schemeClr val="dk1"/>
                </a:solidFill>
              </a:rPr>
              <a:t> a partir dos produtos, </a:t>
            </a:r>
            <a:r>
              <a:rPr b="1" lang="en-US" sz="1800">
                <a:solidFill>
                  <a:schemeClr val="dk1"/>
                </a:solidFill>
              </a:rPr>
              <a:t>calcula o total</a:t>
            </a:r>
            <a:r>
              <a:rPr lang="en-US" sz="1800">
                <a:solidFill>
                  <a:schemeClr val="dk1"/>
                </a:solidFill>
              </a:rPr>
              <a:t>, </a:t>
            </a:r>
            <a:r>
              <a:rPr b="1" lang="en-US" sz="1800">
                <a:solidFill>
                  <a:schemeClr val="dk1"/>
                </a:solidFill>
              </a:rPr>
              <a:t>cria</a:t>
            </a:r>
            <a:r>
              <a:rPr lang="en-US" sz="1800">
                <a:solidFill>
                  <a:schemeClr val="dk1"/>
                </a:solidFill>
              </a:rPr>
              <a:t> o </a:t>
            </a:r>
            <a:r>
              <a:rPr lang="en-US" sz="18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Pedido</a:t>
            </a:r>
            <a:r>
              <a:rPr lang="en-US" sz="1800">
                <a:solidFill>
                  <a:schemeClr val="dk1"/>
                </a:solidFill>
              </a:rPr>
              <a:t>, </a:t>
            </a:r>
            <a:r>
              <a:rPr b="1" lang="en-US" sz="1800">
                <a:solidFill>
                  <a:schemeClr val="dk1"/>
                </a:solidFill>
              </a:rPr>
              <a:t>salva</a:t>
            </a:r>
            <a:r>
              <a:rPr lang="en-US" sz="1800">
                <a:solidFill>
                  <a:schemeClr val="dk1"/>
                </a:solidFill>
              </a:rPr>
              <a:t> via service e </a:t>
            </a:r>
            <a:r>
              <a:rPr b="1" lang="en-US" sz="1800">
                <a:solidFill>
                  <a:schemeClr val="dk1"/>
                </a:solidFill>
              </a:rPr>
              <a:t>retorna</a:t>
            </a:r>
            <a:r>
              <a:rPr lang="en-US" sz="1800">
                <a:solidFill>
                  <a:schemeClr val="dk1"/>
                </a:solidFill>
              </a:rPr>
              <a:t> um </a:t>
            </a:r>
            <a:r>
              <a:rPr lang="en-US" sz="18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PedidoResponse</a:t>
            </a:r>
            <a:r>
              <a:rPr lang="en-US" sz="1800">
                <a:solidFill>
                  <a:schemeClr val="dk1"/>
                </a:solidFill>
              </a:rPr>
              <a:t> completo.</a:t>
            </a:r>
            <a:br>
              <a:rPr lang="en-US" sz="1800">
                <a:solidFill>
                  <a:schemeClr val="dk1"/>
                </a:solidFill>
              </a:rPr>
            </a:b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Qualquer referência inexistente (</a:t>
            </a:r>
            <a:r>
              <a:rPr b="1" lang="en-US" sz="1800">
                <a:solidFill>
                  <a:schemeClr val="dk1"/>
                </a:solidFill>
              </a:rPr>
              <a:t>cliente</a:t>
            </a:r>
            <a:r>
              <a:rPr lang="en-US" sz="1800">
                <a:solidFill>
                  <a:schemeClr val="dk1"/>
                </a:solidFill>
              </a:rPr>
              <a:t>, </a:t>
            </a:r>
            <a:r>
              <a:rPr b="1" lang="en-US" sz="1800">
                <a:solidFill>
                  <a:schemeClr val="dk1"/>
                </a:solidFill>
              </a:rPr>
              <a:t>restaurante</a:t>
            </a:r>
            <a:r>
              <a:rPr lang="en-US" sz="1800">
                <a:solidFill>
                  <a:schemeClr val="dk1"/>
                </a:solidFill>
              </a:rPr>
              <a:t> ou </a:t>
            </a:r>
            <a:r>
              <a:rPr b="1" lang="en-US" sz="1800">
                <a:solidFill>
                  <a:schemeClr val="dk1"/>
                </a:solidFill>
              </a:rPr>
              <a:t>produto</a:t>
            </a:r>
            <a:r>
              <a:rPr lang="en-US" sz="1800">
                <a:solidFill>
                  <a:schemeClr val="dk1"/>
                </a:solidFill>
              </a:rPr>
              <a:t>) resulta em </a:t>
            </a:r>
            <a:r>
              <a:rPr lang="en-US" sz="18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RuntimeException</a:t>
            </a:r>
            <a:r>
              <a:rPr lang="en-US" sz="1800">
                <a:solidFill>
                  <a:schemeClr val="dk1"/>
                </a:solidFill>
              </a:rPr>
              <a:t> aqui no controller.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87" name="Google Shape;587;p47"/>
          <p:cNvCxnSpPr/>
          <p:nvPr/>
        </p:nvCxnSpPr>
        <p:spPr>
          <a:xfrm>
            <a:off x="3001685" y="1057186"/>
            <a:ext cx="5237960" cy="0"/>
          </a:xfrm>
          <a:prstGeom prst="straightConnector1">
            <a:avLst/>
          </a:prstGeom>
          <a:noFill/>
          <a:ln cap="flat" cmpd="sng" w="38100">
            <a:solidFill>
              <a:srgbClr val="E3061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88" name="Google Shape;588;p47"/>
          <p:cNvSpPr txBox="1"/>
          <p:nvPr/>
        </p:nvSpPr>
        <p:spPr>
          <a:xfrm>
            <a:off x="3276600" y="348209"/>
            <a:ext cx="6280430" cy="7089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None/>
            </a:pPr>
            <a:r>
              <a:rPr b="1" i="0" lang="en-US" sz="5600" u="none" cap="none" strike="noStrike">
                <a:solidFill>
                  <a:srgbClr val="E30613"/>
                </a:solidFill>
                <a:latin typeface="Arial"/>
                <a:ea typeface="Arial"/>
                <a:cs typeface="Arial"/>
                <a:sym typeface="Arial"/>
              </a:rPr>
              <a:t>Nosso Break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89" name="Google Shape;589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10200" y="4118768"/>
            <a:ext cx="8745936" cy="5820023"/>
          </a:xfrm>
          <a:prstGeom prst="rect">
            <a:avLst/>
          </a:prstGeom>
          <a:noFill/>
          <a:ln>
            <a:noFill/>
          </a:ln>
        </p:spPr>
      </p:pic>
      <p:sp>
        <p:nvSpPr>
          <p:cNvPr id="590" name="Google Shape;590;p47"/>
          <p:cNvSpPr txBox="1"/>
          <p:nvPr/>
        </p:nvSpPr>
        <p:spPr>
          <a:xfrm>
            <a:off x="6390795" y="2933700"/>
            <a:ext cx="6758911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1" lang="en-US" sz="5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30</a:t>
            </a:r>
            <a:r>
              <a:rPr b="1" i="0" lang="en-US" sz="5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minutos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594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g38c4a3a18cb_2_0"/>
          <p:cNvSpPr txBox="1"/>
          <p:nvPr/>
        </p:nvSpPr>
        <p:spPr>
          <a:xfrm>
            <a:off x="4614000" y="3271700"/>
            <a:ext cx="9060000" cy="21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LINK PARA AS QUESTÕES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https://g.co/gemini/share/393c988ebca6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00" name="Google Shape;600;p48"/>
          <p:cNvCxnSpPr/>
          <p:nvPr/>
        </p:nvCxnSpPr>
        <p:spPr>
          <a:xfrm>
            <a:off x="3001685" y="1057186"/>
            <a:ext cx="5237960" cy="0"/>
          </a:xfrm>
          <a:prstGeom prst="straightConnector1">
            <a:avLst/>
          </a:prstGeom>
          <a:noFill/>
          <a:ln cap="flat" cmpd="sng" w="38100">
            <a:solidFill>
              <a:srgbClr val="E3061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01" name="Google Shape;601;p48"/>
          <p:cNvSpPr txBox="1"/>
          <p:nvPr/>
        </p:nvSpPr>
        <p:spPr>
          <a:xfrm>
            <a:off x="2480450" y="356449"/>
            <a:ext cx="6280430" cy="14014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None/>
            </a:pPr>
            <a:r>
              <a:rPr b="1" i="0" lang="en-US" sz="5600" u="none" cap="none" strike="noStrike">
                <a:solidFill>
                  <a:srgbClr val="E30613"/>
                </a:solidFill>
                <a:latin typeface="Arial"/>
                <a:ea typeface="Arial"/>
                <a:cs typeface="Arial"/>
                <a:sym typeface="Arial"/>
              </a:rPr>
              <a:t>Realizando a Prática</a:t>
            </a:r>
            <a:endParaRPr b="1" i="0" sz="5600" u="none" cap="none" strike="noStrike">
              <a:solidFill>
                <a:srgbClr val="E3061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2" name="Google Shape;602;p48"/>
          <p:cNvSpPr txBox="1"/>
          <p:nvPr/>
        </p:nvSpPr>
        <p:spPr>
          <a:xfrm>
            <a:off x="4401971" y="8768149"/>
            <a:ext cx="6758911" cy="17543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1" i="0" lang="en-US" sz="5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ALUNOS ACESSANDO O LAB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03" name="Google Shape;603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94537" y="1919926"/>
            <a:ext cx="8124366" cy="57509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607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08" name="Google Shape;608;p52"/>
          <p:cNvCxnSpPr/>
          <p:nvPr/>
        </p:nvCxnSpPr>
        <p:spPr>
          <a:xfrm>
            <a:off x="3001685" y="1057186"/>
            <a:ext cx="5237960" cy="0"/>
          </a:xfrm>
          <a:prstGeom prst="straightConnector1">
            <a:avLst/>
          </a:prstGeom>
          <a:noFill/>
          <a:ln cap="flat" cmpd="sng" w="38100">
            <a:solidFill>
              <a:srgbClr val="E3061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09" name="Google Shape;609;p52"/>
          <p:cNvSpPr txBox="1"/>
          <p:nvPr/>
        </p:nvSpPr>
        <p:spPr>
          <a:xfrm>
            <a:off x="3001686" y="348209"/>
            <a:ext cx="5237959" cy="7089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None/>
            </a:pPr>
            <a:r>
              <a:rPr b="1" i="0" lang="en-US" sz="5600" u="none" cap="none" strike="noStrike">
                <a:solidFill>
                  <a:srgbClr val="E30613"/>
                </a:solidFill>
                <a:latin typeface="Arial"/>
                <a:ea typeface="Arial"/>
                <a:cs typeface="Arial"/>
                <a:sym typeface="Arial"/>
              </a:rPr>
              <a:t>Fechamento</a:t>
            </a:r>
            <a:endParaRPr b="1" i="0" sz="5600" u="none" cap="none" strike="noStrike">
              <a:solidFill>
                <a:srgbClr val="E3061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10" name="Google Shape;610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19800" y="2371816"/>
            <a:ext cx="5714999" cy="68579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614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5" name="Google Shape;615;p53"/>
          <p:cNvGrpSpPr/>
          <p:nvPr/>
        </p:nvGrpSpPr>
        <p:grpSpPr>
          <a:xfrm>
            <a:off x="-168372" y="-196608"/>
            <a:ext cx="1197072" cy="10750131"/>
            <a:chOff x="0" y="-38100"/>
            <a:chExt cx="315278" cy="2831310"/>
          </a:xfrm>
        </p:grpSpPr>
        <p:sp>
          <p:nvSpPr>
            <p:cNvPr id="616" name="Google Shape;616;p53"/>
            <p:cNvSpPr/>
            <p:nvPr/>
          </p:nvSpPr>
          <p:spPr>
            <a:xfrm>
              <a:off x="0" y="0"/>
              <a:ext cx="315278" cy="2793210"/>
            </a:xfrm>
            <a:custGeom>
              <a:rect b="b" l="l" r="r" t="t"/>
              <a:pathLst>
                <a:path extrusionOk="0" h="2793210" w="315278">
                  <a:moveTo>
                    <a:pt x="0" y="0"/>
                  </a:moveTo>
                  <a:lnTo>
                    <a:pt x="315278" y="0"/>
                  </a:lnTo>
                  <a:lnTo>
                    <a:pt x="315278" y="2793210"/>
                  </a:lnTo>
                  <a:lnTo>
                    <a:pt x="0" y="2793210"/>
                  </a:lnTo>
                  <a:close/>
                </a:path>
              </a:pathLst>
            </a:custGeom>
            <a:solidFill>
              <a:srgbClr val="E3061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7" name="Google Shape;617;p53"/>
            <p:cNvSpPr txBox="1"/>
            <p:nvPr/>
          </p:nvSpPr>
          <p:spPr>
            <a:xfrm>
              <a:off x="0" y="-38100"/>
              <a:ext cx="315278" cy="28313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18" name="Google Shape;618;p53"/>
          <p:cNvSpPr/>
          <p:nvPr/>
        </p:nvSpPr>
        <p:spPr>
          <a:xfrm>
            <a:off x="1477632" y="5203547"/>
            <a:ext cx="4826991" cy="942235"/>
          </a:xfrm>
          <a:custGeom>
            <a:rect b="b" l="l" r="r" t="t"/>
            <a:pathLst>
              <a:path extrusionOk="0" h="942235" w="4826991">
                <a:moveTo>
                  <a:pt x="0" y="0"/>
                </a:moveTo>
                <a:lnTo>
                  <a:pt x="4826990" y="0"/>
                </a:lnTo>
                <a:lnTo>
                  <a:pt x="4826990" y="942235"/>
                </a:lnTo>
                <a:lnTo>
                  <a:pt x="0" y="94223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4628" l="0" r="0" t="-463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19" name="Google Shape;619;p53"/>
          <p:cNvGrpSpPr/>
          <p:nvPr/>
        </p:nvGrpSpPr>
        <p:grpSpPr>
          <a:xfrm>
            <a:off x="9634596" y="-468619"/>
            <a:ext cx="7739804" cy="11581916"/>
            <a:chOff x="0" y="-38100"/>
            <a:chExt cx="2038467" cy="3050381"/>
          </a:xfrm>
        </p:grpSpPr>
        <p:sp>
          <p:nvSpPr>
            <p:cNvPr id="620" name="Google Shape;620;p53"/>
            <p:cNvSpPr/>
            <p:nvPr/>
          </p:nvSpPr>
          <p:spPr>
            <a:xfrm>
              <a:off x="0" y="0"/>
              <a:ext cx="2038467" cy="3012281"/>
            </a:xfrm>
            <a:custGeom>
              <a:rect b="b" l="l" r="r" t="t"/>
              <a:pathLst>
                <a:path extrusionOk="0" h="3012281" w="2038467">
                  <a:moveTo>
                    <a:pt x="0" y="0"/>
                  </a:moveTo>
                  <a:lnTo>
                    <a:pt x="2038467" y="0"/>
                  </a:lnTo>
                  <a:lnTo>
                    <a:pt x="2038467" y="3012281"/>
                  </a:lnTo>
                  <a:lnTo>
                    <a:pt x="0" y="301228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1" name="Google Shape;621;p53"/>
            <p:cNvSpPr txBox="1"/>
            <p:nvPr/>
          </p:nvSpPr>
          <p:spPr>
            <a:xfrm>
              <a:off x="0" y="-38100"/>
              <a:ext cx="2038467" cy="305038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22" name="Google Shape;622;p53"/>
          <p:cNvSpPr/>
          <p:nvPr/>
        </p:nvSpPr>
        <p:spPr>
          <a:xfrm>
            <a:off x="15939655" y="7859362"/>
            <a:ext cx="1951489" cy="2427638"/>
          </a:xfrm>
          <a:custGeom>
            <a:rect b="b" l="l" r="r" t="t"/>
            <a:pathLst>
              <a:path extrusionOk="0" h="2427638" w="1951489">
                <a:moveTo>
                  <a:pt x="0" y="0"/>
                </a:moveTo>
                <a:lnTo>
                  <a:pt x="1951489" y="0"/>
                </a:lnTo>
                <a:lnTo>
                  <a:pt x="1951489" y="2427638"/>
                </a:lnTo>
                <a:lnTo>
                  <a:pt x="0" y="242763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3" name="Google Shape;623;p53"/>
          <p:cNvSpPr/>
          <p:nvPr/>
        </p:nvSpPr>
        <p:spPr>
          <a:xfrm>
            <a:off x="15325189" y="4137430"/>
            <a:ext cx="1605408" cy="2573800"/>
          </a:xfrm>
          <a:custGeom>
            <a:rect b="b" l="l" r="r" t="t"/>
            <a:pathLst>
              <a:path extrusionOk="0" h="2573800" w="1605408">
                <a:moveTo>
                  <a:pt x="0" y="0"/>
                </a:moveTo>
                <a:lnTo>
                  <a:pt x="1605409" y="0"/>
                </a:lnTo>
                <a:lnTo>
                  <a:pt x="1605409" y="2573800"/>
                </a:lnTo>
                <a:lnTo>
                  <a:pt x="0" y="2573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4" name="Google Shape;624;p53"/>
          <p:cNvSpPr/>
          <p:nvPr/>
        </p:nvSpPr>
        <p:spPr>
          <a:xfrm flipH="1">
            <a:off x="8846688" y="4137430"/>
            <a:ext cx="6180473" cy="6149570"/>
          </a:xfrm>
          <a:custGeom>
            <a:rect b="b" l="l" r="r" t="t"/>
            <a:pathLst>
              <a:path extrusionOk="0" h="6149570" w="6180473">
                <a:moveTo>
                  <a:pt x="6180473" y="0"/>
                </a:moveTo>
                <a:lnTo>
                  <a:pt x="0" y="0"/>
                </a:lnTo>
                <a:lnTo>
                  <a:pt x="0" y="6149570"/>
                </a:lnTo>
                <a:lnTo>
                  <a:pt x="6180473" y="6149570"/>
                </a:lnTo>
                <a:lnTo>
                  <a:pt x="6180473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5" name="Google Shape;625;p53"/>
          <p:cNvSpPr/>
          <p:nvPr/>
        </p:nvSpPr>
        <p:spPr>
          <a:xfrm flipH="1">
            <a:off x="12392588" y="4137430"/>
            <a:ext cx="4780387" cy="6149570"/>
          </a:xfrm>
          <a:custGeom>
            <a:rect b="b" l="l" r="r" t="t"/>
            <a:pathLst>
              <a:path extrusionOk="0" h="6149570" w="4780387">
                <a:moveTo>
                  <a:pt x="4780387" y="0"/>
                </a:moveTo>
                <a:lnTo>
                  <a:pt x="0" y="0"/>
                </a:lnTo>
                <a:lnTo>
                  <a:pt x="0" y="6149570"/>
                </a:lnTo>
                <a:lnTo>
                  <a:pt x="4780387" y="6149570"/>
                </a:lnTo>
                <a:lnTo>
                  <a:pt x="4780387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-15156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6" name="Google Shape;626;p53"/>
          <p:cNvSpPr/>
          <p:nvPr/>
        </p:nvSpPr>
        <p:spPr>
          <a:xfrm>
            <a:off x="10098577" y="9152435"/>
            <a:ext cx="2294011" cy="1134565"/>
          </a:xfrm>
          <a:custGeom>
            <a:rect b="b" l="l" r="r" t="t"/>
            <a:pathLst>
              <a:path extrusionOk="0" h="1134565" w="2294011">
                <a:moveTo>
                  <a:pt x="0" y="0"/>
                </a:moveTo>
                <a:lnTo>
                  <a:pt x="2294011" y="0"/>
                </a:lnTo>
                <a:lnTo>
                  <a:pt x="2294011" y="1134565"/>
                </a:lnTo>
                <a:lnTo>
                  <a:pt x="0" y="113456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7" name="Google Shape;627;p53"/>
          <p:cNvSpPr/>
          <p:nvPr/>
        </p:nvSpPr>
        <p:spPr>
          <a:xfrm rot="753594">
            <a:off x="14437890" y="1491650"/>
            <a:ext cx="1774599" cy="1744107"/>
          </a:xfrm>
          <a:custGeom>
            <a:rect b="b" l="l" r="r" t="t"/>
            <a:pathLst>
              <a:path extrusionOk="0" h="1744107" w="1774599">
                <a:moveTo>
                  <a:pt x="0" y="0"/>
                </a:moveTo>
                <a:lnTo>
                  <a:pt x="1774599" y="0"/>
                </a:lnTo>
                <a:lnTo>
                  <a:pt x="1774599" y="1744108"/>
                </a:lnTo>
                <a:lnTo>
                  <a:pt x="0" y="174410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8" name="Google Shape;628;p53"/>
          <p:cNvSpPr/>
          <p:nvPr/>
        </p:nvSpPr>
        <p:spPr>
          <a:xfrm>
            <a:off x="10584085" y="1028700"/>
            <a:ext cx="2079407" cy="2088274"/>
          </a:xfrm>
          <a:custGeom>
            <a:rect b="b" l="l" r="r" t="t"/>
            <a:pathLst>
              <a:path extrusionOk="0" h="2088274" w="2079407">
                <a:moveTo>
                  <a:pt x="0" y="0"/>
                </a:moveTo>
                <a:lnTo>
                  <a:pt x="2079406" y="0"/>
                </a:lnTo>
                <a:lnTo>
                  <a:pt x="2079406" y="2088274"/>
                </a:lnTo>
                <a:lnTo>
                  <a:pt x="0" y="208827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Bia e Ale</dc:creator>
</cp:coreProperties>
</file>