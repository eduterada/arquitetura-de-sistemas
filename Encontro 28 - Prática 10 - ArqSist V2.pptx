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fQVEB2omdE4QrIDsoouo0ZCsx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1734d8cc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a1734d8cc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c6bbb41b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7c6bbb41b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c6bbb41ba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7c6bbb41ba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c6bbb41ba_1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7c6bbb41ba_1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c6bbb41ba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7c6bbb41ba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c6bbb41ba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7c6bbb41ba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c6bbb41ba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7c6bbb41ba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c6bbb41ba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7c6bbb41ba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c6bbb41ba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7c6bbb41ba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c6bbb41ba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7c6bbb41ba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c6bbb41ba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37c6bbb41ba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c6bbb41ba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37c6bbb41ba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c6bbb41b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37c6bbb41b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c6bbb41ba_1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7c6bbb41ba_1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2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9" name="Google Shape;79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9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9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9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9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9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9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8" name="Google Shape;118;p9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9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6" name="Google Shape;126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9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0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4" name="Google Shape;154;p1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6" name="Google Shape;166;p1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72" name="Google Shape;172;p1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73" name="Google Shape;173;p1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1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0" name="Google Shape;180;p1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1" name="Google Shape;181;p1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2" name="Google Shape;182;p1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3" name="Google Shape;193;p1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4" name="Google Shape;194;p1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1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01" name="Google Shape;201;p1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4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1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1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1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1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17.png"/><Relationship Id="rId10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17.png"/><Relationship Id="rId10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221" name="Google Shape;221;p1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1"/>
          <p:cNvSpPr/>
          <p:nvPr/>
        </p:nvSpPr>
        <p:spPr>
          <a:xfrm>
            <a:off x="1446157" y="3116972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8" l="0" r="0" t="-4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1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225" name="Google Shape;225;p1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"/>
          <p:cNvSpPr txBox="1"/>
          <p:nvPr/>
        </p:nvSpPr>
        <p:spPr>
          <a:xfrm>
            <a:off x="1028696" y="4"/>
            <a:ext cx="81438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"/>
          <p:cNvSpPr txBox="1"/>
          <p:nvPr/>
        </p:nvSpPr>
        <p:spPr>
          <a:xfrm>
            <a:off x="1225547" y="2126147"/>
            <a:ext cx="7886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"/>
          <p:cNvSpPr txBox="1"/>
          <p:nvPr/>
        </p:nvSpPr>
        <p:spPr>
          <a:xfrm>
            <a:off x="1096906" y="4858529"/>
            <a:ext cx="8143800" cy="3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Arquitetura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4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4"/>
          <p:cNvSpPr txBox="1"/>
          <p:nvPr/>
        </p:nvSpPr>
        <p:spPr>
          <a:xfrm>
            <a:off x="3001685" y="190500"/>
            <a:ext cx="556260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Prática de Hoje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2667001" y="3437418"/>
            <a:ext cx="6759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Configuração do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088" y="2423476"/>
            <a:ext cx="6758911" cy="675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1734d8cc4_0_0"/>
          <p:cNvSpPr txBox="1"/>
          <p:nvPr/>
        </p:nvSpPr>
        <p:spPr>
          <a:xfrm>
            <a:off x="6362710" y="284000"/>
            <a:ext cx="55626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Prática de Hoje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a1734d8cc4_0_0"/>
          <p:cNvSpPr txBox="1"/>
          <p:nvPr/>
        </p:nvSpPr>
        <p:spPr>
          <a:xfrm>
            <a:off x="5764501" y="3327318"/>
            <a:ext cx="6759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Configurando o 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c6bbb41ba_0_0"/>
          <p:cNvSpPr txBox="1"/>
          <p:nvPr/>
        </p:nvSpPr>
        <p:spPr>
          <a:xfrm>
            <a:off x="0" y="0"/>
            <a:ext cx="13810500" cy="4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4500">
                <a:solidFill>
                  <a:schemeClr val="dk1"/>
                </a:solidFill>
              </a:rPr>
              <a:t>O Dockerfile</a:t>
            </a:r>
            <a:endParaRPr b="1"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O Dockerfile é o arquivo que define como a imagem da aplicação será construída. Ele contém instruções passo a passo para que o Docker crie uma imagem autocontida do nosso projeto Spring Boot.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O exemplo apresentado utiliza a técnica de </a:t>
            </a:r>
            <a:r>
              <a:rPr b="1" lang="en-US" sz="3000">
                <a:solidFill>
                  <a:schemeClr val="dk1"/>
                </a:solidFill>
              </a:rPr>
              <a:t>multi-stage build</a:t>
            </a:r>
            <a:r>
              <a:rPr lang="en-US" sz="3000">
                <a:solidFill>
                  <a:schemeClr val="dk1"/>
                </a:solidFill>
              </a:rPr>
              <a:t> (construção em múltiplos estágios), uma prática moderna que resulta em imagens mais leves, seguras e otimizadas para produção.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256" name="Google Shape;256;g37c6bbb41b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58500"/>
            <a:ext cx="9443999" cy="51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7c6bbb41b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0495" y="2266175"/>
            <a:ext cx="3768575" cy="3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c6bbb41ba_1_30"/>
          <p:cNvSpPr txBox="1"/>
          <p:nvPr/>
        </p:nvSpPr>
        <p:spPr>
          <a:xfrm>
            <a:off x="0" y="0"/>
            <a:ext cx="1093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4500">
                <a:solidFill>
                  <a:schemeClr val="dk1"/>
                </a:solidFill>
              </a:rPr>
              <a:t>O Dockerfile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263" name="Google Shape;263;g37c6bbb41ba_1_30"/>
          <p:cNvSpPr txBox="1"/>
          <p:nvPr/>
        </p:nvSpPr>
        <p:spPr>
          <a:xfrm>
            <a:off x="31450" y="880850"/>
            <a:ext cx="18288000" cy="9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Etapa de build (compilação do projeto)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Esta primeira parte do Dockerfile é responsável por compilar a aplicação.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FROM maven:3.9.6-eclipse-temurin-21 AS build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FROM</a:t>
            </a:r>
            <a:r>
              <a:rPr lang="en-US" sz="2000">
                <a:solidFill>
                  <a:schemeClr val="dk1"/>
                </a:solidFill>
              </a:rPr>
              <a:t>: toda imagem Docker começa a partir de uma imagem base.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maven:3.9.6-eclipse-temurin-21</a:t>
            </a:r>
            <a:r>
              <a:rPr lang="en-US" sz="2000">
                <a:solidFill>
                  <a:schemeClr val="dk1"/>
                </a:solidFill>
              </a:rPr>
              <a:t>: imagem oficial que já inclui Java 21 e Maven, evitando instalações manuais.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AS build</a:t>
            </a:r>
            <a:r>
              <a:rPr lang="en-US" sz="2000">
                <a:solidFill>
                  <a:schemeClr val="dk1"/>
                </a:solidFill>
              </a:rPr>
              <a:t>: dá o nome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build</a:t>
            </a:r>
            <a:r>
              <a:rPr lang="en-US" sz="2000">
                <a:solidFill>
                  <a:schemeClr val="dk1"/>
                </a:solidFill>
              </a:rPr>
              <a:t> a este estágio. Ele será usado na próxima etapa.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WORKDIR /app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Define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/app</a:t>
            </a:r>
            <a:r>
              <a:rPr lang="en-US" sz="2000">
                <a:solidFill>
                  <a:schemeClr val="dk1"/>
                </a:solidFill>
              </a:rPr>
              <a:t> como diretório de trabalho dentro da imagem.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COPY . .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Copia todo o código do projeto da sua máquina para o diretório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/app</a:t>
            </a:r>
            <a:r>
              <a:rPr lang="en-US" sz="2000">
                <a:solidFill>
                  <a:schemeClr val="dk1"/>
                </a:solidFill>
              </a:rPr>
              <a:t> na imagem.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RUN mvn clean package -DskipTests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RUN</a:t>
            </a:r>
            <a:r>
              <a:rPr lang="en-US" sz="2000">
                <a:solidFill>
                  <a:schemeClr val="dk1"/>
                </a:solidFill>
              </a:rPr>
              <a:t>: executa um comando.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mvn clean package</a:t>
            </a:r>
            <a:r>
              <a:rPr lang="en-US" sz="2000">
                <a:solidFill>
                  <a:schemeClr val="dk1"/>
                </a:solidFill>
              </a:rPr>
              <a:t>: compila o código, executa os testes (quando habilitados) e gera o arquivo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.jar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-DskipTests</a:t>
            </a:r>
            <a:r>
              <a:rPr lang="en-US" sz="2000">
                <a:solidFill>
                  <a:schemeClr val="dk1"/>
                </a:solidFill>
              </a:rPr>
              <a:t>: ignora os testes durante a compilação para acelerar a construção da imagem.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g37c6bbb41ba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8275" y="217200"/>
            <a:ext cx="5857924" cy="32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c6bbb41ba_1_27"/>
          <p:cNvSpPr txBox="1"/>
          <p:nvPr/>
        </p:nvSpPr>
        <p:spPr>
          <a:xfrm>
            <a:off x="0" y="0"/>
            <a:ext cx="12772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4500">
                <a:solidFill>
                  <a:schemeClr val="dk1"/>
                </a:solidFill>
              </a:rPr>
              <a:t>O Dockerfile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270" name="Google Shape;270;g37c6bbb41ba_1_27"/>
          <p:cNvSpPr txBox="1"/>
          <p:nvPr/>
        </p:nvSpPr>
        <p:spPr>
          <a:xfrm>
            <a:off x="15725" y="1053875"/>
            <a:ext cx="18288000" cy="9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Etapa de runtime (execução da aplicação)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Agora começa o segundo estágio, onde será criada a imagem final para rodar a aplicação.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FROM eclipse-temurin:21-jdk-alpine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Inicia uma nova imagem baseada em </a:t>
            </a:r>
            <a:r>
              <a:rPr b="1" lang="en-US" sz="2000">
                <a:solidFill>
                  <a:schemeClr val="dk1"/>
                </a:solidFill>
              </a:rPr>
              <a:t>Alpine</a:t>
            </a:r>
            <a:r>
              <a:rPr lang="en-US" sz="2000">
                <a:solidFill>
                  <a:schemeClr val="dk1"/>
                </a:solidFill>
              </a:rPr>
              <a:t>, bem mais leve.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Inclui apenas o Java 21 necessário para executar a aplicação, sem Maven ou ferramentas de build.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Este é o principal benefício do </a:t>
            </a:r>
            <a:r>
              <a:rPr b="1" lang="en-US" sz="2000">
                <a:solidFill>
                  <a:schemeClr val="dk1"/>
                </a:solidFill>
              </a:rPr>
              <a:t>multi-stage build</a:t>
            </a:r>
            <a:r>
              <a:rPr lang="en-US" sz="2000">
                <a:solidFill>
                  <a:schemeClr val="dk1"/>
                </a:solidFill>
              </a:rPr>
              <a:t>: a imagem final é menor e mais segura.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WORKDIR /app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Novamente define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/app</a:t>
            </a:r>
            <a:r>
              <a:rPr lang="en-US" sz="2000">
                <a:solidFill>
                  <a:schemeClr val="dk1"/>
                </a:solidFill>
              </a:rPr>
              <a:t> como diretório de trabalho.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accent3"/>
                </a:solidFill>
              </a:rPr>
              <a:t>COPY --from=build /app/target/delivery-api-1.0.0.jar app.jar</a:t>
            </a:r>
            <a:endParaRPr sz="20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COPY --from=build</a:t>
            </a:r>
            <a:r>
              <a:rPr lang="en-US" sz="2000">
                <a:solidFill>
                  <a:schemeClr val="dk1"/>
                </a:solidFill>
              </a:rPr>
              <a:t>: copia arquivos do estágio anterior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build</a:t>
            </a:r>
            <a:r>
              <a:rPr lang="en-US" sz="2000">
                <a:solidFill>
                  <a:schemeClr val="dk1"/>
                </a:solidFill>
              </a:rPr>
              <a:t>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/app/target/delivery-api-1.0.0.jar</a:t>
            </a:r>
            <a:r>
              <a:rPr lang="en-US" sz="2000">
                <a:solidFill>
                  <a:schemeClr val="dk1"/>
                </a:solidFill>
              </a:rPr>
              <a:t>: caminho do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.jar</a:t>
            </a:r>
            <a:r>
              <a:rPr lang="en-US" sz="2000">
                <a:solidFill>
                  <a:schemeClr val="dk1"/>
                </a:solidFill>
              </a:rPr>
              <a:t> gerado pelo Maven no primeiro estágio.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app.jar</a:t>
            </a:r>
            <a:r>
              <a:rPr lang="en-US" sz="2000">
                <a:solidFill>
                  <a:schemeClr val="dk1"/>
                </a:solidFill>
              </a:rPr>
              <a:t>: nome do arquivo no segundo estágio (renomeado para simplificar)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71" name="Google Shape;271;g37c6bbb41ba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7050" y="2066900"/>
            <a:ext cx="4968600" cy="27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c6bbb41ba_1_24"/>
          <p:cNvSpPr txBox="1"/>
          <p:nvPr/>
        </p:nvSpPr>
        <p:spPr>
          <a:xfrm>
            <a:off x="0" y="0"/>
            <a:ext cx="12772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4500">
                <a:solidFill>
                  <a:schemeClr val="dk1"/>
                </a:solidFill>
              </a:rPr>
              <a:t>O Dockerfile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277" name="Google Shape;277;g37c6bbb41ba_1_24"/>
          <p:cNvSpPr txBox="1"/>
          <p:nvPr/>
        </p:nvSpPr>
        <p:spPr>
          <a:xfrm>
            <a:off x="0" y="1101050"/>
            <a:ext cx="18288000" cy="9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EXPOSE 8080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Documenta que a aplicação estará disponível na porta </a:t>
            </a:r>
            <a:r>
              <a:rPr b="1" lang="en-US" sz="2000">
                <a:solidFill>
                  <a:schemeClr val="dk1"/>
                </a:solidFill>
              </a:rPr>
              <a:t>8080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ENTRYPOINT ["java", "-jar", "app.jar"]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o comando que será executado quando o contêiner iniciar.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 a rodar no terminal: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java -jar app.jar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inicia a aplicação Spring Boot.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37c6bbb41ba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58500"/>
            <a:ext cx="9443999" cy="51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7c6bbb41ba_1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3496" y="441575"/>
            <a:ext cx="4413475" cy="44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c6bbb41ba_1_21"/>
          <p:cNvSpPr txBox="1"/>
          <p:nvPr/>
        </p:nvSpPr>
        <p:spPr>
          <a:xfrm>
            <a:off x="0" y="0"/>
            <a:ext cx="1398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O </a:t>
            </a:r>
            <a:r>
              <a:rPr b="1" lang="en-US"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endParaRPr b="1" sz="3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r>
              <a:rPr lang="en-US" sz="2000">
                <a:solidFill>
                  <a:schemeClr val="dk1"/>
                </a:solidFill>
              </a:rPr>
              <a:t> é responsável por </a:t>
            </a:r>
            <a:r>
              <a:rPr b="1" lang="en-US" sz="2000">
                <a:solidFill>
                  <a:schemeClr val="dk1"/>
                </a:solidFill>
              </a:rPr>
              <a:t>orquestrar contêineres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Ele permite definir, em um único arquivo, como cada contêiner deve ser construído, configurado e executado.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Na prática, isso evita a necessidade de escrever comandos longos no terminal. Basta descrever os serviços no arquivo e iniciar tudo com um único comando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up</a:t>
            </a:r>
            <a:r>
              <a:rPr lang="en-US" sz="2000">
                <a:solidFill>
                  <a:schemeClr val="dk1"/>
                </a:solidFill>
              </a:rPr>
              <a:t>).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85" name="Google Shape;285;g37c6bbb41ba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34300"/>
            <a:ext cx="6504525" cy="50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7c6bbb41ba_1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08919" y="1794300"/>
            <a:ext cx="3585125" cy="358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c6bbb41ba_1_18"/>
          <p:cNvSpPr txBox="1"/>
          <p:nvPr/>
        </p:nvSpPr>
        <p:spPr>
          <a:xfrm>
            <a:off x="0" y="0"/>
            <a:ext cx="11671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O </a:t>
            </a:r>
            <a:r>
              <a:rPr b="1" lang="en-US"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endParaRPr b="1" sz="3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2" name="Google Shape;292;g37c6bbb41ba_1_18"/>
          <p:cNvSpPr txBox="1"/>
          <p:nvPr/>
        </p:nvSpPr>
        <p:spPr>
          <a:xfrm>
            <a:off x="31450" y="1179700"/>
            <a:ext cx="18288000" cy="9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version: '3.8'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Define a versão da sintaxe do Docker Compose utilizada. A versão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3.8</a:t>
            </a:r>
            <a:r>
              <a:rPr lang="en-US" sz="2000">
                <a:solidFill>
                  <a:schemeClr val="dk1"/>
                </a:solidFill>
              </a:rPr>
              <a:t> é estável e compatível com a maioria dos recursos atuais.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services: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Indica os serviços (contêineres) que farão parte da aplicação. Neste exemplo, teremos apenas um.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</a:rPr>
              <a:t>delivery-api:</a:t>
            </a:r>
            <a:endParaRPr sz="3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Nome do serviço. Esse identificador será usado para se referir ao contêiner.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</a:rPr>
              <a:t>build: .</a:t>
            </a:r>
            <a:endParaRPr sz="3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Informa que a imagem deve ser construída a partir do </a:t>
            </a:r>
            <a:r>
              <a:rPr b="1" lang="en-US" sz="2000">
                <a:solidFill>
                  <a:schemeClr val="dk1"/>
                </a:solidFill>
              </a:rPr>
              <a:t>Dockerfile</a:t>
            </a:r>
            <a:r>
              <a:rPr lang="en-US" sz="2000">
                <a:solidFill>
                  <a:schemeClr val="dk1"/>
                </a:solidFill>
              </a:rPr>
              <a:t> localizado no diretório atual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000">
                <a:solidFill>
                  <a:schemeClr val="dk1"/>
                </a:solidFill>
              </a:rPr>
              <a:t>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Se quiséssemos, poderíamos indicar uma imagem já pronta do Docker Hub, mas aqui estamos construindo a nossa própria.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</a:rPr>
              <a:t>ports: - "8080:8080"</a:t>
            </a:r>
            <a:endParaRPr sz="32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Mapeamento de portas entre o computador (host) e o contêiner.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primeiro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8080</a:t>
            </a:r>
            <a:r>
              <a:rPr lang="en-US" sz="2000">
                <a:solidFill>
                  <a:schemeClr val="dk1"/>
                </a:solidFill>
              </a:rPr>
              <a:t> é a porta do host (sua máquina).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segundo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8080</a:t>
            </a:r>
            <a:r>
              <a:rPr lang="en-US" sz="2000">
                <a:solidFill>
                  <a:schemeClr val="dk1"/>
                </a:solidFill>
              </a:rPr>
              <a:t> é a porta exposta dentro do contêiner (configurada no Dockerfile).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Assim, ao acessar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http://localhost:8080</a:t>
            </a:r>
            <a:r>
              <a:rPr lang="en-US" sz="2000">
                <a:solidFill>
                  <a:schemeClr val="dk1"/>
                </a:solidFill>
              </a:rPr>
              <a:t> no navegador, o tráfego é redirecionado para a aplicação rodando no contêiner.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c6bbb41ba_1_15"/>
          <p:cNvSpPr txBox="1"/>
          <p:nvPr/>
        </p:nvSpPr>
        <p:spPr>
          <a:xfrm>
            <a:off x="0" y="0"/>
            <a:ext cx="11671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O </a:t>
            </a:r>
            <a:r>
              <a:rPr b="1" lang="en-US"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endParaRPr b="1" sz="3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8" name="Google Shape;298;g37c6bbb41ba_1_15"/>
          <p:cNvSpPr txBox="1"/>
          <p:nvPr/>
        </p:nvSpPr>
        <p:spPr>
          <a:xfrm>
            <a:off x="31450" y="1163975"/>
            <a:ext cx="18288000" cy="9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environment: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variáveis de ambiente que estarão disponíveis dentro do contêiner.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Essas variáveis podem ser usadas para configurar a aplicação (ex.: credenciais, URLs de banco de dados, perfis de execução).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restart: unless-stopped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Política de reinício: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 contêiner parar por erro ou falha, o Docker irá reiniciá-lo automaticamente.</a:t>
            </a:r>
            <a:b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única exceção é quando o contêiner for parado manualmente pelo usuário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g37c6bbb41ba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5650" y="4899350"/>
            <a:ext cx="6504525" cy="50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c6bbb41ba_1_12"/>
          <p:cNvSpPr txBox="1"/>
          <p:nvPr/>
        </p:nvSpPr>
        <p:spPr>
          <a:xfrm>
            <a:off x="0" y="0"/>
            <a:ext cx="17994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/>
              <a:t>Guia Prático – Rodando a Aplicação com Docker</a:t>
            </a:r>
            <a:endParaRPr b="1" sz="5000"/>
          </a:p>
        </p:txBody>
      </p:sp>
      <p:sp>
        <p:nvSpPr>
          <p:cNvPr id="305" name="Google Shape;305;g37c6bbb41ba_1_12"/>
          <p:cNvSpPr txBox="1"/>
          <p:nvPr/>
        </p:nvSpPr>
        <p:spPr>
          <a:xfrm>
            <a:off x="47200" y="943750"/>
            <a:ext cx="18288000" cy="9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</a:rPr>
              <a:t>Para executar a aplicação,precisamos ter o </a:t>
            </a:r>
            <a:r>
              <a:rPr b="1" lang="en-US" sz="3300">
                <a:solidFill>
                  <a:schemeClr val="dk1"/>
                </a:solidFill>
              </a:rPr>
              <a:t>Docker</a:t>
            </a:r>
            <a:r>
              <a:rPr lang="en-US" sz="3300">
                <a:solidFill>
                  <a:schemeClr val="dk1"/>
                </a:solidFill>
              </a:rPr>
              <a:t> e o </a:t>
            </a:r>
            <a:r>
              <a:rPr b="1" lang="en-US" sz="3300">
                <a:solidFill>
                  <a:schemeClr val="dk1"/>
                </a:solidFill>
              </a:rPr>
              <a:t>Docker Compose</a:t>
            </a:r>
            <a:r>
              <a:rPr lang="en-US" sz="3300">
                <a:solidFill>
                  <a:schemeClr val="dk1"/>
                </a:solidFill>
              </a:rPr>
              <a:t> instalados previamente.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</a:rPr>
              <a:t>Passo 1 – Construir a Imagem Docker</a:t>
            </a:r>
            <a:endParaRPr b="1" sz="3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chemeClr val="dk1"/>
                </a:solidFill>
              </a:rPr>
              <a:t>Abra o terminal na </a:t>
            </a:r>
            <a:r>
              <a:rPr b="1" lang="en-US" sz="3300">
                <a:solidFill>
                  <a:schemeClr val="dk1"/>
                </a:solidFill>
              </a:rPr>
              <a:t>pasta raiz do projeto</a:t>
            </a:r>
            <a:r>
              <a:rPr lang="en-US" sz="3300">
                <a:solidFill>
                  <a:schemeClr val="dk1"/>
                </a:solidFill>
              </a:rPr>
              <a:t> (onde está localizado o </a:t>
            </a:r>
            <a:r>
              <a:rPr lang="en-US" sz="3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Dockerfile</a:t>
            </a:r>
            <a:r>
              <a:rPr lang="en-US" sz="3300">
                <a:solidFill>
                  <a:schemeClr val="dk1"/>
                </a:solidFill>
              </a:rPr>
              <a:t>).</a:t>
            </a:r>
            <a:br>
              <a:rPr lang="en-US" sz="3300">
                <a:solidFill>
                  <a:schemeClr val="dk1"/>
                </a:solidFill>
              </a:rPr>
            </a:br>
            <a:r>
              <a:rPr lang="en-US" sz="3300">
                <a:solidFill>
                  <a:schemeClr val="dk1"/>
                </a:solidFill>
              </a:rPr>
              <a:t> Em seguida, execute o comando: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accent3"/>
                </a:solidFill>
              </a:rPr>
              <a:t>docker build -t delivery-api:1.0 .</a:t>
            </a:r>
            <a:endParaRPr sz="33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</a:rPr>
              <a:t>O que cada parte do comando faz: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</a:rPr>
              <a:t>docker build</a:t>
            </a:r>
            <a:r>
              <a:rPr lang="en-US" sz="3300">
                <a:solidFill>
                  <a:schemeClr val="dk1"/>
                </a:solidFill>
              </a:rPr>
              <a:t>: comando para construir uma nova imagem.</a:t>
            </a:r>
            <a:br>
              <a:rPr lang="en-US" sz="3300">
                <a:solidFill>
                  <a:schemeClr val="dk1"/>
                </a:solidFill>
              </a:rPr>
            </a:b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</a:rPr>
              <a:t>-t delivery-api</a:t>
            </a:r>
            <a:r>
              <a:rPr lang="en-US" sz="3300">
                <a:solidFill>
                  <a:schemeClr val="dk1"/>
                </a:solidFill>
              </a:rPr>
              <a:t>: atribui o nome </a:t>
            </a:r>
            <a:r>
              <a:rPr lang="en-US" sz="3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delivery-api</a:t>
            </a:r>
            <a:r>
              <a:rPr lang="en-US" sz="3300">
                <a:solidFill>
                  <a:schemeClr val="dk1"/>
                </a:solidFill>
              </a:rPr>
              <a:t> à imagem criada.</a:t>
            </a:r>
            <a:br>
              <a:rPr lang="en-US" sz="3300">
                <a:solidFill>
                  <a:schemeClr val="dk1"/>
                </a:solidFill>
              </a:rPr>
            </a:b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</a:rPr>
              <a:t>. (ponto)</a:t>
            </a:r>
            <a:r>
              <a:rPr lang="en-US" sz="3300">
                <a:solidFill>
                  <a:schemeClr val="dk1"/>
                </a:solidFill>
              </a:rPr>
              <a:t>: indica que o Docker deve usar o </a:t>
            </a:r>
            <a:r>
              <a:rPr lang="en-US" sz="3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Dockerfile</a:t>
            </a:r>
            <a:r>
              <a:rPr lang="en-US" sz="3300">
                <a:solidFill>
                  <a:schemeClr val="dk1"/>
                </a:solidFill>
              </a:rPr>
              <a:t> presente no diretório atual.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c6bbb41ba_1_9"/>
          <p:cNvSpPr txBox="1"/>
          <p:nvPr/>
        </p:nvSpPr>
        <p:spPr>
          <a:xfrm>
            <a:off x="0" y="0"/>
            <a:ext cx="14329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</a:rPr>
              <a:t>Passo 2 – Rodando o Contêiner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Com a imagem construída, o próximo passo é criar e iniciar um contêiner a partir dela.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No terminal, execute: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11" name="Google Shape;311;g37c6bbb41ba_1_9"/>
          <p:cNvSpPr txBox="1"/>
          <p:nvPr/>
        </p:nvSpPr>
        <p:spPr>
          <a:xfrm>
            <a:off x="0" y="1708500"/>
            <a:ext cx="18288000" cy="85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docker run -d -p 8080:8080 --name delivery-app delivery-api:1.0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O que cada parte do comando faz: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docker run</a:t>
            </a:r>
            <a:r>
              <a:rPr lang="en-US" sz="2000">
                <a:solidFill>
                  <a:schemeClr val="dk1"/>
                </a:solidFill>
              </a:rPr>
              <a:t> → cria e inicia um novo contêiner a partir de uma imagem.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-d</a:t>
            </a:r>
            <a:r>
              <a:rPr lang="en-US" sz="2000">
                <a:solidFill>
                  <a:schemeClr val="dk1"/>
                </a:solidFill>
              </a:rPr>
              <a:t> → executa o contêiner em </a:t>
            </a:r>
            <a:r>
              <a:rPr i="1" lang="en-US" sz="2000">
                <a:solidFill>
                  <a:schemeClr val="dk1"/>
                </a:solidFill>
              </a:rPr>
              <a:t>detached mode</a:t>
            </a:r>
            <a:r>
              <a:rPr lang="en-US" sz="2000">
                <a:solidFill>
                  <a:schemeClr val="dk1"/>
                </a:solidFill>
              </a:rPr>
              <a:t> (segundo plano), liberando o terminal para outros comandos.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-p 8080:8080</a:t>
            </a:r>
            <a:r>
              <a:rPr lang="en-US" sz="2000">
                <a:solidFill>
                  <a:schemeClr val="dk1"/>
                </a:solidFill>
              </a:rPr>
              <a:t> → mapeia a porta </a:t>
            </a:r>
            <a:r>
              <a:rPr b="1" lang="en-US" sz="2000">
                <a:solidFill>
                  <a:schemeClr val="dk1"/>
                </a:solidFill>
              </a:rPr>
              <a:t>8080 do host (sua máquina)</a:t>
            </a:r>
            <a:r>
              <a:rPr lang="en-US" sz="2000">
                <a:solidFill>
                  <a:schemeClr val="dk1"/>
                </a:solidFill>
              </a:rPr>
              <a:t> para a porta </a:t>
            </a:r>
            <a:r>
              <a:rPr b="1" lang="en-US" sz="2000">
                <a:solidFill>
                  <a:schemeClr val="dk1"/>
                </a:solidFill>
              </a:rPr>
              <a:t>8080 do contêiner</a:t>
            </a:r>
            <a:r>
              <a:rPr lang="en-US" sz="2000">
                <a:solidFill>
                  <a:schemeClr val="dk1"/>
                </a:solidFill>
              </a:rPr>
              <a:t>, que foi exposta no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Dockerfile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--name delivery-app</a:t>
            </a:r>
            <a:r>
              <a:rPr lang="en-US" sz="2000">
                <a:solidFill>
                  <a:schemeClr val="dk1"/>
                </a:solidFill>
              </a:rPr>
              <a:t> → atribui o nome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delivery-app</a:t>
            </a:r>
            <a:r>
              <a:rPr lang="en-US" sz="2000">
                <a:solidFill>
                  <a:schemeClr val="dk1"/>
                </a:solidFill>
              </a:rPr>
              <a:t> ao contêiner, facilitando a sua administração posterior (parar, iniciar, remover, etc.).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delivery-api:1.0</a:t>
            </a:r>
            <a:r>
              <a:rPr lang="en-US" sz="2000">
                <a:solidFill>
                  <a:schemeClr val="dk1"/>
                </a:solidFill>
              </a:rPr>
              <a:t> → indica a imagem usada para criar o contêiner. Aqui,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delivery-api</a:t>
            </a:r>
            <a:r>
              <a:rPr lang="en-US" sz="2000">
                <a:solidFill>
                  <a:schemeClr val="dk1"/>
                </a:solidFill>
              </a:rPr>
              <a:t> é o nome da imagem 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n-US" sz="2000">
                <a:solidFill>
                  <a:schemeClr val="dk1"/>
                </a:solidFill>
              </a:rPr>
              <a:t> é a tag atribuída a ela.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Acessando a aplicação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Depois de executar o comando, a API estará em execução dentro do contêiner e poderá ser acessada em: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>
                <a:solidFill>
                  <a:schemeClr val="hlink"/>
                </a:solidFill>
              </a:rPr>
              <a:t>http://localhost:8080/swagger-ui/index.html#/</a:t>
            </a:r>
            <a:endParaRPr sz="20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c6bbb41ba_1_6"/>
          <p:cNvSpPr txBox="1"/>
          <p:nvPr/>
        </p:nvSpPr>
        <p:spPr>
          <a:xfrm>
            <a:off x="15725" y="0"/>
            <a:ext cx="18272400" cy="10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Passo 3 – A Forma Simples com Docker Compose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O arquivo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r>
              <a:rPr lang="en-US" sz="2000">
                <a:solidFill>
                  <a:schemeClr val="dk1"/>
                </a:solidFill>
              </a:rPr>
              <a:t> permite rodar a aplicação com um único comando.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Se você já tiver um contêiner rodando do </a:t>
            </a:r>
            <a:r>
              <a:rPr b="1" lang="en-US" sz="2000">
                <a:solidFill>
                  <a:schemeClr val="dk1"/>
                </a:solidFill>
              </a:rPr>
              <a:t>Passo 2</a:t>
            </a:r>
            <a:r>
              <a:rPr lang="en-US" sz="2000">
                <a:solidFill>
                  <a:schemeClr val="dk1"/>
                </a:solidFill>
              </a:rPr>
              <a:t>, primeiro pare-o com: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docker stop delivery-app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Em seguida, na </a:t>
            </a:r>
            <a:r>
              <a:rPr b="1" lang="en-US" sz="2000">
                <a:solidFill>
                  <a:schemeClr val="dk1"/>
                </a:solidFill>
              </a:rPr>
              <a:t>raiz do projeto</a:t>
            </a:r>
            <a:r>
              <a:rPr lang="en-US" sz="2000">
                <a:solidFill>
                  <a:schemeClr val="dk1"/>
                </a:solidFill>
              </a:rPr>
              <a:t>, basta rodar: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docker-compose up --build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O que cada parte do comando faz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docker-compose up</a:t>
            </a:r>
            <a:r>
              <a:rPr lang="en-US" sz="2000">
                <a:solidFill>
                  <a:schemeClr val="dk1"/>
                </a:solidFill>
              </a:rPr>
              <a:t> → lê o arquivo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r>
              <a:rPr lang="en-US" sz="2000">
                <a:solidFill>
                  <a:schemeClr val="dk1"/>
                </a:solidFill>
              </a:rPr>
              <a:t>, constrói as imagens necessárias e inicia os serviços definidos nele.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--build</a:t>
            </a:r>
            <a:r>
              <a:rPr lang="en-US" sz="2000">
                <a:solidFill>
                  <a:schemeClr val="dk1"/>
                </a:solidFill>
              </a:rPr>
              <a:t> → força o Docker a </a:t>
            </a:r>
            <a:r>
              <a:rPr b="1" lang="en-US" sz="2000">
                <a:solidFill>
                  <a:schemeClr val="dk1"/>
                </a:solidFill>
              </a:rPr>
              <a:t>reconstruir a imagem do zero</a:t>
            </a:r>
            <a:r>
              <a:rPr lang="en-US" sz="2000">
                <a:solidFill>
                  <a:schemeClr val="dk1"/>
                </a:solidFill>
              </a:rPr>
              <a:t>, mesmo que já exista uma versão anterior. Isso garante que alterações no código-fonte ou no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Dockerfile</a:t>
            </a:r>
            <a:r>
              <a:rPr lang="en-US" sz="2000">
                <a:solidFill>
                  <a:schemeClr val="dk1"/>
                </a:solidFill>
              </a:rPr>
              <a:t> sejam refletidas.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c6bbb41ba_1_3"/>
          <p:cNvSpPr txBox="1"/>
          <p:nvPr/>
        </p:nvSpPr>
        <p:spPr>
          <a:xfrm>
            <a:off x="0" y="0"/>
            <a:ext cx="12646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Comandos Úteis para Gerenciamento</a:t>
            </a:r>
            <a:endParaRPr b="1" sz="4500"/>
          </a:p>
        </p:txBody>
      </p:sp>
      <p:sp>
        <p:nvSpPr>
          <p:cNvPr id="322" name="Google Shape;322;g37c6bbb41ba_1_3"/>
          <p:cNvSpPr txBox="1"/>
          <p:nvPr/>
        </p:nvSpPr>
        <p:spPr>
          <a:xfrm>
            <a:off x="31450" y="959500"/>
            <a:ext cx="18288000" cy="9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Listar contêineres em execução: </a:t>
            </a: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docker ps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Parar um contêiner específico: </a:t>
            </a: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docker stop delivery-app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Parar todos os serviços do Docker Compose: Pressione Ctrl + C no terminal onde o </a:t>
            </a: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docker-compose up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está rodando, ou execute: </a:t>
            </a: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docker-compose down </a:t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 os logs da aplicação : </a:t>
            </a:r>
            <a:r>
              <a:rPr lang="en-US" sz="3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docker logs -f delivery-app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-f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segue os logs em tempo real.)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Atualizando a Aplicação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Quando houver alterações no código: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 sz="3200">
                <a:solidFill>
                  <a:schemeClr val="dk1"/>
                </a:solidFill>
              </a:rPr>
              <a:t>Pare o contêiner antigo: </a:t>
            </a:r>
            <a:r>
              <a:rPr lang="en-US" sz="3200">
                <a:solidFill>
                  <a:schemeClr val="accent3"/>
                </a:solidFill>
              </a:rPr>
              <a:t>docker-compose down</a:t>
            </a:r>
            <a:endParaRPr sz="3200">
              <a:solidFill>
                <a:schemeClr val="accent3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 sz="3200">
                <a:solidFill>
                  <a:schemeClr val="dk1"/>
                </a:solidFill>
              </a:rPr>
              <a:t>Reconstrua a imagem e inicie o novo contêiner com as mudanças: </a:t>
            </a:r>
            <a:r>
              <a:rPr lang="en-US" sz="3200">
                <a:solidFill>
                  <a:schemeClr val="accent3"/>
                </a:solidFill>
              </a:rPr>
              <a:t>docker-compose up --build</a:t>
            </a:r>
            <a:endParaRPr sz="32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g37c6bbb41b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158432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7c6bbb41ba_1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112706" cy="1013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112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12"/>
          <p:cNvSpPr txBox="1"/>
          <p:nvPr/>
        </p:nvSpPr>
        <p:spPr>
          <a:xfrm>
            <a:off x="32766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4118768"/>
            <a:ext cx="8745936" cy="58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12"/>
          <p:cNvSpPr txBox="1"/>
          <p:nvPr/>
        </p:nvSpPr>
        <p:spPr>
          <a:xfrm>
            <a:off x="6390795" y="2933700"/>
            <a:ext cx="675891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/>
              <a:t>30 </a:t>
            </a: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126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26"/>
          <p:cNvSpPr txBox="1"/>
          <p:nvPr/>
        </p:nvSpPr>
        <p:spPr>
          <a:xfrm>
            <a:off x="3001686" y="348209"/>
            <a:ext cx="523795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2371816"/>
            <a:ext cx="5714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27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353" name="Google Shape;353;p127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27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27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8" l="0" r="0" t="-4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127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357" name="Google Shape;357;p127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27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27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7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7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7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7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7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7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Bia e Ale</dc:creator>
</cp:coreProperties>
</file>