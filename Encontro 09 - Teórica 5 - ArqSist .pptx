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PT Sans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jEljgb6Ve9fDRBI5H5XEkVpBXL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regular.fntdata"/><Relationship Id="rId41" Type="http://schemas.openxmlformats.org/officeDocument/2006/relationships/font" Target="fonts/PTSans-bold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PTSans-bold.fntdata"/><Relationship Id="rId16" Type="http://schemas.openxmlformats.org/officeDocument/2006/relationships/slide" Target="slides/slide11.xml"/><Relationship Id="rId38" Type="http://schemas.openxmlformats.org/officeDocument/2006/relationships/font" Target="fonts/PT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52df3f58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752df3f58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752df3f58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2df3f58c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752df3f58c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752df3f58c_0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52df3f58c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752df3f58c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752df3f58c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752df3f58c_0_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752df3f58c_0_4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3752df3f58c_0_4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8d6558df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38d6558df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9" name="Google Shape;109;p6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0" name="Google Shape;110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6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6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6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0" name="Google Shape;130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8" name="Google Shape;138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10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11" Type="http://schemas.openxmlformats.org/officeDocument/2006/relationships/image" Target="../media/image7.png"/><Relationship Id="rId10" Type="http://schemas.openxmlformats.org/officeDocument/2006/relationships/image" Target="../media/image17.png"/><Relationship Id="rId12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53.png"/><Relationship Id="rId5" Type="http://schemas.openxmlformats.org/officeDocument/2006/relationships/image" Target="../media/image44.png"/><Relationship Id="rId6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hyperlink" Target="https://swagger.io/" TargetMode="External"/><Relationship Id="rId5" Type="http://schemas.openxmlformats.org/officeDocument/2006/relationships/image" Target="../media/image47.png"/><Relationship Id="rId6" Type="http://schemas.openxmlformats.org/officeDocument/2006/relationships/hyperlink" Target="https://springdoc.org/" TargetMode="External"/><Relationship Id="rId7" Type="http://schemas.openxmlformats.org/officeDocument/2006/relationships/image" Target="../media/image31.png"/><Relationship Id="rId8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mini.google.com/share/b18e4a6edef9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10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158" name="Google Shape;158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162" name="Google Shape;162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619496" y="883379"/>
            <a:ext cx="8143675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09</a:t>
            </a:r>
            <a:endParaRPr b="1" i="0" sz="8069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1748072" y="4627122"/>
            <a:ext cx="7886524" cy="34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1289496" y="6984104"/>
            <a:ext cx="8143675" cy="3023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9" name="Google Shape;179;p2"/>
          <p:cNvGrpSpPr/>
          <p:nvPr/>
        </p:nvGrpSpPr>
        <p:grpSpPr>
          <a:xfrm>
            <a:off x="10695500" y="1057830"/>
            <a:ext cx="9528785" cy="8200470"/>
            <a:chOff x="0" y="-38100"/>
            <a:chExt cx="2842104" cy="2198064"/>
          </a:xfrm>
        </p:grpSpPr>
        <p:sp>
          <p:nvSpPr>
            <p:cNvPr id="180" name="Google Shape;180;p2"/>
            <p:cNvSpPr/>
            <p:nvPr/>
          </p:nvSpPr>
          <p:spPr>
            <a:xfrm>
              <a:off x="0" y="0"/>
              <a:ext cx="2842104" cy="2159964"/>
            </a:xfrm>
            <a:custGeom>
              <a:rect b="b" l="l" r="r" t="t"/>
              <a:pathLst>
                <a:path extrusionOk="0" h="2159964" w="2842104">
                  <a:moveTo>
                    <a:pt x="0" y="0"/>
                  </a:moveTo>
                  <a:lnTo>
                    <a:pt x="2842104" y="0"/>
                  </a:lnTo>
                  <a:lnTo>
                    <a:pt x="2842104" y="2159964"/>
                  </a:lnTo>
                  <a:lnTo>
                    <a:pt x="0" y="2159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"/>
            <p:cNvSpPr txBox="1"/>
            <p:nvPr/>
          </p:nvSpPr>
          <p:spPr>
            <a:xfrm>
              <a:off x="0" y="-38100"/>
              <a:ext cx="2842104" cy="2198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2"/>
          <p:cNvSpPr txBox="1"/>
          <p:nvPr/>
        </p:nvSpPr>
        <p:spPr>
          <a:xfrm>
            <a:off x="1409304" y="2971165"/>
            <a:ext cx="8649096" cy="5718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Central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do Conteúdo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Contextualização – Onde Usamos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Demonstração / Tipo de Aplicação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 Virtual de Aprendizagem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Laboratório de Prática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"/>
          <p:cNvGrpSpPr/>
          <p:nvPr/>
        </p:nvGrpSpPr>
        <p:grpSpPr>
          <a:xfrm>
            <a:off x="1038225" y="3073149"/>
            <a:ext cx="202018" cy="374764"/>
            <a:chOff x="0" y="-38100"/>
            <a:chExt cx="53206" cy="98704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1038225" y="3702368"/>
            <a:ext cx="202018" cy="374764"/>
            <a:chOff x="0" y="-38100"/>
            <a:chExt cx="53206" cy="98704"/>
          </a:xfrm>
        </p:grpSpPr>
        <p:sp>
          <p:nvSpPr>
            <p:cNvPr id="187" name="Google Shape;187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2"/>
          <p:cNvGrpSpPr/>
          <p:nvPr/>
        </p:nvGrpSpPr>
        <p:grpSpPr>
          <a:xfrm>
            <a:off x="1038225" y="4331587"/>
            <a:ext cx="202018" cy="374764"/>
            <a:chOff x="0" y="-38100"/>
            <a:chExt cx="53206" cy="98704"/>
          </a:xfrm>
        </p:grpSpPr>
        <p:sp>
          <p:nvSpPr>
            <p:cNvPr id="190" name="Google Shape;190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2"/>
          <p:cNvGrpSpPr/>
          <p:nvPr/>
        </p:nvGrpSpPr>
        <p:grpSpPr>
          <a:xfrm>
            <a:off x="1038225" y="4960806"/>
            <a:ext cx="202018" cy="374764"/>
            <a:chOff x="0" y="-38100"/>
            <a:chExt cx="53206" cy="98704"/>
          </a:xfrm>
        </p:grpSpPr>
        <p:sp>
          <p:nvSpPr>
            <p:cNvPr id="193" name="Google Shape;193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2"/>
          <p:cNvGrpSpPr/>
          <p:nvPr/>
        </p:nvGrpSpPr>
        <p:grpSpPr>
          <a:xfrm>
            <a:off x="1038225" y="5590025"/>
            <a:ext cx="202018" cy="374764"/>
            <a:chOff x="0" y="-38100"/>
            <a:chExt cx="53206" cy="98704"/>
          </a:xfrm>
        </p:grpSpPr>
        <p:sp>
          <p:nvSpPr>
            <p:cNvPr id="196" name="Google Shape;196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2"/>
          <p:cNvGrpSpPr/>
          <p:nvPr/>
        </p:nvGrpSpPr>
        <p:grpSpPr>
          <a:xfrm>
            <a:off x="1038225" y="6219244"/>
            <a:ext cx="202018" cy="374764"/>
            <a:chOff x="0" y="-38100"/>
            <a:chExt cx="53206" cy="98704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2"/>
          <p:cNvGrpSpPr/>
          <p:nvPr/>
        </p:nvGrpSpPr>
        <p:grpSpPr>
          <a:xfrm>
            <a:off x="1038225" y="6848462"/>
            <a:ext cx="202018" cy="374764"/>
            <a:chOff x="0" y="-38100"/>
            <a:chExt cx="53206" cy="98704"/>
          </a:xfrm>
        </p:grpSpPr>
        <p:sp>
          <p:nvSpPr>
            <p:cNvPr id="202" name="Google Shape;202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2"/>
          <p:cNvGrpSpPr/>
          <p:nvPr/>
        </p:nvGrpSpPr>
        <p:grpSpPr>
          <a:xfrm>
            <a:off x="1038225" y="7477681"/>
            <a:ext cx="202018" cy="374764"/>
            <a:chOff x="0" y="-38100"/>
            <a:chExt cx="53206" cy="98704"/>
          </a:xfrm>
        </p:grpSpPr>
        <p:sp>
          <p:nvSpPr>
            <p:cNvPr id="205" name="Google Shape;205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"/>
          <p:cNvGrpSpPr/>
          <p:nvPr/>
        </p:nvGrpSpPr>
        <p:grpSpPr>
          <a:xfrm>
            <a:off x="1038225" y="8106900"/>
            <a:ext cx="202018" cy="374764"/>
            <a:chOff x="0" y="-38100"/>
            <a:chExt cx="53206" cy="98704"/>
          </a:xfrm>
        </p:grpSpPr>
        <p:sp>
          <p:nvSpPr>
            <p:cNvPr id="208" name="Google Shape;208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2"/>
          <p:cNvSpPr/>
          <p:nvPr/>
        </p:nvSpPr>
        <p:spPr>
          <a:xfrm rot="567872">
            <a:off x="12773376" y="3054928"/>
            <a:ext cx="5373030" cy="5373030"/>
          </a:xfrm>
          <a:custGeom>
            <a:rect b="b" l="l" r="r" t="t"/>
            <a:pathLst>
              <a:path extrusionOk="0" h="5373030" w="5373030">
                <a:moveTo>
                  <a:pt x="0" y="0"/>
                </a:moveTo>
                <a:lnTo>
                  <a:pt x="5373029" y="0"/>
                </a:lnTo>
                <a:lnTo>
                  <a:pt x="5373029" y="5373030"/>
                </a:lnTo>
                <a:lnTo>
                  <a:pt x="0" y="5373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 txBox="1"/>
          <p:nvPr/>
        </p:nvSpPr>
        <p:spPr>
          <a:xfrm>
            <a:off x="1034770" y="1847436"/>
            <a:ext cx="1191008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/>
          <p:nvPr/>
        </p:nvSpPr>
        <p:spPr>
          <a:xfrm>
            <a:off x="1828800" y="1714500"/>
            <a:ext cx="1191008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Central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3001685" y="4991100"/>
            <a:ext cx="6758911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API RESTful e Camada de Negócio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88" y="2423476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 txBox="1"/>
          <p:nvPr/>
        </p:nvSpPr>
        <p:spPr>
          <a:xfrm>
            <a:off x="2577600" y="302100"/>
            <a:ext cx="738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Por que tantas APIs falham na prática?</a:t>
            </a:r>
            <a:endParaRPr b="1" sz="2400"/>
          </a:p>
        </p:txBody>
      </p:sp>
      <p:sp>
        <p:nvSpPr>
          <p:cNvPr id="226" name="Google Shape;226;p5"/>
          <p:cNvSpPr txBox="1"/>
          <p:nvPr/>
        </p:nvSpPr>
        <p:spPr>
          <a:xfrm>
            <a:off x="384875" y="1026375"/>
            <a:ext cx="9759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Mesmo com tecnologias modernas e frameworks poderosos, muitos projetos enfrentam dificuldades na integração de APIs.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problema não é só técnico — muitas vezes é sobre </a:t>
            </a:r>
            <a:r>
              <a:rPr b="1" lang="en-US" sz="2000">
                <a:solidFill>
                  <a:schemeClr val="dk1"/>
                </a:solidFill>
              </a:rPr>
              <a:t>clareza, padrão e comunicação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300"/>
          </a:p>
        </p:txBody>
      </p:sp>
      <p:pic>
        <p:nvPicPr>
          <p:cNvPr id="227" name="Google Shape;22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2525" y="1903975"/>
            <a:ext cx="6284975" cy="46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 txBox="1"/>
          <p:nvPr/>
        </p:nvSpPr>
        <p:spPr>
          <a:xfrm>
            <a:off x="384875" y="2612550"/>
            <a:ext cx="872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"Estudos indicam que até </a:t>
            </a:r>
            <a:r>
              <a:rPr b="1" lang="en-US" sz="1800"/>
              <a:t>40%</a:t>
            </a:r>
            <a:r>
              <a:rPr lang="en-US" sz="1800"/>
              <a:t> do tempo de integração é gasto tentando entender como a API funciona."</a:t>
            </a:r>
            <a:endParaRPr sz="1800"/>
          </a:p>
        </p:txBody>
      </p:sp>
      <p:sp>
        <p:nvSpPr>
          <p:cNvPr id="229" name="Google Shape;229;p5"/>
          <p:cNvSpPr txBox="1"/>
          <p:nvPr/>
        </p:nvSpPr>
        <p:spPr>
          <a:xfrm>
            <a:off x="384875" y="3351450"/>
            <a:ext cx="593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4 causas mais comuns de frustração com APIs</a:t>
            </a:r>
            <a:endParaRPr b="1" sz="1900"/>
          </a:p>
        </p:txBody>
      </p:sp>
      <p:sp>
        <p:nvSpPr>
          <p:cNvPr id="230" name="Google Shape;230;p5"/>
          <p:cNvSpPr txBox="1"/>
          <p:nvPr/>
        </p:nvSpPr>
        <p:spPr>
          <a:xfrm>
            <a:off x="233275" y="3982700"/>
            <a:ext cx="13269900" cy="6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Falta de documentação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Desenvolvedores gastam horas explorando código ou testando endpoints às cegas.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Impacto: Atrasos no projeto, dependência de equipe original e mais custos.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Falta de padronização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Cada API responde de forma diferente (formato, campos, códigos HTTP).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Impacto: Integração complexa e maior curva de aprendizado para novos devs.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Difícil de integrar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Ausência de exemplos claros, dados de teste ou respostas consistentes.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Impacto: Mais bugs em produção e retrabalho para corrigir.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700">
                <a:solidFill>
                  <a:schemeClr val="dk1"/>
                </a:solidFill>
              </a:rPr>
            </a:br>
            <a:r>
              <a:rPr b="1" lang="en-US" sz="1700">
                <a:solidFill>
                  <a:schemeClr val="dk1"/>
                </a:solidFill>
              </a:rPr>
              <a:t>Perda de tempo com erros simples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Validações pouco claras ou mensagens de erro genéricas.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Impacto: QAs e devs gastam tempo depurando problemas evitáveis.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g3752df3f58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752df3f58c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14662" y="302104"/>
            <a:ext cx="2417002" cy="241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752df3f58c_0_23"/>
          <p:cNvSpPr txBox="1"/>
          <p:nvPr/>
        </p:nvSpPr>
        <p:spPr>
          <a:xfrm>
            <a:off x="2703350" y="285750"/>
            <a:ext cx="63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O que é, afinal, uma API REST?</a:t>
            </a:r>
            <a:endParaRPr b="1" sz="2400"/>
          </a:p>
        </p:txBody>
      </p:sp>
      <p:sp>
        <p:nvSpPr>
          <p:cNvPr id="239" name="Google Shape;239;g3752df3f58c_0_23"/>
          <p:cNvSpPr txBox="1"/>
          <p:nvPr/>
        </p:nvSpPr>
        <p:spPr>
          <a:xfrm>
            <a:off x="128300" y="1213000"/>
            <a:ext cx="1044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REST </a:t>
            </a:r>
            <a:r>
              <a:rPr lang="en-US" sz="1700">
                <a:solidFill>
                  <a:schemeClr val="dk1"/>
                </a:solidFill>
              </a:rPr>
              <a:t>(</a:t>
            </a:r>
            <a:r>
              <a:rPr i="1" lang="en-US" sz="1700">
                <a:solidFill>
                  <a:schemeClr val="dk1"/>
                </a:solidFill>
              </a:rPr>
              <a:t>Representational State Transfer</a:t>
            </a:r>
            <a:r>
              <a:rPr lang="en-US" sz="1700">
                <a:solidFill>
                  <a:schemeClr val="dk1"/>
                </a:solidFill>
              </a:rPr>
              <a:t>) é um estilo arquitetural para criar serviços web de forma simples, escalável e fácil de integrar.</a:t>
            </a:r>
            <a:endParaRPr sz="2000"/>
          </a:p>
        </p:txBody>
      </p:sp>
      <p:sp>
        <p:nvSpPr>
          <p:cNvPr id="240" name="Google Shape;240;g3752df3f58c_0_23"/>
          <p:cNvSpPr txBox="1"/>
          <p:nvPr/>
        </p:nvSpPr>
        <p:spPr>
          <a:xfrm>
            <a:off x="128300" y="2131900"/>
            <a:ext cx="1035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Ele se baseia em recursos acessados por URLs e manipulados através de métodos HTTP, mantendo a comunicação sem estado (</a:t>
            </a:r>
            <a:r>
              <a:rPr b="1" lang="en-US" sz="1800"/>
              <a:t>stateless</a:t>
            </a:r>
            <a:r>
              <a:rPr lang="en-US" sz="1800"/>
              <a:t>).</a:t>
            </a:r>
            <a:endParaRPr sz="1800"/>
          </a:p>
        </p:txBody>
      </p:sp>
      <p:sp>
        <p:nvSpPr>
          <p:cNvPr id="241" name="Google Shape;241;g3752df3f58c_0_23"/>
          <p:cNvSpPr txBox="1"/>
          <p:nvPr/>
        </p:nvSpPr>
        <p:spPr>
          <a:xfrm>
            <a:off x="373225" y="3184075"/>
            <a:ext cx="70653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Pontos-chave: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Recursos identificáveis por </a:t>
            </a:r>
            <a:r>
              <a:rPr b="1" lang="en-US" sz="1800">
                <a:solidFill>
                  <a:schemeClr val="dk1"/>
                </a:solidFill>
              </a:rPr>
              <a:t>URLs únicas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Ações definidas pelos </a:t>
            </a:r>
            <a:r>
              <a:rPr b="1" lang="en-US" sz="1800">
                <a:solidFill>
                  <a:schemeClr val="dk1"/>
                </a:solidFill>
              </a:rPr>
              <a:t>métodos HTTP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Dados normalmente enviados em </a:t>
            </a:r>
            <a:r>
              <a:rPr b="1" lang="en-US" sz="1800">
                <a:solidFill>
                  <a:schemeClr val="dk1"/>
                </a:solidFill>
              </a:rPr>
              <a:t>JSON</a:t>
            </a:r>
            <a:r>
              <a:rPr lang="en-US" sz="1800">
                <a:solidFill>
                  <a:schemeClr val="dk1"/>
                </a:solidFill>
              </a:rPr>
              <a:t> (ou XML).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Cada requisição é </a:t>
            </a:r>
            <a:r>
              <a:rPr b="1" lang="en-US" sz="1800">
                <a:solidFill>
                  <a:schemeClr val="dk1"/>
                </a:solidFill>
              </a:rPr>
              <a:t>independente</a:t>
            </a:r>
            <a:r>
              <a:rPr lang="en-US" sz="1800">
                <a:solidFill>
                  <a:schemeClr val="dk1"/>
                </a:solidFill>
              </a:rPr>
              <a:t> das anteriores.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42" name="Google Shape;242;g3752df3f58c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225" y="6440525"/>
            <a:ext cx="10354199" cy="2938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/>
        </p:nvSpPr>
        <p:spPr>
          <a:xfrm>
            <a:off x="3580625" y="58325"/>
            <a:ext cx="104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Como estruturamos uma API REST</a:t>
            </a:r>
            <a:endParaRPr b="1" sz="2400"/>
          </a:p>
        </p:txBody>
      </p:sp>
      <p:sp>
        <p:nvSpPr>
          <p:cNvPr id="249" name="Google Shape;249;p7"/>
          <p:cNvSpPr txBox="1"/>
          <p:nvPr/>
        </p:nvSpPr>
        <p:spPr>
          <a:xfrm>
            <a:off x="524850" y="612425"/>
            <a:ext cx="11077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Uma API REST não é só código — ela é parte de uma arquitetura que conecta usuários, lógica de negócio e dados.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 estrutura típica envolve </a:t>
            </a:r>
            <a:r>
              <a:rPr b="1" lang="en-US" sz="1800">
                <a:solidFill>
                  <a:schemeClr val="dk1"/>
                </a:solidFill>
              </a:rPr>
              <a:t>quatro grandes blocos</a:t>
            </a:r>
            <a:r>
              <a:rPr lang="en-US" sz="1800">
                <a:solidFill>
                  <a:schemeClr val="dk1"/>
                </a:solidFill>
              </a:rPr>
              <a:t> que conversam entre si: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Cliente</a:t>
            </a:r>
            <a:r>
              <a:rPr lang="en-US" sz="1800">
                <a:solidFill>
                  <a:schemeClr val="dk1"/>
                </a:solidFill>
              </a:rPr>
              <a:t> → Aplicativo ou sistema que consome a API.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API REST</a:t>
            </a:r>
            <a:r>
              <a:rPr lang="en-US" sz="1800">
                <a:solidFill>
                  <a:schemeClr val="dk1"/>
                </a:solidFill>
              </a:rPr>
              <a:t> → Controladores que recebem requisições e enviam respostas.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Regras de Negócio</a:t>
            </a:r>
            <a:r>
              <a:rPr lang="en-US" sz="1800">
                <a:solidFill>
                  <a:schemeClr val="dk1"/>
                </a:solidFill>
              </a:rPr>
              <a:t> → Onde a lógica e as validações vivem.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Banco de Dados</a:t>
            </a:r>
            <a:r>
              <a:rPr lang="en-US" sz="1800">
                <a:solidFill>
                  <a:schemeClr val="dk1"/>
                </a:solidFill>
              </a:rPr>
              <a:t> → Local onde as informações são persistidas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524850" y="3882625"/>
            <a:ext cx="89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Entendendo cada componente</a:t>
            </a:r>
            <a:endParaRPr b="1" sz="1800"/>
          </a:p>
        </p:txBody>
      </p:sp>
      <p:sp>
        <p:nvSpPr>
          <p:cNvPr id="251" name="Google Shape;251;p7"/>
          <p:cNvSpPr txBox="1"/>
          <p:nvPr/>
        </p:nvSpPr>
        <p:spPr>
          <a:xfrm>
            <a:off x="291575" y="4344325"/>
            <a:ext cx="14121300" cy="5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Cliente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Pode ser um app mobile, web ou outro sistema.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É o ponto de entrada para o usuário interagir com os dados.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API REST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Controladores HTTP que recebem as requisições.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Interpretam dados de entrada e enviam a resposta correta.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Regras de Negócio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Serviços que definem “como” e “quando” as coisas acontecem.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Incluem validações, cálculos e integrações com outros serviços.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Banco de Dados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Onde os dados vivem de forma persistente.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Pode ser relacional (MySQL, PostgreSQL) ou NoSQL (MongoDB, Redis).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1727013" y="377024"/>
            <a:ext cx="72999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O que é Swagger/OpenAPI?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14900" y="1469575"/>
            <a:ext cx="1241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Swagger </a:t>
            </a:r>
            <a:r>
              <a:rPr lang="en-US" sz="1800">
                <a:solidFill>
                  <a:schemeClr val="dk1"/>
                </a:solidFill>
              </a:rPr>
              <a:t>é um conjunto de ferramentas que facilita a documentação, teste e padronização de APIs.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OpenAPI </a:t>
            </a:r>
            <a:r>
              <a:rPr lang="en-US" sz="1800">
                <a:solidFill>
                  <a:schemeClr val="dk1"/>
                </a:solidFill>
              </a:rPr>
              <a:t>é o formato padrão usado para descrever APIs RESTful de forma que </a:t>
            </a:r>
            <a:r>
              <a:rPr b="1" lang="en-US" sz="1800">
                <a:solidFill>
                  <a:schemeClr val="dk1"/>
                </a:solidFill>
              </a:rPr>
              <a:t>humanos e máquinas entendam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2100"/>
          </a:p>
        </p:txBody>
      </p:sp>
      <p:sp>
        <p:nvSpPr>
          <p:cNvPr id="259" name="Google Shape;259;p8"/>
          <p:cNvSpPr txBox="1"/>
          <p:nvPr/>
        </p:nvSpPr>
        <p:spPr>
          <a:xfrm>
            <a:off x="314900" y="2764200"/>
            <a:ext cx="120222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 que permite fazer: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Documentar APIs de forma clara e padronizada.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Criar documentação interativa que se atualiza com o código.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Testar endpoints direto no navegador.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Descrever recursos, operações e modelos de dados formalmente.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524850" y="5703325"/>
            <a:ext cx="60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Benefícios do padrão OpenAPI</a:t>
            </a:r>
            <a:endParaRPr b="1" sz="1800"/>
          </a:p>
        </p:txBody>
      </p:sp>
      <p:sp>
        <p:nvSpPr>
          <p:cNvPr id="261" name="Google Shape;261;p8"/>
          <p:cNvSpPr txBox="1"/>
          <p:nvPr/>
        </p:nvSpPr>
        <p:spPr>
          <a:xfrm>
            <a:off x="524850" y="6379800"/>
            <a:ext cx="9899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Independente de linguagem</a:t>
            </a:r>
            <a:r>
              <a:rPr lang="en-US" sz="1800">
                <a:solidFill>
                  <a:schemeClr val="dk1"/>
                </a:solidFill>
              </a:rPr>
              <a:t> – funciona com Java, Python, Node, Go etc.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Leitura universal</a:t>
            </a:r>
            <a:r>
              <a:rPr lang="en-US" sz="1800">
                <a:solidFill>
                  <a:schemeClr val="dk1"/>
                </a:solidFill>
              </a:rPr>
              <a:t> – pode ser entendida por desenvolvedores e por ferramentas automáticas.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Geração automática de código</a:t>
            </a:r>
            <a:r>
              <a:rPr lang="en-US" sz="1800">
                <a:solidFill>
                  <a:schemeClr val="dk1"/>
                </a:solidFill>
              </a:rPr>
              <a:t> – cria clientes e servidores a partir da especificação.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Integração facilitada</a:t>
            </a:r>
            <a:r>
              <a:rPr lang="en-US" sz="1800">
                <a:solidFill>
                  <a:schemeClr val="dk1"/>
                </a:solidFill>
              </a:rPr>
              <a:t> – menos atrito na comunicação entre sistemas diferentes.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992238" y="1654820"/>
            <a:ext cx="6202264" cy="775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Vantagens do Swagger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2817615" y="2998737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Redução de bugs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92238" y="3535264"/>
            <a:ext cx="4926509" cy="19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Documentação clara reduz erros de integração e mal-entendidos sobre o funcionamento da API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0817" y="2925962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957" y="4134817"/>
            <a:ext cx="371178" cy="46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/>
          <p:nvPr/>
        </p:nvSpPr>
        <p:spPr>
          <a:xfrm>
            <a:off x="12369106" y="2998737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Validação mais rápida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2369105" y="3535264"/>
            <a:ext cx="4926658" cy="19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lang="en-US" sz="2438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esenvolvedores podem testar endpoints diretamente via interface sem ferramentas extras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0817" y="2925962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0419" y="4134817"/>
            <a:ext cx="371178" cy="46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12369106" y="6037957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Integração simplificada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2369105" y="6574482"/>
            <a:ext cx="4926658" cy="19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Clareza sobre parâmetros, respostas e códigos de erro facilita a integração com outros sistemas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0817" y="2925962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70419" y="6959277"/>
            <a:ext cx="371178" cy="46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>
            <a:off x="2817615" y="6037957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Onboarding eficiente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992238" y="6574482"/>
            <a:ext cx="4926509" cy="19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Novos desenvolvedores aprendem rapidamente como a API funciona através da documentação interativa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90817" y="2925962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45957" y="6959277"/>
            <a:ext cx="371178" cy="463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/>
        </p:nvSpPr>
        <p:spPr>
          <a:xfrm>
            <a:off x="3149075" y="174950"/>
            <a:ext cx="1134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Introdução à interface Swagger UI</a:t>
            </a:r>
            <a:endParaRPr b="1" sz="2400"/>
          </a:p>
        </p:txBody>
      </p:sp>
      <p:sp>
        <p:nvSpPr>
          <p:cNvPr id="292" name="Google Shape;292;p10"/>
          <p:cNvSpPr txBox="1"/>
          <p:nvPr/>
        </p:nvSpPr>
        <p:spPr>
          <a:xfrm>
            <a:off x="149075" y="1271300"/>
            <a:ext cx="1288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 Swagger UI é a parte visual do Swagger que permite interagir com a documentação da API.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Ele transforma a especificação OpenAPI em uma </a:t>
            </a:r>
            <a:r>
              <a:rPr b="1" lang="en-US" sz="1800">
                <a:solidFill>
                  <a:schemeClr val="dk1"/>
                </a:solidFill>
              </a:rPr>
              <a:t>interface interativa</a:t>
            </a:r>
            <a:r>
              <a:rPr lang="en-US" sz="1800">
                <a:solidFill>
                  <a:schemeClr val="dk1"/>
                </a:solidFill>
              </a:rPr>
              <a:t>, onde é possível </a:t>
            </a:r>
            <a:r>
              <a:rPr b="1" lang="en-US" sz="1800">
                <a:solidFill>
                  <a:schemeClr val="dk1"/>
                </a:solidFill>
              </a:rPr>
              <a:t>visualizar, testar e entender</a:t>
            </a:r>
            <a:r>
              <a:rPr lang="en-US" sz="1800">
                <a:solidFill>
                  <a:schemeClr val="dk1"/>
                </a:solidFill>
              </a:rPr>
              <a:t> os endpoints.</a:t>
            </a:r>
            <a:endParaRPr sz="2000"/>
          </a:p>
        </p:txBody>
      </p:sp>
      <p:sp>
        <p:nvSpPr>
          <p:cNvPr id="293" name="Google Shape;293;p10"/>
          <p:cNvSpPr txBox="1"/>
          <p:nvPr/>
        </p:nvSpPr>
        <p:spPr>
          <a:xfrm>
            <a:off x="279925" y="2915825"/>
            <a:ext cx="119520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Principais recursos: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Lista completa de endpoints organizados por módulos/controladores.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Detalhes de parâmetros de requisição.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Exemplos de respostas por código HTTP.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Função “Try it out” para testes em tempo real.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084700" y="6134875"/>
            <a:ext cx="705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Como acessar e manter atualizado</a:t>
            </a:r>
            <a:endParaRPr b="1" sz="2200"/>
          </a:p>
        </p:txBody>
      </p:sp>
      <p:sp>
        <p:nvSpPr>
          <p:cNvPr id="295" name="Google Shape;295;p10"/>
          <p:cNvSpPr txBox="1"/>
          <p:nvPr/>
        </p:nvSpPr>
        <p:spPr>
          <a:xfrm>
            <a:off x="443200" y="6741375"/>
            <a:ext cx="102726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Endereço local padrão: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http://localhost:8080/swagger-ui/index.html#/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Qualquer alteração na especificação ou no código anotado é refletida automaticamente ao reiniciar a aplicação.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Benefício: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Documentação viva</a:t>
            </a:r>
            <a:r>
              <a:rPr lang="en-US" sz="1800">
                <a:solidFill>
                  <a:schemeClr val="dk1"/>
                </a:solidFill>
              </a:rPr>
              <a:t>: sempre alinhada com o código da API.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/>
          <p:nvPr/>
        </p:nvSpPr>
        <p:spPr>
          <a:xfrm>
            <a:off x="974230" y="671512"/>
            <a:ext cx="8294191" cy="72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Configurando Swagger no projeto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878804" y="3704866"/>
            <a:ext cx="483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1. Adicione a dependência no pom.xml: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194048" y="2768352"/>
            <a:ext cx="7447955" cy="185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5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t/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74226" y="6909501"/>
            <a:ext cx="4739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2. Configure no application.properties: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75233" y="2549207"/>
            <a:ext cx="4830074" cy="483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04" y="7694836"/>
            <a:ext cx="5772956" cy="192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812" y="4789867"/>
            <a:ext cx="5515653" cy="169609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 txBox="1"/>
          <p:nvPr/>
        </p:nvSpPr>
        <p:spPr>
          <a:xfrm>
            <a:off x="974225" y="1906450"/>
            <a:ext cx="958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Para habilitar o Swagger UI no seu projeto, é preciso adicionar a dependência correta e configurar o caminho da documentação no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application.properties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/>
          </a:p>
        </p:txBody>
      </p:sp>
      <p:sp>
        <p:nvSpPr>
          <p:cNvPr id="310" name="Google Shape;310;p11"/>
          <p:cNvSpPr txBox="1"/>
          <p:nvPr/>
        </p:nvSpPr>
        <p:spPr>
          <a:xfrm>
            <a:off x="7907700" y="7476150"/>
            <a:ext cx="734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springdoc.api-docs.path</a:t>
            </a:r>
            <a:r>
              <a:rPr lang="en-US" sz="1800">
                <a:solidFill>
                  <a:schemeClr val="dk1"/>
                </a:solidFill>
              </a:rPr>
              <a:t> → URL onde o JSON da especificação é servido.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springdoc.swagger-ui.path</a:t>
            </a:r>
            <a:r>
              <a:rPr lang="en-US" sz="1800">
                <a:solidFill>
                  <a:schemeClr val="dk1"/>
                </a:solidFill>
              </a:rPr>
              <a:t> → Endereço onde a interface visual estará disponível.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springdoc.swagger-ui.operationsSorter</a:t>
            </a:r>
            <a:r>
              <a:rPr lang="en-US" sz="1800">
                <a:solidFill>
                  <a:schemeClr val="dk1"/>
                </a:solidFill>
              </a:rPr>
              <a:t> → Forma de organizar os métodos (por tipo, nome etc.)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4666138" y="439126"/>
            <a:ext cx="62022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Agrupando com @Tag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92238" y="3465761"/>
            <a:ext cx="7849195" cy="99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anotação @Tag permite organizar endpoints por domínio ou módulo: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227833" y="4923236"/>
            <a:ext cx="7378005" cy="15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92238" y="6976022"/>
            <a:ext cx="7849195" cy="99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Isso cria um agrupamento visual na interface do Swagger, facilitando a navegação.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456093" y="3465760"/>
            <a:ext cx="784919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Benefícios do agrupamento: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456093" y="4185196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Melhor organização para APIs grandes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456093" y="466888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Facilita a busca de endpoints específicos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456093" y="5152579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Separa funcionalidades por domínio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456093" y="5636270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Melhora a experiência de navegação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456093" y="6256437"/>
            <a:ext cx="7849195" cy="99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Recomendação: Use uma tag para cada controller ou domínio de negócio.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238" y="4504583"/>
            <a:ext cx="6109035" cy="2239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/>
          <p:nvPr/>
        </p:nvSpPr>
        <p:spPr>
          <a:xfrm>
            <a:off x="4152100" y="349900"/>
            <a:ext cx="890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Analisando a Documentação: Teoria vs. Prática</a:t>
            </a:r>
            <a:endParaRPr b="1" sz="1800"/>
          </a:p>
        </p:txBody>
      </p:sp>
      <p:sp>
        <p:nvSpPr>
          <p:cNvPr id="334" name="Google Shape;334;p14"/>
          <p:cNvSpPr txBox="1"/>
          <p:nvPr/>
        </p:nvSpPr>
        <p:spPr>
          <a:xfrm>
            <a:off x="13050" y="1084675"/>
            <a:ext cx="91179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2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Parâmetros com @Parameter</a:t>
            </a:r>
            <a:endParaRPr sz="36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4"/>
          <p:cNvPicPr preferRelativeResize="0"/>
          <p:nvPr/>
        </p:nvPicPr>
        <p:blipFill rotWithShape="1">
          <a:blip r:embed="rId3">
            <a:alphaModFix/>
          </a:blip>
          <a:srcRect b="0" l="0" r="14828" t="0"/>
          <a:stretch/>
        </p:blipFill>
        <p:spPr>
          <a:xfrm>
            <a:off x="452076" y="2024777"/>
            <a:ext cx="5593525" cy="52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4"/>
          <p:cNvSpPr txBox="1"/>
          <p:nvPr/>
        </p:nvSpPr>
        <p:spPr>
          <a:xfrm>
            <a:off x="6403150" y="2647550"/>
            <a:ext cx="854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Esse codigo </a:t>
            </a:r>
            <a:r>
              <a:rPr lang="en-US" sz="1800">
                <a:solidFill>
                  <a:schemeClr val="dk1"/>
                </a:solidFill>
              </a:rPr>
              <a:t> nos apresenta o </a:t>
            </a:r>
            <a:r>
              <a:rPr b="1" lang="en-US" sz="1800">
                <a:solidFill>
                  <a:schemeClr val="dk1"/>
                </a:solidFill>
              </a:rPr>
              <a:t>conceito</a:t>
            </a:r>
            <a:r>
              <a:rPr lang="en-US" sz="1800">
                <a:solidFill>
                  <a:schemeClr val="dk1"/>
                </a:solidFill>
              </a:rPr>
              <a:t> de como detalhar a documentação de um endpoint. Ele utiliza anotações como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@Operation</a:t>
            </a:r>
            <a:r>
              <a:rPr lang="en-US" sz="1800">
                <a:solidFill>
                  <a:schemeClr val="dk1"/>
                </a:solidFill>
              </a:rPr>
              <a:t> 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@Parameter</a:t>
            </a:r>
            <a:r>
              <a:rPr lang="en-US" sz="1800">
                <a:solidFill>
                  <a:schemeClr val="dk1"/>
                </a:solidFill>
              </a:rPr>
              <a:t> para adicionar descrições, exemplos e marcar campos como obrigatórios.</a:t>
            </a:r>
            <a:endParaRPr sz="2100"/>
          </a:p>
        </p:txBody>
      </p:sp>
      <p:sp>
        <p:nvSpPr>
          <p:cNvPr id="337" name="Google Shape;337;p14"/>
          <p:cNvSpPr txBox="1"/>
          <p:nvPr/>
        </p:nvSpPr>
        <p:spPr>
          <a:xfrm>
            <a:off x="6403150" y="4180338"/>
            <a:ext cx="911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A ideia é excelente, mas note que o código é um </a:t>
            </a:r>
            <a:r>
              <a:rPr b="1" lang="en-US" sz="1600">
                <a:solidFill>
                  <a:schemeClr val="dk1"/>
                </a:solidFill>
              </a:rPr>
              <a:t>placeholder</a:t>
            </a:r>
            <a:r>
              <a:rPr lang="en-US" sz="1600">
                <a:solidFill>
                  <a:schemeClr val="dk1"/>
                </a:solidFill>
              </a:rPr>
              <a:t>, ou seja, um exemplo didático. A lógica de negócio está comentada e ele não trata todos os cenários, como o que acontece se um restaurante não for encontrado.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52df3f58c_0_201"/>
          <p:cNvSpPr txBox="1"/>
          <p:nvPr/>
        </p:nvSpPr>
        <p:spPr>
          <a:xfrm>
            <a:off x="4152100" y="349900"/>
            <a:ext cx="890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Analisando a Documentação: Teoria vs. Prática</a:t>
            </a:r>
            <a:endParaRPr b="1" sz="1800"/>
          </a:p>
        </p:txBody>
      </p:sp>
      <p:sp>
        <p:nvSpPr>
          <p:cNvPr id="344" name="Google Shape;344;g3752df3f58c_0_201"/>
          <p:cNvSpPr txBox="1"/>
          <p:nvPr/>
        </p:nvSpPr>
        <p:spPr>
          <a:xfrm>
            <a:off x="384900" y="1656175"/>
            <a:ext cx="68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A Implementação no Nosso Projeto (A Prática)</a:t>
            </a:r>
            <a:endParaRPr b="1" sz="2200"/>
          </a:p>
        </p:txBody>
      </p:sp>
      <p:sp>
        <p:nvSpPr>
          <p:cNvPr id="345" name="Google Shape;345;g3752df3f58c_0_201"/>
          <p:cNvSpPr txBox="1"/>
          <p:nvPr/>
        </p:nvSpPr>
        <p:spPr>
          <a:xfrm>
            <a:off x="548175" y="2449275"/>
            <a:ext cx="83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Agora, vamos ver como o mesmo endpoint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/api/restaurantes/{id}</a:t>
            </a:r>
            <a:r>
              <a:rPr lang="en-US" sz="1500">
                <a:solidFill>
                  <a:schemeClr val="dk1"/>
                </a:solidFill>
              </a:rPr>
              <a:t>) está implementado de forma </a:t>
            </a:r>
            <a:r>
              <a:rPr b="1" lang="en-US" sz="1500">
                <a:solidFill>
                  <a:schemeClr val="dk1"/>
                </a:solidFill>
              </a:rPr>
              <a:t>real e funcional</a:t>
            </a:r>
            <a:r>
              <a:rPr lang="en-US" sz="1500">
                <a:solidFill>
                  <a:schemeClr val="dk1"/>
                </a:solidFill>
              </a:rPr>
              <a:t> em nosso projeto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DeliveryTech API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800"/>
          </a:p>
        </p:txBody>
      </p:sp>
      <p:pic>
        <p:nvPicPr>
          <p:cNvPr id="346" name="Google Shape;346;g3752df3f58c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5" y="3540625"/>
            <a:ext cx="17111651" cy="202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752df3f58c_0_201"/>
          <p:cNvSpPr txBox="1"/>
          <p:nvPr/>
        </p:nvSpPr>
        <p:spPr>
          <a:xfrm>
            <a:off x="548175" y="5913950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é melhor?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752df3f58c_0_201"/>
          <p:cNvSpPr txBox="1"/>
          <p:nvPr/>
        </p:nvSpPr>
        <p:spPr>
          <a:xfrm>
            <a:off x="548175" y="6938150"/>
            <a:ext cx="17518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É Funcional, não um Placeholder:</a:t>
            </a:r>
            <a:r>
              <a:rPr lang="en-US" sz="1800">
                <a:solidFill>
                  <a:schemeClr val="dk1"/>
                </a:solidFill>
              </a:rPr>
              <a:t> Nosso código realmente chama a camada de serviço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restauranteService.buscarPorId(id)</a:t>
            </a:r>
            <a:r>
              <a:rPr lang="en-US" sz="1800">
                <a:solidFill>
                  <a:schemeClr val="dk1"/>
                </a:solidFill>
              </a:rPr>
              <a:t>) para consultar 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Tratamento de Erro Real:</a:t>
            </a:r>
            <a:r>
              <a:rPr lang="en-US" sz="1800">
                <a:solidFill>
                  <a:schemeClr val="dk1"/>
                </a:solidFill>
              </a:rPr>
              <a:t> Ele utiliza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Optional</a:t>
            </a:r>
            <a:r>
              <a:rPr lang="en-US" sz="1800">
                <a:solidFill>
                  <a:schemeClr val="dk1"/>
                </a:solidFill>
              </a:rPr>
              <a:t> para tratar o caso em que o restaurante não é encontrado, retornando corretamente um status </a:t>
            </a:r>
            <a:r>
              <a:rPr b="1" lang="en-US" sz="1800">
                <a:solidFill>
                  <a:schemeClr val="dk1"/>
                </a:solidFill>
              </a:rPr>
              <a:t>HTTP 404 Not Found</a:t>
            </a:r>
            <a:r>
              <a:rPr lang="en-US" sz="1800">
                <a:solidFill>
                  <a:schemeClr val="dk1"/>
                </a:solidFill>
              </a:rPr>
              <a:t>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.orElse(ResponseEntity.notFound().build())</a:t>
            </a:r>
            <a:r>
              <a:rPr lang="en-US" sz="1800">
                <a:solidFill>
                  <a:schemeClr val="dk1"/>
                </a:solidFill>
              </a:rPr>
              <a:t>). Isso é crucial para uma API REST bem projetada.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Respostas Específicas:</a:t>
            </a:r>
            <a:r>
              <a:rPr lang="en-US" sz="1800">
                <a:solidFill>
                  <a:schemeClr val="dk1"/>
                </a:solidFill>
              </a:rPr>
              <a:t> O método retorna um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ResponseEntity&lt;RestauranteResponse&gt;</a:t>
            </a:r>
            <a:r>
              <a:rPr lang="en-US" sz="1800">
                <a:solidFill>
                  <a:schemeClr val="dk1"/>
                </a:solidFill>
              </a:rPr>
              <a:t>, garantindo que a resposta HTTP tenha o corpo e o status corretos, ao contrário do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ResponseEntity&lt;?&gt;</a:t>
            </a:r>
            <a:r>
              <a:rPr lang="en-US" sz="1800">
                <a:solidFill>
                  <a:schemeClr val="dk1"/>
                </a:solidFill>
              </a:rPr>
              <a:t> genérico do exemplo.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4" name="Google Shape;3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/>
        </p:nvSpPr>
        <p:spPr>
          <a:xfrm>
            <a:off x="2857500" y="548175"/>
            <a:ext cx="826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Retornando Listas: A Evolução para a Paginação</a:t>
            </a:r>
            <a:endParaRPr b="1" sz="2200"/>
          </a:p>
        </p:txBody>
      </p:sp>
      <p:sp>
        <p:nvSpPr>
          <p:cNvPr id="356" name="Google Shape;356;p19"/>
          <p:cNvSpPr txBox="1"/>
          <p:nvPr/>
        </p:nvSpPr>
        <p:spPr>
          <a:xfrm>
            <a:off x="268275" y="1516225"/>
            <a:ext cx="994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Atualmente, em nosso projeto, quando um endpoint precisa retornar múltiplos dados (como a lista de restaurantes), ele busca e retorna </a:t>
            </a:r>
            <a:r>
              <a:rPr b="1" lang="en-US" sz="1500">
                <a:solidFill>
                  <a:schemeClr val="dk1"/>
                </a:solidFill>
              </a:rPr>
              <a:t>todos os registros de uma vez</a:t>
            </a:r>
            <a:endParaRPr sz="1800"/>
          </a:p>
        </p:txBody>
      </p:sp>
      <p:pic>
        <p:nvPicPr>
          <p:cNvPr id="357" name="Google Shape;3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15125"/>
            <a:ext cx="8953825" cy="30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9"/>
          <p:cNvSpPr txBox="1"/>
          <p:nvPr/>
        </p:nvSpPr>
        <p:spPr>
          <a:xfrm>
            <a:off x="152400" y="5715000"/>
            <a:ext cx="98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Isso funciona perfeitamente para 10, 50, talvez 100 restaurantes. Mas imagine se nossa plataforma crescesse e tivéssemos 10.000 restaurantes. O que aconteceria?</a:t>
            </a:r>
            <a:endParaRPr sz="1800"/>
          </a:p>
        </p:txBody>
      </p:sp>
      <p:sp>
        <p:nvSpPr>
          <p:cNvPr id="359" name="Google Shape;359;p19"/>
          <p:cNvSpPr txBox="1"/>
          <p:nvPr/>
        </p:nvSpPr>
        <p:spPr>
          <a:xfrm>
            <a:off x="268275" y="6955425"/>
            <a:ext cx="951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Performance:</a:t>
            </a:r>
            <a:r>
              <a:rPr lang="en-US" sz="1800">
                <a:solidFill>
                  <a:schemeClr val="dk1"/>
                </a:solidFill>
              </a:rPr>
              <a:t> A requisição se tornaria extremamente lenta.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Consumo de Recursos:</a:t>
            </a:r>
            <a:r>
              <a:rPr lang="en-US" sz="1800">
                <a:solidFill>
                  <a:schemeClr val="dk1"/>
                </a:solidFill>
              </a:rPr>
              <a:t> Gastaríamos muita memória no servidor para montar a resposta e no cliente (navegador ou app) para recebê-la.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Experiência do Usuário:</a:t>
            </a:r>
            <a:r>
              <a:rPr lang="en-US" sz="1800">
                <a:solidFill>
                  <a:schemeClr val="dk1"/>
                </a:solidFill>
              </a:rPr>
              <a:t> A interface ficaria travada esperando carregar uma lista gigante.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5" name="Google Shape;365;g3752df3f58c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752df3f58c_0_237"/>
          <p:cNvSpPr txBox="1"/>
          <p:nvPr/>
        </p:nvSpPr>
        <p:spPr>
          <a:xfrm>
            <a:off x="268250" y="1247975"/>
            <a:ext cx="1041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Como seria para </a:t>
            </a:r>
            <a:r>
              <a:rPr lang="en-US" sz="1600">
                <a:solidFill>
                  <a:schemeClr val="dk1"/>
                </a:solidFill>
              </a:rPr>
              <a:t> aplicarmos o conceito de </a:t>
            </a:r>
            <a:r>
              <a:rPr b="1" lang="en-US" sz="1600">
                <a:solidFill>
                  <a:schemeClr val="dk1"/>
                </a:solidFill>
              </a:rPr>
              <a:t>paginação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900"/>
          </a:p>
        </p:txBody>
      </p:sp>
      <p:sp>
        <p:nvSpPr>
          <p:cNvPr id="367" name="Google Shape;367;g3752df3f58c_0_237"/>
          <p:cNvSpPr txBox="1"/>
          <p:nvPr/>
        </p:nvSpPr>
        <p:spPr>
          <a:xfrm>
            <a:off x="116650" y="2134375"/>
            <a:ext cx="11182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Não retornar tudo de uma vez:</a:t>
            </a:r>
            <a:r>
              <a:rPr lang="en-US" sz="1500">
                <a:solidFill>
                  <a:schemeClr val="dk1"/>
                </a:solidFill>
              </a:rPr>
              <a:t> A API entrega os dados em "pedaços" ou "páginas" (ex: os primeiros 20 resultados).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Fornecer Metadados:</a:t>
            </a:r>
            <a:r>
              <a:rPr lang="en-US" sz="1500">
                <a:solidFill>
                  <a:schemeClr val="dk1"/>
                </a:solidFill>
              </a:rPr>
              <a:t> Junto com os dados da página, a resposta informa o total de itens, o número da página atual e o total de páginas existentes.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 classe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PagedResponse</a:t>
            </a:r>
            <a:r>
              <a:rPr lang="en-US" sz="1500">
                <a:solidFill>
                  <a:schemeClr val="dk1"/>
                </a:solidFill>
              </a:rPr>
              <a:t> do slide é um exemplo de como padronizar essa resposta, criando um "envelope" que contém tanto os dados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r>
              <a:rPr lang="en-US" sz="1500">
                <a:solidFill>
                  <a:schemeClr val="dk1"/>
                </a:solidFill>
              </a:rPr>
              <a:t>) quanto as informações da página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pageInfo</a:t>
            </a:r>
            <a:r>
              <a:rPr lang="en-US" sz="1500">
                <a:solidFill>
                  <a:schemeClr val="dk1"/>
                </a:solidFill>
              </a:rPr>
              <a:t>)."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68" name="Google Shape;368;g3752df3f58c_0_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224" y="3975372"/>
            <a:ext cx="5481300" cy="33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752df3f58c_0_2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600" y="7287199"/>
            <a:ext cx="6355326" cy="20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3752df3f58c_0_2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0" y="4530013"/>
            <a:ext cx="7015402" cy="525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/>
          <p:nvPr/>
        </p:nvSpPr>
        <p:spPr>
          <a:xfrm>
            <a:off x="992238" y="722411"/>
            <a:ext cx="6994921" cy="658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Paginação com PagedResponse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192560" y="2704208"/>
            <a:ext cx="7493943" cy="6410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9611022" y="2632919"/>
            <a:ext cx="7493943" cy="404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86316" y="839837"/>
            <a:ext cx="2304311" cy="230431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0"/>
          <p:cNvSpPr/>
          <p:nvPr/>
        </p:nvSpPr>
        <p:spPr>
          <a:xfrm>
            <a:off x="952232" y="1762769"/>
            <a:ext cx="3055293" cy="32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None/>
            </a:pPr>
            <a:r>
              <a:rPr b="1" i="0" lang="en-US" sz="2063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Exemplo de resposta JSON:</a:t>
            </a:r>
            <a:endParaRPr b="0" i="0" sz="20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952232" y="6931420"/>
            <a:ext cx="7894588" cy="1264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paginação é </a:t>
            </a:r>
            <a:r>
              <a:rPr lang="en-US" sz="2250">
                <a:latin typeface="Montserrat"/>
                <a:ea typeface="Montserrat"/>
                <a:cs typeface="Montserrat"/>
                <a:sym typeface="Montserrat"/>
              </a:rPr>
              <a:t>utilizada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APIs que retornam grandes conjuntos de dados, melhorando a performance e usabilidade.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952232" y="8386067"/>
            <a:ext cx="7894588" cy="84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Documente os parâmetros de paginação com @Parameter para que fiquem claros na interface do Swagger.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232" y="2289179"/>
            <a:ext cx="5301031" cy="444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/>
          <p:nvPr/>
        </p:nvSpPr>
        <p:spPr>
          <a:xfrm>
            <a:off x="901304" y="3436591"/>
            <a:ext cx="5918299" cy="704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5"/>
              <a:buFont typeface="Arial"/>
              <a:buNone/>
            </a:pPr>
            <a:r>
              <a:rPr b="1" i="0" lang="en-US" sz="43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Padrões de Código HTTP</a:t>
            </a:r>
            <a:endParaRPr b="0" i="0" sz="4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901304" y="4478686"/>
            <a:ext cx="506909" cy="506909"/>
          </a:xfrm>
          <a:prstGeom prst="roundRect">
            <a:avLst>
              <a:gd fmla="val 18671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985763" y="4520877"/>
            <a:ext cx="337989" cy="422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1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1633538" y="4556075"/>
            <a:ext cx="2816721" cy="352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2XX - Sucesso</a:t>
            </a:r>
            <a:endParaRPr b="0" i="0" sz="21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1633538" y="5043339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200 OK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Requisição bem-sucedida (GET, PUT, PATCH)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1633538" y="5842993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201 Created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Recurso criado com sucesso (POST)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1633538" y="6642647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204 No Content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Sucesso, mas sem conteúdo para retornar (DELETE)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6490247" y="4478686"/>
            <a:ext cx="506909" cy="506909"/>
          </a:xfrm>
          <a:prstGeom prst="roundRect">
            <a:avLst>
              <a:gd fmla="val 18671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6574707" y="4520877"/>
            <a:ext cx="337989" cy="422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2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7222481" y="4556075"/>
            <a:ext cx="2816721" cy="352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4XX - Erro do Cliente</a:t>
            </a:r>
            <a:endParaRPr b="0" i="0" sz="21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7222480" y="5043339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400 Bad Request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Requisição inválida (erro de validação)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7222480" y="5842993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401 Unauthorized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Autenticação necessária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7222480" y="6642647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403 Forbidden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Sem permissão para o recurso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7222480" y="7442299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404 Not Found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Recurso não encontrado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222480" y="8241953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409 Conflict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Conflito (ex: recurso já existe)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12079189" y="4478686"/>
            <a:ext cx="506909" cy="506909"/>
          </a:xfrm>
          <a:prstGeom prst="roundRect">
            <a:avLst>
              <a:gd fmla="val 18671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12163649" y="4520877"/>
            <a:ext cx="337989" cy="422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3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12811423" y="4556075"/>
            <a:ext cx="2816721" cy="352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1" i="0" lang="en-US" sz="218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5XX - Erro do Servidor</a:t>
            </a:r>
            <a:endParaRPr b="0" i="0" sz="21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12811423" y="5043339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500 Internal Server Error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Erro não tratado no servidor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2811423" y="5842993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502 Bad Gateway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Erro em serviço dependente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12811423" y="6642647"/>
            <a:ext cx="4575125" cy="7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07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Char char="•"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503 Service Unavailable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Serviço temporariamente indisponível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901304" y="9216331"/>
            <a:ext cx="16485394" cy="450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8"/>
              <a:buFont typeface="Arial"/>
              <a:buNone/>
            </a:pPr>
            <a:r>
              <a:rPr b="0" i="0" lang="en-US" sz="218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Documente todos os códigos possíveis com @ApiResponse para cada endpoint.</a:t>
            </a:r>
            <a:endParaRPr b="0" i="0" sz="21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/>
          <p:nvPr/>
        </p:nvSpPr>
        <p:spPr>
          <a:xfrm>
            <a:off x="992237" y="1779240"/>
            <a:ext cx="8592443" cy="775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Testes de Integração: Introdução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992238" y="3149651"/>
            <a:ext cx="7849195" cy="99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Testes de integração validam o comportamento completo da API: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992238" y="436527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Testam a API do ponto de vista do cliente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992238" y="4848969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Verificam se os endpoints retornam respostas corretas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992238" y="5332660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Validam o fluxo completo da requisição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992238" y="5816353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Confirmam se os códigos HTTP estão corretos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9456093" y="3149650"/>
            <a:ext cx="784919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Spring Boot, usamos: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9456093" y="3869085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MockMvc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Simula chamadas HTTP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9456093" y="4352776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@SpringBootTest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Carrega o contexto completo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9456093" y="483646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@AutoConfigureMockMvc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Configura o MockMvc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9456093" y="5320159"/>
            <a:ext cx="784919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TestRestTemplate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Alternativa que faz chamadas HTTP reais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9456093" y="6337250"/>
            <a:ext cx="784919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Benefícios: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9456093" y="7056685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Garantia de que a API funciona como documentado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9456093" y="754037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Prevenção de regressões em atualizações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9456093" y="8024069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Documentação viva do comportamento esperado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5665" y="377016"/>
            <a:ext cx="2781299" cy="278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52df3f58c_0_404"/>
          <p:cNvSpPr/>
          <p:nvPr/>
        </p:nvSpPr>
        <p:spPr>
          <a:xfrm>
            <a:off x="1283796" y="472950"/>
            <a:ext cx="117996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A Implementação no Nosso Projeto </a:t>
            </a:r>
            <a:endParaRPr b="1" sz="4800"/>
          </a:p>
        </p:txBody>
      </p:sp>
      <p:pic>
        <p:nvPicPr>
          <p:cNvPr descr="preencoded.png" id="441" name="Google Shape;441;g3752df3f58c_0_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752df3f58c_0_404"/>
          <p:cNvSpPr txBox="1"/>
          <p:nvPr/>
        </p:nvSpPr>
        <p:spPr>
          <a:xfrm>
            <a:off x="396550" y="2228400"/>
            <a:ext cx="1634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Nosso código </a:t>
            </a:r>
            <a:r>
              <a:rPr lang="en-US" sz="1900">
                <a:solidFill>
                  <a:schemeClr val="dk1"/>
                </a:solidFill>
              </a:rPr>
              <a:t> já coloca essa teoria em prática! Vamos analisar nosso arquivo de teste, o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ClienteControllerTest.java</a:t>
            </a:r>
            <a:r>
              <a:rPr lang="en-US" sz="1900">
                <a:solidFill>
                  <a:schemeClr val="dk1"/>
                </a:solidFill>
              </a:rPr>
              <a:t>, que valida o comportamento do nosso endpoint de cadastro de clientes.</a:t>
            </a:r>
            <a:endParaRPr sz="2200"/>
          </a:p>
        </p:txBody>
      </p:sp>
      <p:pic>
        <p:nvPicPr>
          <p:cNvPr id="443" name="Google Shape;443;g3752df3f58c_0_4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50300"/>
            <a:ext cx="6715125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752df3f58c_0_404"/>
          <p:cNvSpPr txBox="1"/>
          <p:nvPr/>
        </p:nvSpPr>
        <p:spPr>
          <a:xfrm>
            <a:off x="291575" y="7131750"/>
            <a:ext cx="133401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Analisando nosso teste: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@SpringBootTest</a:t>
            </a:r>
            <a:r>
              <a:rPr b="1" lang="en-US" sz="1800">
                <a:solidFill>
                  <a:schemeClr val="dk1"/>
                </a:solidFill>
              </a:rPr>
              <a:t> e </a:t>
            </a: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@AutoConfigureMockMvc</a:t>
            </a:r>
            <a:r>
              <a:rPr b="1" lang="en-US" sz="1800">
                <a:solidFill>
                  <a:schemeClr val="dk1"/>
                </a:solidFill>
              </a:rPr>
              <a:t>:</a:t>
            </a:r>
            <a:r>
              <a:rPr lang="en-US" sz="1800">
                <a:solidFill>
                  <a:schemeClr val="dk1"/>
                </a:solidFill>
              </a:rPr>
              <a:t> Preparam o ambiente, carregando toda a nossa aplicação para um teste que simula a realidade.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MockMvc</a:t>
            </a:r>
            <a:r>
              <a:rPr b="1" lang="en-US" sz="1800">
                <a:solidFill>
                  <a:schemeClr val="dk1"/>
                </a:solidFill>
              </a:rPr>
              <a:t>:</a:t>
            </a:r>
            <a:r>
              <a:rPr lang="en-US" sz="1800">
                <a:solidFill>
                  <a:schemeClr val="dk1"/>
                </a:solidFill>
              </a:rPr>
              <a:t> É o nosso "cliente virtual". Ele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perform</a:t>
            </a:r>
            <a:r>
              <a:rPr lang="en-US" sz="1800">
                <a:solidFill>
                  <a:schemeClr val="dk1"/>
                </a:solidFill>
              </a:rPr>
              <a:t>a a requisição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-US" sz="1800">
                <a:solidFill>
                  <a:schemeClr val="dk1"/>
                </a:solidFill>
              </a:rPr>
              <a:t> para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/api/clientes</a:t>
            </a:r>
            <a:r>
              <a:rPr lang="en-US" sz="1800">
                <a:solidFill>
                  <a:schemeClr val="dk1"/>
                </a:solidFill>
              </a:rPr>
              <a:t>, exatamente como um front-end faria.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andExpect</a:t>
            </a:r>
            <a:r>
              <a:rPr b="1" lang="en-US" sz="1800">
                <a:solidFill>
                  <a:schemeClr val="dk1"/>
                </a:solidFill>
              </a:rPr>
              <a:t>:</a:t>
            </a:r>
            <a:r>
              <a:rPr lang="en-US" sz="1800">
                <a:solidFill>
                  <a:schemeClr val="dk1"/>
                </a:solidFill>
              </a:rPr>
              <a:t> Aqui validamos se o código HTTP está correto. O teste espera um status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isCreated()</a:t>
            </a:r>
            <a:r>
              <a:rPr lang="en-US" sz="1800">
                <a:solidFill>
                  <a:schemeClr val="dk1"/>
                </a:solidFill>
              </a:rPr>
              <a:t> (HTTP 201).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"/>
          <p:cNvSpPr/>
          <p:nvPr/>
        </p:nvSpPr>
        <p:spPr>
          <a:xfrm>
            <a:off x="992238" y="1025130"/>
            <a:ext cx="4828134" cy="581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Arial"/>
              <a:buNone/>
            </a:pPr>
            <a:r>
              <a:rPr b="1" i="0" lang="en-US" sz="36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Onde tudo isso é usado?</a:t>
            </a:r>
            <a:endParaRPr b="0" i="0" sz="3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1" name="Google Shape;4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237" y="1885652"/>
            <a:ext cx="465088" cy="465088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8"/>
          <p:cNvSpPr/>
          <p:nvPr/>
        </p:nvSpPr>
        <p:spPr>
          <a:xfrm>
            <a:off x="1689795" y="1996083"/>
            <a:ext cx="2325738" cy="29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1" i="0" lang="en-US" sz="1812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Apps de delivery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1689796" y="2398366"/>
            <a:ext cx="8747969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0" i="0" lang="en-US" sz="18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iFood, Rappi e Uber Eats usam APIs REST para comunicação entre apps, restaurantes e entregadores. Swagger facilita a integração com parceiros.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237" y="3607594"/>
            <a:ext cx="465088" cy="46508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8"/>
          <p:cNvSpPr/>
          <p:nvPr/>
        </p:nvSpPr>
        <p:spPr>
          <a:xfrm>
            <a:off x="1689795" y="3718025"/>
            <a:ext cx="2325738" cy="29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1" i="0" lang="en-US" sz="1812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Sistemas logísticos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1689796" y="4120307"/>
            <a:ext cx="8747969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0" i="0" lang="en-US" sz="18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Empresas de logística usam APIs para rastreamento de entregas, integração com transportadoras e comunicação com clientes.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7" name="Google Shape;45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237" y="5329535"/>
            <a:ext cx="465088" cy="465088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8"/>
          <p:cNvSpPr/>
          <p:nvPr/>
        </p:nvSpPr>
        <p:spPr>
          <a:xfrm>
            <a:off x="1689795" y="5439967"/>
            <a:ext cx="2672060" cy="29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1" i="0" lang="en-US" sz="1812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Plataformas de pagamento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1689796" y="5842248"/>
            <a:ext cx="8747969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0" i="0" lang="en-US" sz="18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Mercado Pago, PagSeguro e outros gateways de pagamento oferecem APIs REST documentadas com Swagger para integração com lojas virtuais.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0" name="Google Shape;46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237" y="7051476"/>
            <a:ext cx="465088" cy="46508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8"/>
          <p:cNvSpPr/>
          <p:nvPr/>
        </p:nvSpPr>
        <p:spPr>
          <a:xfrm>
            <a:off x="1689795" y="7161908"/>
            <a:ext cx="2325738" cy="29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1" i="0" lang="en-US" sz="1812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Sistemas de BI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1689796" y="7564191"/>
            <a:ext cx="8747969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0" i="0" lang="en-US" sz="18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Ferramentas de Business Intelligence consomem dados de diversas fontes via APIs REST padronizadas para análises e dashboards.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992238" y="8517583"/>
            <a:ext cx="9445526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None/>
            </a:pPr>
            <a:r>
              <a:rPr b="0" i="0" lang="en-US" sz="18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APIs bem documentadas são essenciais em qualquer ecossistema digital moderno, conectando sistemas internos e externos de forma eficiente.</a:t>
            </a:r>
            <a:endParaRPr b="0" i="0" sz="1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/>
          <p:nvPr/>
        </p:nvSpPr>
        <p:spPr>
          <a:xfrm>
            <a:off x="975123" y="670323"/>
            <a:ext cx="3961805" cy="49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rPr b="1" i="0" lang="en-US" sz="3063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Links Úteis</a:t>
            </a:r>
            <a:endParaRPr b="0" i="0" sz="30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123" y="1482329"/>
            <a:ext cx="3961805" cy="2448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9"/>
          <p:cNvSpPr/>
          <p:nvPr/>
        </p:nvSpPr>
        <p:spPr>
          <a:xfrm>
            <a:off x="5095280" y="1482330"/>
            <a:ext cx="1980903" cy="2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Swagger/OpenAPI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095281" y="1824781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Documentação oficial e tutoriais para implementação do Swagger em diversos ambientes.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5095281" y="2236589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E30613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https://swagger.io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123" y="4327029"/>
            <a:ext cx="3961805" cy="2448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/>
          <p:nvPr/>
        </p:nvSpPr>
        <p:spPr>
          <a:xfrm>
            <a:off x="5095280" y="4327030"/>
            <a:ext cx="1980903" cy="2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SpringDoc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5095281" y="4669483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Biblioteca para integração do OpenAPI 3 com Spring Boot, com exemplos e guias completos.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5095281" y="5081290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sng" cap="none" strike="noStrike">
                <a:solidFill>
                  <a:srgbClr val="E30613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https://springdoc.org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8" name="Google Shape;47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123" y="7171730"/>
            <a:ext cx="3961805" cy="2448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9"/>
          <p:cNvSpPr/>
          <p:nvPr/>
        </p:nvSpPr>
        <p:spPr>
          <a:xfrm>
            <a:off x="5095280" y="7171731"/>
            <a:ext cx="1980903" cy="2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Spring Boot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5095281" y="7514184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Documentação oficial do Spring Boot com guias e exemplos para criação de APIs REST.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5095281" y="7925991"/>
            <a:ext cx="12217599" cy="31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https://spring.io/projects/spring-boot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2" name="Google Shape;48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30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30"/>
          <p:cNvSpPr txBox="1"/>
          <p:nvPr/>
        </p:nvSpPr>
        <p:spPr>
          <a:xfrm>
            <a:off x="32766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0"/>
          <p:cNvSpPr txBox="1"/>
          <p:nvPr/>
        </p:nvSpPr>
        <p:spPr>
          <a:xfrm>
            <a:off x="6390795" y="2933700"/>
            <a:ext cx="67589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983159" y="2827884"/>
            <a:ext cx="4301729" cy="537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Demonstração Prática</a:t>
            </a:r>
            <a:endParaRPr b="0" i="0" sz="3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983159" y="3881586"/>
            <a:ext cx="8096250" cy="172045"/>
          </a:xfrm>
          <a:prstGeom prst="roundRect">
            <a:avLst>
              <a:gd fmla="val 42007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1155199" y="4236400"/>
            <a:ext cx="39603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1. Acesse o Swagger UI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1155204" y="4597600"/>
            <a:ext cx="7752160" cy="688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0" lang="en-US" sz="2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Navegue até http://localhost:8080/swagger-ui.html em seu navegador para ver todos os endpoints disponíveis da API.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9208443" y="3623519"/>
            <a:ext cx="8096399" cy="172045"/>
          </a:xfrm>
          <a:prstGeom prst="roundRect">
            <a:avLst>
              <a:gd fmla="val 42007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9380488" y="4084493"/>
            <a:ext cx="4156218" cy="1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2. Cadastre um restaurante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1"/>
          <p:cNvSpPr/>
          <p:nvPr/>
        </p:nvSpPr>
        <p:spPr>
          <a:xfrm>
            <a:off x="9380488" y="4339531"/>
            <a:ext cx="7752309" cy="688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Encontre o endpoint POST /api/restaurantes, clique em "Try it out" e preencha o JSON com os dados do novo restaurante: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9380488" y="5844642"/>
            <a:ext cx="7752309" cy="1280058"/>
          </a:xfrm>
          <a:prstGeom prst="roundRect">
            <a:avLst>
              <a:gd fmla="val 3785" name="adj"/>
            </a:avLst>
          </a:prstGeom>
          <a:solidFill>
            <a:srgbClr val="FECD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9372005" y="5470570"/>
            <a:ext cx="7769275" cy="1909168"/>
          </a:xfrm>
          <a:prstGeom prst="roundRect">
            <a:avLst>
              <a:gd fmla="val 1352" name="adj"/>
            </a:avLst>
          </a:prstGeom>
          <a:solidFill>
            <a:srgbClr val="FECD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9544051" y="5599604"/>
            <a:ext cx="7425184" cy="1651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ECDD0"/>
                </a:highlight>
                <a:latin typeface="Consolas"/>
                <a:ea typeface="Consolas"/>
                <a:cs typeface="Consolas"/>
                <a:sym typeface="Consolas"/>
              </a:rPr>
              <a:t>{  "nome": "Cantina Italiana",  "categoria": "Italiana",  "endereco": "Rua das Flores, 123",  "telefone": "11987654321"}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983159" y="7689503"/>
            <a:ext cx="8096250" cy="172045"/>
          </a:xfrm>
          <a:prstGeom prst="roundRect">
            <a:avLst>
              <a:gd fmla="val 42007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1"/>
          <p:cNvSpPr/>
          <p:nvPr/>
        </p:nvSpPr>
        <p:spPr>
          <a:xfrm>
            <a:off x="1155204" y="8033594"/>
            <a:ext cx="5962772" cy="17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3. Liste os restaurantes cadastrados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1155204" y="8405516"/>
            <a:ext cx="7752160" cy="10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0" lang="en-US" sz="2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o endpoint GET /api/restaurantes para verificar se o restaurante foi criado corretamente. Teste os parâmetros de paginação para ver como a API responde.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9208443" y="7431435"/>
            <a:ext cx="8096399" cy="172045"/>
          </a:xfrm>
          <a:prstGeom prst="roundRect">
            <a:avLst>
              <a:gd fmla="val 42007" name="adj"/>
            </a:avLst>
          </a:prstGeom>
          <a:solidFill>
            <a:srgbClr val="FECDD0"/>
          </a:solidFill>
          <a:ln cap="flat" cmpd="sng" w="9525">
            <a:solidFill>
              <a:srgbClr val="E4B3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9380487" y="7775526"/>
            <a:ext cx="3265139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4. Teste validações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9380488" y="8147448"/>
            <a:ext cx="7752309" cy="10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0" lang="en-US" sz="2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Tente cadastrar um restaurante com dados inválidos (por exemplo, nome muito curto) para ver como a API responde com erros de validação.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25" y="2607365"/>
            <a:ext cx="9744075" cy="70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d6558df06_0_0"/>
          <p:cNvSpPr txBox="1"/>
          <p:nvPr/>
        </p:nvSpPr>
        <p:spPr>
          <a:xfrm>
            <a:off x="4734525" y="3727850"/>
            <a:ext cx="9060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AS QUESTÕES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https://gemini.google.com/share/b18e4a6edef9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7" name="Google Shape;527;p33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33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Vamos ao 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493043"/>
            <a:ext cx="5486400" cy="55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7449" y="1383085"/>
            <a:ext cx="3020210" cy="191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4066" y="36957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4066" y="5939081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8709" y="8146677"/>
            <a:ext cx="30289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3"/>
          <p:cNvSpPr txBox="1"/>
          <p:nvPr/>
        </p:nvSpPr>
        <p:spPr>
          <a:xfrm>
            <a:off x="13757659" y="205824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3"/>
          <p:cNvSpPr txBox="1"/>
          <p:nvPr/>
        </p:nvSpPr>
        <p:spPr>
          <a:xfrm>
            <a:off x="13792200" y="403485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3"/>
          <p:cNvSpPr txBox="1"/>
          <p:nvPr/>
        </p:nvSpPr>
        <p:spPr>
          <a:xfrm>
            <a:off x="13792200" y="6570618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3"/>
          <p:cNvSpPr txBox="1"/>
          <p:nvPr/>
        </p:nvSpPr>
        <p:spPr>
          <a:xfrm>
            <a:off x="13792200" y="8611526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3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34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661" y="3238503"/>
            <a:ext cx="9065939" cy="603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35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550" name="Google Shape;550;p35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5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p35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35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554" name="Google Shape;554;p35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5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35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5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5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5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5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5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Francisco Borges</dc:creator>
</cp:coreProperties>
</file>