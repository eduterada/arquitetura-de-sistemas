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10287000" cx="18288000"/>
  <p:notesSz cx="6858000" cy="9144000"/>
  <p:embeddedFontLs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iJgGrOuGzIWapIwMgMkj+Mwd8X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c50c4588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7c50c4588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c50c45887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7c50c45887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c50c45887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7c50c45887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c50c45887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7c50c45887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c50c45887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7c50c45887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c50c45887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7c50c45887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c50c45887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7c50c45887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c50c45887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7c50c45887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c50c45887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7c50c45887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c50c45887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7c50c45887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c50c45887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7c50c45887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c50c45887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37c50c45887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c50c45887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7c50c45887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7c50c45887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7c50c45887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c50c45887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7c50c45887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7c50c4588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7c50c4588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c50c45887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37c50c45887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7c50c45887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37c50c45887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c50c45887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g37c50c45887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c50c45887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7c50c45887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7c50c45887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7c50c45887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c50c45887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7c50c45887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c50c45887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7c50c45887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c50c45887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7c50c45887_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7c50c4588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g37c50c4588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c50c45887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g37c50c45887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c50c45887_0_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g37c50c45887_0_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c50c45887_0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g37c50c45887_0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6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7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8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8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7 master">
  <p:cSld name="Slide 27 master">
    <p:bg>
      <p:bgPr>
        <a:solidFill>
          <a:srgbClr val="00000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8 master">
  <p:cSld name="Slide 28 master"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9 master">
  <p:cSld name="Slide 29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0 master">
  <p:cSld name="Slide 30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1 master">
  <p:cSld name="Slide 31 master"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2 master">
  <p:cSld name="Slide 32 master"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7 master">
  <p:cSld name="Slide 37 master"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8 master">
  <p:cSld name="Slide 38 master"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9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9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9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9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9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9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9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7" name="Google Shape;127;p9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8" name="Google Shape;128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9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4" name="Google Shape;134;p9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5" name="Google Shape;135;p9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6" name="Google Shape;136;p9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7" name="Google Shape;137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9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8" name="Google Shape;148;p9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9" name="Google Shape;149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0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6" name="Google Shape;156;p10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0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0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0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10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0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0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1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10.png"/><Relationship Id="rId10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docker.com/" TargetMode="External"/><Relationship Id="rId4" Type="http://schemas.openxmlformats.org/officeDocument/2006/relationships/hyperlink" Target="https://www.docker.com/" TargetMode="External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docker.com/" TargetMode="External"/><Relationship Id="rId4" Type="http://schemas.openxmlformats.org/officeDocument/2006/relationships/hyperlink" Target="https://www.docker.com/" TargetMode="External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.co/gemini/share/99b99306926d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Relationship Id="rId4" Type="http://schemas.openxmlformats.org/officeDocument/2006/relationships/image" Target="../media/image36.png"/><Relationship Id="rId5" Type="http://schemas.openxmlformats.org/officeDocument/2006/relationships/image" Target="../media/image42.png"/><Relationship Id="rId6" Type="http://schemas.openxmlformats.org/officeDocument/2006/relationships/image" Target="../media/image41.png"/><Relationship Id="rId7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10.png"/><Relationship Id="rId10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176" name="Google Shape;176;p1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"/>
          <p:cNvSpPr/>
          <p:nvPr/>
        </p:nvSpPr>
        <p:spPr>
          <a:xfrm>
            <a:off x="1619507" y="3695872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9" l="0" r="0" t="-46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1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180" name="Google Shape;180;p1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"/>
          <p:cNvSpPr txBox="1"/>
          <p:nvPr/>
        </p:nvSpPr>
        <p:spPr>
          <a:xfrm>
            <a:off x="1619496" y="883379"/>
            <a:ext cx="8143675" cy="1023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27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"/>
          <p:cNvSpPr txBox="1"/>
          <p:nvPr/>
        </p:nvSpPr>
        <p:spPr>
          <a:xfrm>
            <a:off x="1289497" y="2598047"/>
            <a:ext cx="7886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1"/>
              <a:buFont typeface="Arial"/>
              <a:buNone/>
            </a:pPr>
            <a:r>
              <a:rPr b="0" i="0" lang="en-US" sz="27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1160859" y="5222429"/>
            <a:ext cx="8143800" cy="3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Arquitetura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"/>
          <p:cNvSpPr txBox="1"/>
          <p:nvPr/>
        </p:nvSpPr>
        <p:spPr>
          <a:xfrm>
            <a:off x="1828800" y="1714500"/>
            <a:ext cx="1191008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Central de Hoje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3001685" y="4991100"/>
            <a:ext cx="675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1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2088" y="2423476"/>
            <a:ext cx="6758911" cy="675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c50c45887_0_0"/>
          <p:cNvSpPr txBox="1"/>
          <p:nvPr/>
        </p:nvSpPr>
        <p:spPr>
          <a:xfrm>
            <a:off x="0" y="0"/>
            <a:ext cx="11608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/>
              <a:t>Preparando o Ambiente</a:t>
            </a:r>
            <a:endParaRPr b="1" sz="5000"/>
          </a:p>
        </p:txBody>
      </p:sp>
      <p:sp>
        <p:nvSpPr>
          <p:cNvPr id="204" name="Google Shape;204;g37c50c45887_0_0"/>
          <p:cNvSpPr txBox="1"/>
          <p:nvPr/>
        </p:nvSpPr>
        <p:spPr>
          <a:xfrm>
            <a:off x="0" y="1275650"/>
            <a:ext cx="12788100" cy="73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 </a:t>
            </a:r>
            <a:r>
              <a:rPr b="1" lang="en-US" sz="3000">
                <a:solidFill>
                  <a:schemeClr val="dk1"/>
                </a:solidFill>
              </a:rPr>
              <a:t>Docker Engine: O Coração do Docker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O que é?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É a </a:t>
            </a:r>
            <a:r>
              <a:rPr b="1" lang="en-US" sz="2000">
                <a:solidFill>
                  <a:schemeClr val="dk1"/>
                </a:solidFill>
              </a:rPr>
              <a:t>base da tecnologia Docker</a:t>
            </a:r>
            <a:r>
              <a:rPr lang="en-US" sz="2000">
                <a:solidFill>
                  <a:schemeClr val="dk1"/>
                </a:solidFill>
              </a:rPr>
              <a:t>, responsável por criar e executar containers.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Funciona como um </a:t>
            </a:r>
            <a:r>
              <a:rPr b="1" lang="en-US" sz="2000">
                <a:solidFill>
                  <a:schemeClr val="dk1"/>
                </a:solidFill>
              </a:rPr>
              <a:t>serviço em segundo plano (daemon)</a:t>
            </a:r>
            <a:r>
              <a:rPr lang="en-US" sz="2000">
                <a:solidFill>
                  <a:schemeClr val="dk1"/>
                </a:solidFill>
              </a:rPr>
              <a:t>, controlado via </a:t>
            </a:r>
            <a:r>
              <a:rPr b="1" lang="en-US" sz="2000">
                <a:solidFill>
                  <a:schemeClr val="dk1"/>
                </a:solidFill>
              </a:rPr>
              <a:t>linha de comando (CLI)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Componentes principais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Docker Daemon</a:t>
            </a:r>
            <a:r>
              <a:rPr lang="en-US" sz="2000">
                <a:solidFill>
                  <a:schemeClr val="dk1"/>
                </a:solidFill>
              </a:rPr>
              <a:t>: o “motor” que cria e gerencia containers e imagens.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REST API</a:t>
            </a:r>
            <a:r>
              <a:rPr lang="en-US" sz="2000">
                <a:solidFill>
                  <a:schemeClr val="dk1"/>
                </a:solidFill>
              </a:rPr>
              <a:t>: canal de comunicação para ferramentas externas e scripts automatizados.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Docker CLI</a:t>
            </a:r>
            <a:r>
              <a:rPr lang="en-US" sz="2000">
                <a:solidFill>
                  <a:schemeClr val="dk1"/>
                </a:solidFill>
              </a:rPr>
              <a:t>: interface de linha de comando usada pelos desenvolvedores para interagir com o Daemon.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Onde é usado?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Ambientes de servidor</a:t>
            </a:r>
            <a:r>
              <a:rPr lang="en-US" sz="2000">
                <a:solidFill>
                  <a:schemeClr val="dk1"/>
                </a:solidFill>
              </a:rPr>
              <a:t>, especialmente em </a:t>
            </a:r>
            <a:r>
              <a:rPr b="1" lang="en-US" sz="2000">
                <a:solidFill>
                  <a:schemeClr val="dk1"/>
                </a:solidFill>
              </a:rPr>
              <a:t>Linux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É o </a:t>
            </a:r>
            <a:r>
              <a:rPr b="1" lang="en-US" sz="2000">
                <a:solidFill>
                  <a:schemeClr val="dk1"/>
                </a:solidFill>
              </a:rPr>
              <a:t>padrão em produção</a:t>
            </a:r>
            <a:r>
              <a:rPr lang="en-US" sz="2000">
                <a:solidFill>
                  <a:schemeClr val="dk1"/>
                </a:solidFill>
              </a:rPr>
              <a:t>, pois roda de forma mais leve e direta, sem dependência de interface gráfica.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05" name="Google Shape;205;g37c50c4588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8100" y="2291600"/>
            <a:ext cx="5248675" cy="48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c50c45887_0_67"/>
          <p:cNvSpPr txBox="1"/>
          <p:nvPr/>
        </p:nvSpPr>
        <p:spPr>
          <a:xfrm>
            <a:off x="0" y="0"/>
            <a:ext cx="12709200" cy="82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 </a:t>
            </a:r>
            <a:r>
              <a:rPr b="1" lang="en-US" sz="4000">
                <a:solidFill>
                  <a:schemeClr val="dk1"/>
                </a:solidFill>
              </a:rPr>
              <a:t>Docker Desktop: Tudo em um só pacote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O que é?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Uma </a:t>
            </a:r>
            <a:r>
              <a:rPr b="1" lang="en-US" sz="2000">
                <a:solidFill>
                  <a:schemeClr val="dk1"/>
                </a:solidFill>
              </a:rPr>
              <a:t>aplicação completa</a:t>
            </a:r>
            <a:r>
              <a:rPr lang="en-US" sz="2000">
                <a:solidFill>
                  <a:schemeClr val="dk1"/>
                </a:solidFill>
              </a:rPr>
              <a:t> para </a:t>
            </a:r>
            <a:r>
              <a:rPr b="1" lang="en-US" sz="2000">
                <a:solidFill>
                  <a:schemeClr val="dk1"/>
                </a:solidFill>
              </a:rPr>
              <a:t>Windows, macOS e Linux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Reúne o </a:t>
            </a:r>
            <a:r>
              <a:rPr b="1" lang="en-US" sz="2000">
                <a:solidFill>
                  <a:schemeClr val="dk1"/>
                </a:solidFill>
              </a:rPr>
              <a:t>Docker Engine</a:t>
            </a:r>
            <a:r>
              <a:rPr lang="en-US" sz="2000">
                <a:solidFill>
                  <a:schemeClr val="dk1"/>
                </a:solidFill>
              </a:rPr>
              <a:t> e outras ferramentas em um único instalador fácil de usar.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O que vem incluso?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Docker Engine</a:t>
            </a:r>
            <a:r>
              <a:rPr lang="en-US" sz="2000">
                <a:solidFill>
                  <a:schemeClr val="dk1"/>
                </a:solidFill>
              </a:rPr>
              <a:t> → o “motor” que executa os containers.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Docker CLI</a:t>
            </a:r>
            <a:r>
              <a:rPr lang="en-US" sz="2000">
                <a:solidFill>
                  <a:schemeClr val="dk1"/>
                </a:solidFill>
              </a:rPr>
              <a:t> → comandos para interagir com o Engine.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Docker Compose</a:t>
            </a:r>
            <a:r>
              <a:rPr lang="en-US" sz="2000">
                <a:solidFill>
                  <a:schemeClr val="dk1"/>
                </a:solidFill>
              </a:rPr>
              <a:t> → ferramenta para orquestrar múltiplos containers.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Interface Gráfica (GUI)</a:t>
            </a:r>
            <a:r>
              <a:rPr lang="en-US" sz="2000">
                <a:solidFill>
                  <a:schemeClr val="dk1"/>
                </a:solidFill>
              </a:rPr>
              <a:t> → painel visual para gerenciar containers, imagens e volumes.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Onde é usado?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Ambientes de desenvolvimento local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Ideal para estudantes, devs e equipes que querem </a:t>
            </a:r>
            <a:r>
              <a:rPr b="1" lang="en-US" sz="2000">
                <a:solidFill>
                  <a:schemeClr val="dk1"/>
                </a:solidFill>
              </a:rPr>
              <a:t>rapidez na configuração</a:t>
            </a:r>
            <a:r>
              <a:rPr lang="en-US" sz="2000">
                <a:solidFill>
                  <a:schemeClr val="dk1"/>
                </a:solidFill>
              </a:rPr>
              <a:t> sem complicações técnicas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11" name="Google Shape;211;g37c50c45887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9200" y="1552325"/>
            <a:ext cx="5426400" cy="5365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c50c45887_0_64"/>
          <p:cNvSpPr txBox="1"/>
          <p:nvPr/>
        </p:nvSpPr>
        <p:spPr>
          <a:xfrm>
            <a:off x="0" y="0"/>
            <a:ext cx="104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Instalação do Docker no Windows</a:t>
            </a:r>
            <a:endParaRPr b="1" sz="3000"/>
          </a:p>
        </p:txBody>
      </p:sp>
      <p:sp>
        <p:nvSpPr>
          <p:cNvPr id="217" name="Google Shape;217;g37c50c45887_0_64"/>
          <p:cNvSpPr txBox="1"/>
          <p:nvPr/>
        </p:nvSpPr>
        <p:spPr>
          <a:xfrm>
            <a:off x="0" y="1116800"/>
            <a:ext cx="10428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Pré-requisito obrigatório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WSL 2 (Windows Subsystem for Linux)</a:t>
            </a:r>
            <a:br>
              <a:rPr b="1" lang="en-US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Permite rodar um </a:t>
            </a:r>
            <a:r>
              <a:rPr b="1" lang="en-US" sz="2000">
                <a:solidFill>
                  <a:schemeClr val="dk1"/>
                </a:solidFill>
              </a:rPr>
              <a:t>kernel Linux nativo dentro do Windows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Garante </a:t>
            </a:r>
            <a:r>
              <a:rPr b="1" lang="en-US" sz="2000">
                <a:solidFill>
                  <a:schemeClr val="dk1"/>
                </a:solidFill>
              </a:rPr>
              <a:t>melhor performance</a:t>
            </a:r>
            <a:r>
              <a:rPr lang="en-US" sz="2000">
                <a:solidFill>
                  <a:schemeClr val="dk1"/>
                </a:solidFill>
              </a:rPr>
              <a:t> para containers.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Ativação: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Abra o </a:t>
            </a:r>
            <a:r>
              <a:rPr b="1" lang="en-US" sz="2000">
                <a:solidFill>
                  <a:schemeClr val="dk1"/>
                </a:solidFill>
              </a:rPr>
              <a:t>PowerShell como Administrador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Execute o comando: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18" name="Google Shape;218;g37c50c45887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63800"/>
            <a:ext cx="7457125" cy="19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7c50c45887_0_64"/>
          <p:cNvSpPr txBox="1"/>
          <p:nvPr/>
        </p:nvSpPr>
        <p:spPr>
          <a:xfrm>
            <a:off x="0" y="7875525"/>
            <a:ext cx="784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3. </a:t>
            </a:r>
            <a:r>
              <a:rPr b="1" lang="en-US" sz="2000"/>
              <a:t>Reinicie o computador para concluir a ativação.</a:t>
            </a:r>
            <a:endParaRPr b="1" sz="2000"/>
          </a:p>
        </p:txBody>
      </p:sp>
      <p:pic>
        <p:nvPicPr>
          <p:cNvPr id="220" name="Google Shape;220;g37c50c45887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81000" y="152400"/>
            <a:ext cx="7707000" cy="8585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c50c45887_0_61"/>
          <p:cNvSpPr txBox="1"/>
          <p:nvPr/>
        </p:nvSpPr>
        <p:spPr>
          <a:xfrm>
            <a:off x="267400" y="-12900"/>
            <a:ext cx="8855700" cy="10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</a:rPr>
              <a:t> Instalação do Docker Desktop</a:t>
            </a:r>
            <a:endParaRPr b="1" sz="4000">
              <a:solidFill>
                <a:schemeClr val="dk1"/>
              </a:solidFill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AutoNum type="arabicPeriod"/>
            </a:pPr>
            <a:r>
              <a:rPr lang="en-US" sz="4000">
                <a:solidFill>
                  <a:schemeClr val="dk1"/>
                </a:solidFill>
              </a:rPr>
              <a:t>Acesse o site oficial:</a:t>
            </a:r>
            <a:r>
              <a:rPr lang="en-US" sz="40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sz="4000" u="sng">
                <a:solidFill>
                  <a:schemeClr val="hlink"/>
                </a:solidFill>
                <a:hlinkClick r:id="rId4"/>
              </a:rPr>
              <a:t>docker.com</a:t>
            </a:r>
            <a:r>
              <a:rPr lang="en-US" sz="4000">
                <a:solidFill>
                  <a:schemeClr val="dk1"/>
                </a:solidFill>
              </a:rPr>
              <a:t>.</a:t>
            </a:r>
            <a:br>
              <a:rPr lang="en-US" sz="4000">
                <a:solidFill>
                  <a:schemeClr val="dk1"/>
                </a:solidFill>
              </a:rPr>
            </a:br>
            <a:endParaRPr sz="4000">
              <a:solidFill>
                <a:schemeClr val="dk1"/>
              </a:solidFill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AutoNum type="arabicPeriod"/>
            </a:pPr>
            <a:r>
              <a:rPr lang="en-US" sz="4000">
                <a:solidFill>
                  <a:schemeClr val="dk1"/>
                </a:solidFill>
              </a:rPr>
              <a:t>Baixe o </a:t>
            </a:r>
            <a:r>
              <a:rPr b="1" lang="en-US" sz="4000">
                <a:solidFill>
                  <a:schemeClr val="dk1"/>
                </a:solidFill>
              </a:rPr>
              <a:t>instalador do Docker Desktop</a:t>
            </a:r>
            <a:r>
              <a:rPr lang="en-US" sz="4000">
                <a:solidFill>
                  <a:schemeClr val="dk1"/>
                </a:solidFill>
              </a:rPr>
              <a:t> para Windows.</a:t>
            </a:r>
            <a:br>
              <a:rPr lang="en-US" sz="4000">
                <a:solidFill>
                  <a:schemeClr val="dk1"/>
                </a:solidFill>
              </a:rPr>
            </a:br>
            <a:endParaRPr sz="4000">
              <a:solidFill>
                <a:schemeClr val="dk1"/>
              </a:solidFill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AutoNum type="arabicPeriod"/>
            </a:pPr>
            <a:r>
              <a:rPr lang="en-US" sz="4000">
                <a:solidFill>
                  <a:schemeClr val="dk1"/>
                </a:solidFill>
              </a:rPr>
              <a:t>Durante a instalação, </a:t>
            </a:r>
            <a:r>
              <a:rPr b="1" lang="en-US" sz="4000">
                <a:solidFill>
                  <a:schemeClr val="dk1"/>
                </a:solidFill>
              </a:rPr>
              <a:t>mantenha</a:t>
            </a:r>
            <a:r>
              <a:rPr b="1" lang="en-US" sz="4000">
                <a:solidFill>
                  <a:schemeClr val="dk1"/>
                </a:solidFill>
              </a:rPr>
              <a:t> m</a:t>
            </a:r>
            <a:r>
              <a:rPr b="1" lang="en-US" sz="4000">
                <a:solidFill>
                  <a:schemeClr val="dk1"/>
                </a:solidFill>
              </a:rPr>
              <a:t>arcada a opção de usar o backend WSL 2</a:t>
            </a:r>
            <a:r>
              <a:rPr lang="en-US" sz="4000">
                <a:solidFill>
                  <a:schemeClr val="dk1"/>
                </a:solidFill>
              </a:rPr>
              <a:t>.</a:t>
            </a:r>
            <a:br>
              <a:rPr lang="en-US" sz="4000">
                <a:solidFill>
                  <a:schemeClr val="dk1"/>
                </a:solidFill>
              </a:rPr>
            </a:br>
            <a:endParaRPr sz="4000">
              <a:solidFill>
                <a:schemeClr val="dk1"/>
              </a:solidFill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AutoNum type="arabicPeriod"/>
            </a:pPr>
            <a:r>
              <a:rPr lang="en-US" sz="4000">
                <a:solidFill>
                  <a:schemeClr val="dk1"/>
                </a:solidFill>
              </a:rPr>
              <a:t>Finalize e abra o Docker Desktop.</a:t>
            </a:r>
            <a:br>
              <a:rPr lang="en-US" sz="4000">
                <a:solidFill>
                  <a:schemeClr val="dk1"/>
                </a:solidFill>
              </a:rPr>
            </a:b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O </a:t>
            </a:r>
            <a:r>
              <a:rPr b="1" lang="en-US" sz="4000">
                <a:solidFill>
                  <a:schemeClr val="dk1"/>
                </a:solidFill>
              </a:rPr>
              <a:t>Docker inicia automaticamente</a:t>
            </a:r>
            <a:r>
              <a:rPr lang="en-US" sz="4000">
                <a:solidFill>
                  <a:schemeClr val="dk1"/>
                </a:solidFill>
              </a:rPr>
              <a:t> após a instalação.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226" name="Google Shape;226;g37c50c45887_0_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27900" y="1725325"/>
            <a:ext cx="8860099" cy="4308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c50c45887_0_58"/>
          <p:cNvSpPr txBox="1"/>
          <p:nvPr/>
        </p:nvSpPr>
        <p:spPr>
          <a:xfrm>
            <a:off x="0" y="0"/>
            <a:ext cx="12583500" cy="9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Instalação do Docker no macOS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Pré-requisitos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Usar uma </a:t>
            </a:r>
            <a:r>
              <a:rPr b="1" lang="en-US" sz="1800">
                <a:solidFill>
                  <a:schemeClr val="dk1"/>
                </a:solidFill>
              </a:rPr>
              <a:t>versão do macOS compatível</a:t>
            </a:r>
            <a:r>
              <a:rPr lang="en-US" sz="1800">
                <a:solidFill>
                  <a:schemeClr val="dk1"/>
                </a:solidFill>
              </a:rPr>
              <a:t> (confira a documentação oficial).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Verificar a </a:t>
            </a:r>
            <a:r>
              <a:rPr b="1" lang="en-US" sz="1800">
                <a:solidFill>
                  <a:schemeClr val="dk1"/>
                </a:solidFill>
              </a:rPr>
              <a:t>arquitetura do processador</a:t>
            </a:r>
            <a:r>
              <a:rPr lang="en-US" sz="1800">
                <a:solidFill>
                  <a:schemeClr val="dk1"/>
                </a:solidFill>
              </a:rPr>
              <a:t>: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US" sz="1800">
                <a:solidFill>
                  <a:schemeClr val="dk1"/>
                </a:solidFill>
              </a:rPr>
              <a:t>Apple Silicon (M1/M2)</a:t>
            </a:r>
            <a:br>
              <a:rPr b="1" lang="en-U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US" sz="1800">
                <a:solidFill>
                  <a:schemeClr val="dk1"/>
                </a:solidFill>
              </a:rPr>
              <a:t>Intel</a:t>
            </a:r>
            <a:br>
              <a:rPr b="1" lang="en-U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Instalação do Docker Desktop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Acesse o site oficial: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sz="1800" u="sng">
                <a:solidFill>
                  <a:schemeClr val="hlink"/>
                </a:solidFill>
                <a:hlinkClick r:id="rId4"/>
              </a:rPr>
              <a:t>docker.com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Baixe o </a:t>
            </a:r>
            <a:r>
              <a:rPr b="1" lang="en-US" sz="1800">
                <a:solidFill>
                  <a:schemeClr val="dk1"/>
                </a:solidFill>
              </a:rPr>
              <a:t>instalador correspondente à sua arquitetura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Abra o arquivo </a:t>
            </a:r>
            <a:r>
              <a:rPr b="1"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.dmg</a:t>
            </a:r>
            <a:r>
              <a:rPr lang="en-US" sz="1800">
                <a:solidFill>
                  <a:schemeClr val="dk1"/>
                </a:solidFill>
              </a:rPr>
              <a:t> baixado.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Arraste o aplicativo Docker</a:t>
            </a:r>
            <a:r>
              <a:rPr lang="en-US" sz="1800">
                <a:solidFill>
                  <a:schemeClr val="dk1"/>
                </a:solidFill>
              </a:rPr>
              <a:t> para a pasta </a:t>
            </a:r>
            <a:r>
              <a:rPr b="1" lang="en-US" sz="1800">
                <a:solidFill>
                  <a:schemeClr val="dk1"/>
                </a:solidFill>
              </a:rPr>
              <a:t>“Aplicativos”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Primeira execução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Ao abrir o Docker pela primeira vez: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Conceda as </a:t>
            </a:r>
            <a:r>
              <a:rPr b="1" lang="en-US" sz="1800">
                <a:solidFill>
                  <a:schemeClr val="dk1"/>
                </a:solidFill>
              </a:rPr>
              <a:t>permissões solicitadas pelo sistema</a:t>
            </a:r>
            <a:r>
              <a:rPr lang="en-US" sz="1800">
                <a:solidFill>
                  <a:schemeClr val="dk1"/>
                </a:solidFill>
              </a:rPr>
              <a:t> (rede, arquivos, etc.).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O Docker Desktop será iniciado automaticamente após a configuração.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32" name="Google Shape;232;g37c50c45887_0_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13375" y="1048975"/>
            <a:ext cx="8939074" cy="698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c50c45887_0_55"/>
          <p:cNvSpPr txBox="1"/>
          <p:nvPr/>
        </p:nvSpPr>
        <p:spPr>
          <a:xfrm>
            <a:off x="0" y="0"/>
            <a:ext cx="18288000" cy="5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Verificação da Instalação do Docker</a:t>
            </a:r>
            <a:endParaRPr b="1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Objetivo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Garantir que o </a:t>
            </a:r>
            <a:r>
              <a:rPr b="1" lang="en-US" sz="2000">
                <a:solidFill>
                  <a:schemeClr val="dk1"/>
                </a:solidFill>
              </a:rPr>
              <a:t>Docker Engine</a:t>
            </a:r>
            <a:r>
              <a:rPr lang="en-US" sz="2000">
                <a:solidFill>
                  <a:schemeClr val="dk1"/>
                </a:solidFill>
              </a:rPr>
              <a:t> está instalado corretamente e funcionando.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Procedimento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Abra um </a:t>
            </a:r>
            <a:r>
              <a:rPr b="1" lang="en-US" sz="2000">
                <a:solidFill>
                  <a:schemeClr val="dk1"/>
                </a:solidFill>
              </a:rPr>
              <a:t>terminal</a:t>
            </a:r>
            <a:r>
              <a:rPr lang="en-US" sz="2000">
                <a:solidFill>
                  <a:schemeClr val="dk1"/>
                </a:solidFill>
              </a:rPr>
              <a:t>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Windows → PowerShell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macOS/Linux → Terminal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Execute o comando: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38" name="Google Shape;238;g37c50c45887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71700"/>
            <a:ext cx="7908700" cy="2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7c50c45887_0_55"/>
          <p:cNvSpPr txBox="1"/>
          <p:nvPr/>
        </p:nvSpPr>
        <p:spPr>
          <a:xfrm>
            <a:off x="10003900" y="566250"/>
            <a:ext cx="8037600" cy="8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2400">
                <a:solidFill>
                  <a:schemeClr val="dk1"/>
                </a:solidFill>
              </a:rPr>
              <a:t>O que acontece por trás dos panos?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O </a:t>
            </a:r>
            <a:r>
              <a:rPr b="1" lang="en-US" sz="2400">
                <a:solidFill>
                  <a:schemeClr val="dk1"/>
                </a:solidFill>
              </a:rPr>
              <a:t>cliente Docker (CLI)</a:t>
            </a:r>
            <a:r>
              <a:rPr lang="en-US" sz="2400">
                <a:solidFill>
                  <a:schemeClr val="dk1"/>
                </a:solidFill>
              </a:rPr>
              <a:t> envia o comando ao </a:t>
            </a:r>
            <a:r>
              <a:rPr b="1" lang="en-US" sz="2400">
                <a:solidFill>
                  <a:schemeClr val="dk1"/>
                </a:solidFill>
              </a:rPr>
              <a:t>Docker Daemon</a:t>
            </a:r>
            <a:r>
              <a:rPr lang="en-US" sz="2400">
                <a:solidFill>
                  <a:schemeClr val="dk1"/>
                </a:solidFill>
              </a:rPr>
              <a:t>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O Daemon verifica se a imagem </a:t>
            </a: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hello-world</a:t>
            </a:r>
            <a:r>
              <a:rPr lang="en-US" sz="2400">
                <a:solidFill>
                  <a:schemeClr val="dk1"/>
                </a:solidFill>
              </a:rPr>
              <a:t> já existe localmente.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Se não existir, ele </a:t>
            </a:r>
            <a:r>
              <a:rPr b="1" lang="en-US" sz="2400">
                <a:solidFill>
                  <a:schemeClr val="dk1"/>
                </a:solidFill>
              </a:rPr>
              <a:t>baixa a imagem do Docker Hub</a:t>
            </a:r>
            <a:r>
              <a:rPr lang="en-US" sz="2400">
                <a:solidFill>
                  <a:schemeClr val="dk1"/>
                </a:solidFill>
              </a:rPr>
              <a:t> (repositório padrão).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Cria e inicia um </a:t>
            </a:r>
            <a:r>
              <a:rPr b="1" lang="en-US" sz="2400">
                <a:solidFill>
                  <a:schemeClr val="dk1"/>
                </a:solidFill>
              </a:rPr>
              <a:t>novo contêiner</a:t>
            </a:r>
            <a:r>
              <a:rPr lang="en-US" sz="2400">
                <a:solidFill>
                  <a:schemeClr val="dk1"/>
                </a:solidFill>
              </a:rPr>
              <a:t> baseado nessa imagem.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O contêiner </a:t>
            </a:r>
            <a:r>
              <a:rPr b="1" lang="en-US" sz="2400">
                <a:solidFill>
                  <a:schemeClr val="dk1"/>
                </a:solidFill>
              </a:rPr>
              <a:t>executa sua tarefa</a:t>
            </a:r>
            <a:r>
              <a:rPr lang="en-US" sz="2400">
                <a:solidFill>
                  <a:schemeClr val="dk1"/>
                </a:solidFill>
              </a:rPr>
              <a:t>: exibir uma mensagem de sucesso.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Em seguida, o contêiner </a:t>
            </a:r>
            <a:r>
              <a:rPr b="1" lang="en-US" sz="2400">
                <a:solidFill>
                  <a:schemeClr val="dk1"/>
                </a:solidFill>
              </a:rPr>
              <a:t>é finalizado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c50c45887_0_52"/>
          <p:cNvSpPr txBox="1"/>
          <p:nvPr/>
        </p:nvSpPr>
        <p:spPr>
          <a:xfrm>
            <a:off x="0" y="0"/>
            <a:ext cx="13432800" cy="103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O Desafio da Consistência de Ambientes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🔹 O Problema Histórico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 famosa frase: </a:t>
            </a:r>
            <a:r>
              <a:rPr b="1" lang="en-US" sz="2000">
                <a:solidFill>
                  <a:schemeClr val="dk1"/>
                </a:solidFill>
              </a:rPr>
              <a:t>“Funciona na minha máquina”</a:t>
            </a:r>
            <a:r>
              <a:rPr lang="en-US" sz="2000">
                <a:solidFill>
                  <a:schemeClr val="dk1"/>
                </a:solidFill>
              </a:rPr>
              <a:t> 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Surge quando a aplicação roda no computador do desenvolvedor, mas </a:t>
            </a:r>
            <a:r>
              <a:rPr b="1" lang="en-US" sz="2000">
                <a:solidFill>
                  <a:schemeClr val="dk1"/>
                </a:solidFill>
              </a:rPr>
              <a:t>falha em teste ou produção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🔹 Principais Causas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Diferenças de ambiente</a:t>
            </a:r>
            <a:r>
              <a:rPr lang="en-US" sz="2000">
                <a:solidFill>
                  <a:schemeClr val="dk1"/>
                </a:solidFill>
              </a:rPr>
              <a:t>: dev ≠ teste ≠ produção.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Versões conflitantes</a:t>
            </a:r>
            <a:r>
              <a:rPr lang="en-US" sz="2000">
                <a:solidFill>
                  <a:schemeClr val="dk1"/>
                </a:solidFill>
              </a:rPr>
              <a:t> de bibliotecas e dependências.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Configurações distintas</a:t>
            </a:r>
            <a:r>
              <a:rPr lang="en-US" sz="2000">
                <a:solidFill>
                  <a:schemeClr val="dk1"/>
                </a:solidFill>
              </a:rPr>
              <a:t> de sistema operacional.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Variáveis de ambiente</a:t>
            </a:r>
            <a:r>
              <a:rPr lang="en-US" sz="2000">
                <a:solidFill>
                  <a:schemeClr val="dk1"/>
                </a:solidFill>
              </a:rPr>
              <a:t> divergentes entre equipes ou servidores.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🔹 A Necessidade Arquitetural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Criar um </a:t>
            </a:r>
            <a:r>
              <a:rPr b="1" lang="en-US" sz="2000">
                <a:solidFill>
                  <a:schemeClr val="dk1"/>
                </a:solidFill>
              </a:rPr>
              <a:t>padrão de empacotamento e execução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Garantir: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US" sz="2000">
                <a:solidFill>
                  <a:schemeClr val="dk1"/>
                </a:solidFill>
              </a:rPr>
              <a:t>Isolamento</a:t>
            </a:r>
            <a:r>
              <a:rPr lang="en-US" sz="2000">
                <a:solidFill>
                  <a:schemeClr val="dk1"/>
                </a:solidFill>
              </a:rPr>
              <a:t> → cada aplicação roda em seu próprio espaço.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US" sz="2000">
                <a:solidFill>
                  <a:schemeClr val="dk1"/>
                </a:solidFill>
              </a:rPr>
              <a:t>Portabilidade</a:t>
            </a:r>
            <a:r>
              <a:rPr lang="en-US" sz="2000">
                <a:solidFill>
                  <a:schemeClr val="dk1"/>
                </a:solidFill>
              </a:rPr>
              <a:t> → “o que roda aqui, roda em qualquer lugar”.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c50c45887_0_49"/>
          <p:cNvSpPr txBox="1"/>
          <p:nvPr/>
        </p:nvSpPr>
        <p:spPr>
          <a:xfrm>
            <a:off x="0" y="0"/>
            <a:ext cx="8604000" cy="10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Virtualização de Hardware (VMs)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🔹 Conceito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Uma </a:t>
            </a:r>
            <a:r>
              <a:rPr b="1" lang="en-US" sz="1800">
                <a:solidFill>
                  <a:schemeClr val="dk1"/>
                </a:solidFill>
              </a:rPr>
              <a:t>Máquina Virtual (VM)</a:t>
            </a:r>
            <a:r>
              <a:rPr lang="en-US" sz="1800">
                <a:solidFill>
                  <a:schemeClr val="dk1"/>
                </a:solidFill>
              </a:rPr>
              <a:t> emula um </a:t>
            </a:r>
            <a:r>
              <a:rPr b="1" lang="en-US" sz="1800">
                <a:solidFill>
                  <a:schemeClr val="dk1"/>
                </a:solidFill>
              </a:rPr>
              <a:t>computador completo</a:t>
            </a:r>
            <a:r>
              <a:rPr lang="en-US" sz="1800">
                <a:solidFill>
                  <a:schemeClr val="dk1"/>
                </a:solidFill>
              </a:rPr>
              <a:t>, incluindo </a:t>
            </a:r>
            <a:r>
              <a:rPr b="1" lang="en-US" sz="1800">
                <a:solidFill>
                  <a:schemeClr val="dk1"/>
                </a:solidFill>
              </a:rPr>
              <a:t>hardware, sistema operacional e aplicações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Cada VM roda como se fosse um computador independente.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Arquitetura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Fluxo simplificado: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1" lang="en-US" sz="1800">
                <a:solidFill>
                  <a:schemeClr val="dk1"/>
                </a:solidFill>
              </a:rPr>
              <a:t>Hardware Físico → SO Host → Hypervisor → SO Convidado → Bibliotecas → Aplicação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</a:rPr>
              <a:t>(o Hypervisor é o responsável por criar e gerenciar as VMs)</a:t>
            </a:r>
            <a:endParaRPr i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Características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1" lang="en-US" sz="1800">
                <a:solidFill>
                  <a:schemeClr val="dk1"/>
                </a:solidFill>
              </a:rPr>
              <a:t>Prós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Isolamento total</a:t>
            </a:r>
            <a:r>
              <a:rPr lang="en-US" sz="1800">
                <a:solidFill>
                  <a:schemeClr val="dk1"/>
                </a:solidFill>
              </a:rPr>
              <a:t> → cada VM tem seu próprio kernel.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Segurança robusta</a:t>
            </a:r>
            <a:r>
              <a:rPr lang="en-US" sz="1800">
                <a:solidFill>
                  <a:schemeClr val="dk1"/>
                </a:solidFill>
              </a:rPr>
              <a:t> → falhas em uma VM não afetam as outras.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1" lang="en-US" sz="1800">
                <a:solidFill>
                  <a:schemeClr val="dk1"/>
                </a:solidFill>
              </a:rPr>
              <a:t>Contras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Alto consumo de recursos</a:t>
            </a:r>
            <a:r>
              <a:rPr lang="en-US" sz="1800">
                <a:solidFill>
                  <a:schemeClr val="dk1"/>
                </a:solidFill>
              </a:rPr>
              <a:t> (CPU, RAM, disco).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Inicialização lenta</a:t>
            </a:r>
            <a:r>
              <a:rPr lang="en-US" sz="1800">
                <a:solidFill>
                  <a:schemeClr val="dk1"/>
                </a:solidFill>
              </a:rPr>
              <a:t> (boot completo do SO).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Imagens pesadas</a:t>
            </a:r>
            <a:r>
              <a:rPr lang="en-US" sz="1800">
                <a:solidFill>
                  <a:schemeClr val="dk1"/>
                </a:solidFill>
              </a:rPr>
              <a:t> (vários GBs).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50" name="Google Shape;250;g37c50c45887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8495" y="4209200"/>
            <a:ext cx="9101700" cy="5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7c50c45887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22275" y="378675"/>
            <a:ext cx="3207625" cy="320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c50c45887_0_46"/>
          <p:cNvSpPr txBox="1"/>
          <p:nvPr/>
        </p:nvSpPr>
        <p:spPr>
          <a:xfrm>
            <a:off x="0" y="0"/>
            <a:ext cx="8667000" cy="9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Virtualização a Nível de SO (Contêineres)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 Conceito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Contêineres isolam processos</a:t>
            </a:r>
            <a:r>
              <a:rPr lang="en-US" sz="1700">
                <a:solidFill>
                  <a:schemeClr val="dk1"/>
                </a:solidFill>
              </a:rPr>
              <a:t> dentro do mesmo sistema operacional.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Todos compartilham o </a:t>
            </a:r>
            <a:r>
              <a:rPr b="1" lang="en-US" sz="1700">
                <a:solidFill>
                  <a:schemeClr val="dk1"/>
                </a:solidFill>
              </a:rPr>
              <a:t>kernel do SO Host</a:t>
            </a:r>
            <a:r>
              <a:rPr lang="en-US" sz="1700">
                <a:solidFill>
                  <a:schemeClr val="dk1"/>
                </a:solidFill>
              </a:rPr>
              <a:t>, mas mantêm suas próprias bibliotecas e dependências.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 Arquitetura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Fluxo simplificado:</a:t>
            </a:r>
            <a:br>
              <a:rPr lang="en-US" sz="1700">
                <a:solidFill>
                  <a:schemeClr val="dk1"/>
                </a:solidFill>
              </a:rPr>
            </a:br>
            <a:r>
              <a:rPr lang="en-US" sz="1700">
                <a:solidFill>
                  <a:schemeClr val="dk1"/>
                </a:solidFill>
              </a:rPr>
              <a:t> </a:t>
            </a:r>
            <a:r>
              <a:rPr b="1" lang="en-US" sz="1700">
                <a:solidFill>
                  <a:schemeClr val="dk1"/>
                </a:solidFill>
              </a:rPr>
              <a:t>Hardware Físico → SO Host → Container Engine (ex.: Docker) → [(Bibliotecas → App A), (Bibliotecas → App B)]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chemeClr val="dk1"/>
                </a:solidFill>
              </a:rPr>
              <a:t>(cada contêiner tem apenas o necessário para sua aplicação, sem replicar um SO inteiro)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Características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Prós</a:t>
            </a:r>
            <a:endParaRPr b="1" sz="20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Leves</a:t>
            </a:r>
            <a:r>
              <a:rPr lang="en-US" sz="1700">
                <a:solidFill>
                  <a:schemeClr val="dk1"/>
                </a:solidFill>
              </a:rPr>
              <a:t> → imagens em MBs (vs. GBs em VMs).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Início quase instantâneo</a:t>
            </a:r>
            <a:r>
              <a:rPr lang="en-US" sz="1700">
                <a:solidFill>
                  <a:schemeClr val="dk1"/>
                </a:solidFill>
              </a:rPr>
              <a:t> → não precisam dar boot em um SO.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Alta densidade</a:t>
            </a:r>
            <a:r>
              <a:rPr lang="en-US" sz="1700">
                <a:solidFill>
                  <a:schemeClr val="dk1"/>
                </a:solidFill>
              </a:rPr>
              <a:t> → muitos contêineres por host.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Portabilidade</a:t>
            </a:r>
            <a:r>
              <a:rPr lang="en-US" sz="1700">
                <a:solidFill>
                  <a:schemeClr val="dk1"/>
                </a:solidFill>
              </a:rPr>
              <a:t> → “roda em qualquer lugar que tenha Docker”.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 </a:t>
            </a:r>
            <a:r>
              <a:rPr b="1" lang="en-US" sz="2100">
                <a:solidFill>
                  <a:schemeClr val="dk1"/>
                </a:solidFill>
              </a:rPr>
              <a:t>Contras</a:t>
            </a:r>
            <a:endParaRPr b="1" sz="21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Isolamento menos rígido</a:t>
            </a:r>
            <a:r>
              <a:rPr lang="en-US" sz="1700">
                <a:solidFill>
                  <a:schemeClr val="dk1"/>
                </a:solidFill>
              </a:rPr>
              <a:t> que VMs (compartilham o kernel).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57" name="Google Shape;257;g37c50c45887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000" y="3644300"/>
            <a:ext cx="87153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7c50c45887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78425" y="0"/>
            <a:ext cx="3207625" cy="320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g37c50c45887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513" y="2307325"/>
            <a:ext cx="14246976" cy="64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7c50c45887_0_43"/>
          <p:cNvSpPr txBox="1"/>
          <p:nvPr/>
        </p:nvSpPr>
        <p:spPr>
          <a:xfrm>
            <a:off x="0" y="0"/>
            <a:ext cx="17255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/>
              <a:t>Comparativo Direto: VM vs. Contêiner</a:t>
            </a:r>
            <a:endParaRPr b="1" sz="5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c50c45887_0_40"/>
          <p:cNvSpPr txBox="1"/>
          <p:nvPr/>
        </p:nvSpPr>
        <p:spPr>
          <a:xfrm>
            <a:off x="0" y="0"/>
            <a:ext cx="9878100" cy="5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</a:rPr>
              <a:t>O que é o Docker?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Definição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Docker</a:t>
            </a:r>
            <a:r>
              <a:rPr lang="en-US" sz="2000">
                <a:solidFill>
                  <a:schemeClr val="dk1"/>
                </a:solidFill>
              </a:rPr>
              <a:t> é uma </a:t>
            </a:r>
            <a:r>
              <a:rPr b="1" lang="en-US" sz="2000">
                <a:solidFill>
                  <a:schemeClr val="dk1"/>
                </a:solidFill>
              </a:rPr>
              <a:t>plataforma de software open source</a:t>
            </a:r>
            <a:r>
              <a:rPr lang="en-US" sz="2000">
                <a:solidFill>
                  <a:schemeClr val="dk1"/>
                </a:solidFill>
              </a:rPr>
              <a:t> que facilita: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US" sz="2000">
                <a:solidFill>
                  <a:schemeClr val="dk1"/>
                </a:solidFill>
              </a:rPr>
              <a:t>Implantação</a:t>
            </a:r>
            <a:r>
              <a:rPr lang="en-US" sz="2000">
                <a:solidFill>
                  <a:schemeClr val="dk1"/>
                </a:solidFill>
              </a:rPr>
              <a:t> de aplicações.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US" sz="2000">
                <a:solidFill>
                  <a:schemeClr val="dk1"/>
                </a:solidFill>
              </a:rPr>
              <a:t>Escalonamento</a:t>
            </a:r>
            <a:r>
              <a:rPr lang="en-US" sz="2000">
                <a:solidFill>
                  <a:schemeClr val="dk1"/>
                </a:solidFill>
              </a:rPr>
              <a:t> (executar em diferentes ambientes e com mais instâncias).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US" sz="2000">
                <a:solidFill>
                  <a:schemeClr val="dk1"/>
                </a:solidFill>
              </a:rPr>
              <a:t>Gerenciamento</a:t>
            </a:r>
            <a:r>
              <a:rPr lang="en-US" sz="2000">
                <a:solidFill>
                  <a:schemeClr val="dk1"/>
                </a:solidFill>
              </a:rPr>
              <a:t> de aplicações em </a:t>
            </a:r>
            <a:r>
              <a:rPr b="1" lang="en-US" sz="2000">
                <a:solidFill>
                  <a:schemeClr val="dk1"/>
                </a:solidFill>
              </a:rPr>
              <a:t>contêineres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</p:txBody>
      </p:sp>
      <p:sp>
        <p:nvSpPr>
          <p:cNvPr id="270" name="Google Shape;270;g37c50c45887_0_40"/>
          <p:cNvSpPr txBox="1"/>
          <p:nvPr/>
        </p:nvSpPr>
        <p:spPr>
          <a:xfrm>
            <a:off x="9642000" y="1012500"/>
            <a:ext cx="86460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Por que é importante?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Tornou a tecnologia de contêineres </a:t>
            </a:r>
            <a:r>
              <a:rPr b="1" lang="en-US" sz="2000">
                <a:solidFill>
                  <a:schemeClr val="dk1"/>
                </a:solidFill>
              </a:rPr>
              <a:t>padronizada</a:t>
            </a:r>
            <a:r>
              <a:rPr lang="en-US" sz="2000">
                <a:solidFill>
                  <a:schemeClr val="dk1"/>
                </a:solidFill>
              </a:rPr>
              <a:t> e </a:t>
            </a:r>
            <a:r>
              <a:rPr b="1" lang="en-US" sz="2000">
                <a:solidFill>
                  <a:schemeClr val="dk1"/>
                </a:solidFill>
              </a:rPr>
              <a:t>acessível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Reduziu a complexidade de empacotar, distribuir e rodar aplicações.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Hoje é a </a:t>
            </a:r>
            <a:r>
              <a:rPr b="1" lang="en-US" sz="2000">
                <a:solidFill>
                  <a:schemeClr val="dk1"/>
                </a:solidFill>
              </a:rPr>
              <a:t>principal referência</a:t>
            </a:r>
            <a:r>
              <a:rPr lang="en-US" sz="2000">
                <a:solidFill>
                  <a:schemeClr val="dk1"/>
                </a:solidFill>
              </a:rPr>
              <a:t> no uso de contêineres no mercado.</a:t>
            </a:r>
            <a:endParaRPr/>
          </a:p>
        </p:txBody>
      </p:sp>
      <p:sp>
        <p:nvSpPr>
          <p:cNvPr id="271" name="Google Shape;271;g37c50c45887_0_40"/>
          <p:cNvSpPr txBox="1"/>
          <p:nvPr/>
        </p:nvSpPr>
        <p:spPr>
          <a:xfrm>
            <a:off x="2076275" y="0"/>
            <a:ext cx="906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g37c50c45887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88700"/>
            <a:ext cx="17983201" cy="2089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c50c45887_0_37"/>
          <p:cNvSpPr txBox="1"/>
          <p:nvPr/>
        </p:nvSpPr>
        <p:spPr>
          <a:xfrm>
            <a:off x="0" y="0"/>
            <a:ext cx="10145400" cy="9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Arquitetura Cliente-Servidor do Docker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 Modelo de Funcionamento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O Docker segue um </a:t>
            </a:r>
            <a:r>
              <a:rPr b="1" lang="en-US" sz="1700">
                <a:solidFill>
                  <a:schemeClr val="dk1"/>
                </a:solidFill>
              </a:rPr>
              <a:t>modelo cliente-servidor</a:t>
            </a:r>
            <a:r>
              <a:rPr lang="en-US" sz="1700">
                <a:solidFill>
                  <a:schemeClr val="dk1"/>
                </a:solidFill>
              </a:rPr>
              <a:t>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O usuário envia comandos (cliente) → o servidor executa → as imagens vêm do registry.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 Três Componentes Principais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Docker Daemon (</a:t>
            </a:r>
            <a:r>
              <a:rPr b="1"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dockerd</a:t>
            </a:r>
            <a:r>
              <a:rPr b="1" lang="en-US" sz="1700">
                <a:solidFill>
                  <a:schemeClr val="dk1"/>
                </a:solidFill>
              </a:rPr>
              <a:t>)</a:t>
            </a:r>
            <a:r>
              <a:rPr lang="en-US" sz="1700">
                <a:solidFill>
                  <a:schemeClr val="dk1"/>
                </a:solidFill>
              </a:rPr>
              <a:t> – </a:t>
            </a:r>
            <a:r>
              <a:rPr i="1" lang="en-US" sz="1700">
                <a:solidFill>
                  <a:schemeClr val="dk1"/>
                </a:solidFill>
              </a:rPr>
              <a:t>O Servidor</a:t>
            </a:r>
            <a:br>
              <a:rPr i="1" lang="en-US" sz="1700">
                <a:solidFill>
                  <a:schemeClr val="dk1"/>
                </a:solidFill>
              </a:rPr>
            </a:br>
            <a:endParaRPr i="1"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Processo que roda em segundo plano.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Gerencia </a:t>
            </a:r>
            <a:r>
              <a:rPr b="1" lang="en-US" sz="1700">
                <a:solidFill>
                  <a:schemeClr val="dk1"/>
                </a:solidFill>
              </a:rPr>
              <a:t>imagens, contêineres, redes e volumes</a:t>
            </a:r>
            <a:r>
              <a:rPr lang="en-US" sz="1700">
                <a:solidFill>
                  <a:schemeClr val="dk1"/>
                </a:solidFill>
              </a:rPr>
              <a:t>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Escuta requisições através da </a:t>
            </a:r>
            <a:r>
              <a:rPr b="1" lang="en-US" sz="1700">
                <a:solidFill>
                  <a:schemeClr val="dk1"/>
                </a:solidFill>
              </a:rPr>
              <a:t>Docker API</a:t>
            </a:r>
            <a:r>
              <a:rPr lang="en-US" sz="1700">
                <a:solidFill>
                  <a:schemeClr val="dk1"/>
                </a:solidFill>
              </a:rPr>
              <a:t>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Docker Client (</a:t>
            </a:r>
            <a:r>
              <a:rPr b="1"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</a:t>
            </a:r>
            <a:r>
              <a:rPr b="1" lang="en-US" sz="1700">
                <a:solidFill>
                  <a:schemeClr val="dk1"/>
                </a:solidFill>
              </a:rPr>
              <a:t>)</a:t>
            </a:r>
            <a:r>
              <a:rPr lang="en-US" sz="1700">
                <a:solidFill>
                  <a:schemeClr val="dk1"/>
                </a:solidFill>
              </a:rPr>
              <a:t> – </a:t>
            </a:r>
            <a:r>
              <a:rPr i="1" lang="en-US" sz="1700">
                <a:solidFill>
                  <a:schemeClr val="dk1"/>
                </a:solidFill>
              </a:rPr>
              <a:t>A Interface do Usuário</a:t>
            </a:r>
            <a:br>
              <a:rPr i="1" lang="en-US" sz="1700">
                <a:solidFill>
                  <a:schemeClr val="dk1"/>
                </a:solidFill>
              </a:rPr>
            </a:br>
            <a:endParaRPr i="1"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O terminal/CLI que usamos para digitar comandos.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Traduz os comandos em </a:t>
            </a:r>
            <a:r>
              <a:rPr b="1" lang="en-US" sz="1700">
                <a:solidFill>
                  <a:schemeClr val="dk1"/>
                </a:solidFill>
              </a:rPr>
              <a:t>chamadas de API</a:t>
            </a:r>
            <a:r>
              <a:rPr lang="en-US" sz="1700">
                <a:solidFill>
                  <a:schemeClr val="dk1"/>
                </a:solidFill>
              </a:rPr>
              <a:t> para o Daemon.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Docker Registry</a:t>
            </a:r>
            <a:r>
              <a:rPr lang="en-US" sz="1700">
                <a:solidFill>
                  <a:schemeClr val="dk1"/>
                </a:solidFill>
              </a:rPr>
              <a:t> – </a:t>
            </a:r>
            <a:r>
              <a:rPr i="1" lang="en-US" sz="1700">
                <a:solidFill>
                  <a:schemeClr val="dk1"/>
                </a:solidFill>
              </a:rPr>
              <a:t>O Repositório de Imagens</a:t>
            </a:r>
            <a:br>
              <a:rPr i="1" lang="en-US" sz="1700">
                <a:solidFill>
                  <a:schemeClr val="dk1"/>
                </a:solidFill>
              </a:rPr>
            </a:br>
            <a:endParaRPr i="1"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Armazena e distribui </a:t>
            </a:r>
            <a:r>
              <a:rPr b="1" lang="en-US" sz="1700">
                <a:solidFill>
                  <a:schemeClr val="dk1"/>
                </a:solidFill>
              </a:rPr>
              <a:t>imagens Docker</a:t>
            </a:r>
            <a:r>
              <a:rPr lang="en-US" sz="1700">
                <a:solidFill>
                  <a:schemeClr val="dk1"/>
                </a:solidFill>
              </a:rPr>
              <a:t>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Exemplo mais conhecido: </a:t>
            </a:r>
            <a:r>
              <a:rPr b="1" lang="en-US" sz="1700">
                <a:solidFill>
                  <a:schemeClr val="dk1"/>
                </a:solidFill>
              </a:rPr>
              <a:t>Docker Hub</a:t>
            </a:r>
            <a:r>
              <a:rPr lang="en-US" sz="1700">
                <a:solidFill>
                  <a:schemeClr val="dk1"/>
                </a:solidFill>
              </a:rPr>
              <a:t> (padrão).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Pode ser </a:t>
            </a:r>
            <a:r>
              <a:rPr b="1" lang="en-US" sz="1700">
                <a:solidFill>
                  <a:schemeClr val="dk1"/>
                </a:solidFill>
              </a:rPr>
              <a:t>público ou privado</a:t>
            </a:r>
            <a:r>
              <a:rPr lang="en-U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78" name="Google Shape;278;g37c50c45887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7800" y="152400"/>
            <a:ext cx="7837801" cy="783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c50c45887_0_34"/>
          <p:cNvSpPr txBox="1"/>
          <p:nvPr/>
        </p:nvSpPr>
        <p:spPr>
          <a:xfrm>
            <a:off x="0" y="0"/>
            <a:ext cx="13542900" cy="10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O Ecossistema Docker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 Principais Componentes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US" sz="1900">
                <a:solidFill>
                  <a:schemeClr val="dk1"/>
                </a:solidFill>
              </a:rPr>
              <a:t>Docker Engine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O </a:t>
            </a:r>
            <a:r>
              <a:rPr b="1" lang="en-US" sz="1900">
                <a:solidFill>
                  <a:schemeClr val="dk1"/>
                </a:solidFill>
              </a:rPr>
              <a:t>coração do Docker</a:t>
            </a:r>
            <a:r>
              <a:rPr lang="en-US" sz="1900">
                <a:solidFill>
                  <a:schemeClr val="dk1"/>
                </a:solidFill>
              </a:rPr>
              <a:t>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Responsável por criar e executar os contêineres.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US" sz="1900">
                <a:solidFill>
                  <a:schemeClr val="dk1"/>
                </a:solidFill>
              </a:rPr>
              <a:t>Docker Compose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Ferramenta para aplicações </a:t>
            </a:r>
            <a:r>
              <a:rPr b="1" lang="en-US" sz="1900">
                <a:solidFill>
                  <a:schemeClr val="dk1"/>
                </a:solidFill>
              </a:rPr>
              <a:t>multi-contêiner</a:t>
            </a:r>
            <a:r>
              <a:rPr lang="en-US" sz="1900">
                <a:solidFill>
                  <a:schemeClr val="dk1"/>
                </a:solidFill>
              </a:rPr>
              <a:t>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Usa um arquivo </a:t>
            </a: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docker-compose.yml</a:t>
            </a:r>
            <a:r>
              <a:rPr lang="en-US" sz="1900">
                <a:solidFill>
                  <a:schemeClr val="dk1"/>
                </a:solidFill>
              </a:rPr>
              <a:t> para: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en-US" sz="1900">
                <a:solidFill>
                  <a:schemeClr val="dk1"/>
                </a:solidFill>
              </a:rPr>
              <a:t>Definir serviços.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en-US" sz="1900">
                <a:solidFill>
                  <a:schemeClr val="dk1"/>
                </a:solidFill>
              </a:rPr>
              <a:t>Configurar redes.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en-US" sz="1900">
                <a:solidFill>
                  <a:schemeClr val="dk1"/>
                </a:solidFill>
              </a:rPr>
              <a:t>Mapear volumes.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Muito usado em </a:t>
            </a:r>
            <a:r>
              <a:rPr b="1" lang="en-US" sz="1900">
                <a:solidFill>
                  <a:schemeClr val="dk1"/>
                </a:solidFill>
              </a:rPr>
              <a:t>ambientes de desenvolvimento</a:t>
            </a:r>
            <a:r>
              <a:rPr lang="en-US" sz="1900">
                <a:solidFill>
                  <a:schemeClr val="dk1"/>
                </a:solidFill>
              </a:rPr>
              <a:t>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US" sz="1900">
                <a:solidFill>
                  <a:schemeClr val="dk1"/>
                </a:solidFill>
              </a:rPr>
              <a:t>Orquestradores de Contêineres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Necessários em </a:t>
            </a:r>
            <a:r>
              <a:rPr b="1" lang="en-US" sz="1900">
                <a:solidFill>
                  <a:schemeClr val="dk1"/>
                </a:solidFill>
              </a:rPr>
              <a:t>ambientes de produção complexos</a:t>
            </a:r>
            <a:r>
              <a:rPr lang="en-US" sz="1900">
                <a:solidFill>
                  <a:schemeClr val="dk1"/>
                </a:solidFill>
              </a:rPr>
              <a:t>, com múltiplos hosts (clusters).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en-US" sz="1900">
                <a:solidFill>
                  <a:schemeClr val="dk1"/>
                </a:solidFill>
              </a:rPr>
              <a:t>Kubernetes</a:t>
            </a:r>
            <a:r>
              <a:rPr lang="en-US" sz="1900">
                <a:solidFill>
                  <a:schemeClr val="dk1"/>
                </a:solidFill>
              </a:rPr>
              <a:t>: padrão de mercado para </a:t>
            </a:r>
            <a:r>
              <a:rPr b="1" lang="en-US" sz="1900">
                <a:solidFill>
                  <a:schemeClr val="dk1"/>
                </a:solidFill>
              </a:rPr>
              <a:t>orquestração em larga escala</a:t>
            </a:r>
            <a:r>
              <a:rPr lang="en-US" sz="1900">
                <a:solidFill>
                  <a:schemeClr val="dk1"/>
                </a:solidFill>
              </a:rPr>
              <a:t>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en-US" sz="1900">
                <a:solidFill>
                  <a:schemeClr val="dk1"/>
                </a:solidFill>
              </a:rPr>
              <a:t>Docker Swarm</a:t>
            </a:r>
            <a:r>
              <a:rPr lang="en-US" sz="1900">
                <a:solidFill>
                  <a:schemeClr val="dk1"/>
                </a:solidFill>
              </a:rPr>
              <a:t>: solução nativa do Docker, mais simples que o Kubernetes.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84" name="Google Shape;284;g37c50c45887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2275" y="378675"/>
            <a:ext cx="3207625" cy="320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c50c45887_0_31"/>
          <p:cNvSpPr txBox="1"/>
          <p:nvPr/>
        </p:nvSpPr>
        <p:spPr>
          <a:xfrm>
            <a:off x="0" y="0"/>
            <a:ext cx="12316200" cy="106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Imagens Docker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🔹 Definição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Uma </a:t>
            </a:r>
            <a:r>
              <a:rPr b="1" lang="en-US" sz="2000">
                <a:solidFill>
                  <a:schemeClr val="dk1"/>
                </a:solidFill>
              </a:rPr>
              <a:t>imagem</a:t>
            </a:r>
            <a:r>
              <a:rPr lang="en-US" sz="2000">
                <a:solidFill>
                  <a:schemeClr val="dk1"/>
                </a:solidFill>
              </a:rPr>
              <a:t> é um pacote </a:t>
            </a:r>
            <a:r>
              <a:rPr b="1" lang="en-US" sz="2000">
                <a:solidFill>
                  <a:schemeClr val="dk1"/>
                </a:solidFill>
              </a:rPr>
              <a:t>somente leitura (read-only)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b="1" lang="en-US" sz="2000">
                <a:solidFill>
                  <a:schemeClr val="dk1"/>
                </a:solidFill>
              </a:rPr>
              <a:t>executável</a:t>
            </a:r>
            <a:r>
              <a:rPr lang="en-US" sz="2000">
                <a:solidFill>
                  <a:schemeClr val="dk1"/>
                </a:solidFill>
              </a:rPr>
              <a:t> e </a:t>
            </a:r>
            <a:r>
              <a:rPr b="1" lang="en-US" sz="2000">
                <a:solidFill>
                  <a:schemeClr val="dk1"/>
                </a:solidFill>
              </a:rPr>
              <a:t>autocontido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Contém </a:t>
            </a:r>
            <a:r>
              <a:rPr b="1" lang="en-US" sz="2000">
                <a:solidFill>
                  <a:schemeClr val="dk1"/>
                </a:solidFill>
              </a:rPr>
              <a:t>tudo o que a aplicação precisa</a:t>
            </a:r>
            <a:r>
              <a:rPr lang="en-US" sz="2000">
                <a:solidFill>
                  <a:schemeClr val="dk1"/>
                </a:solidFill>
              </a:rPr>
              <a:t> para rodar: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Código da aplicação.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Runtime (ex.: Python, Node, Java).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Ferramentas de sistema.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Bibliotecas.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Configurações.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🔹 Imutabilidade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Uma vez construída, a imagem </a:t>
            </a:r>
            <a:r>
              <a:rPr b="1" lang="en-US" sz="2000">
                <a:solidFill>
                  <a:schemeClr val="dk1"/>
                </a:solidFill>
              </a:rPr>
              <a:t>não pode ser modificada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Para qualquer alteração (ex.: nova versão da app), é preciso </a:t>
            </a:r>
            <a:r>
              <a:rPr b="1" lang="en-US" sz="2000">
                <a:solidFill>
                  <a:schemeClr val="dk1"/>
                </a:solidFill>
              </a:rPr>
              <a:t>gerar uma nova imagem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🔹 Base para Contêineres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Imagens são os templates</a:t>
            </a:r>
            <a:r>
              <a:rPr lang="en-US" sz="2000">
                <a:solidFill>
                  <a:schemeClr val="dk1"/>
                </a:solidFill>
              </a:rPr>
              <a:t> usados para criar contêineres.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contêiner é a </a:t>
            </a:r>
            <a:r>
              <a:rPr b="1" lang="en-US" sz="2000">
                <a:solidFill>
                  <a:schemeClr val="dk1"/>
                </a:solidFill>
              </a:rPr>
              <a:t>instância em execução</a:t>
            </a:r>
            <a:r>
              <a:rPr lang="en-US" sz="2000">
                <a:solidFill>
                  <a:schemeClr val="dk1"/>
                </a:solidFill>
              </a:rPr>
              <a:t> da imagem.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</p:txBody>
      </p:sp>
      <p:pic>
        <p:nvPicPr>
          <p:cNvPr id="290" name="Google Shape;290;g37c50c45887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4050" y="378675"/>
            <a:ext cx="4355850" cy="43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c50c45887_0_28"/>
          <p:cNvSpPr txBox="1"/>
          <p:nvPr/>
        </p:nvSpPr>
        <p:spPr>
          <a:xfrm>
            <a:off x="0" y="0"/>
            <a:ext cx="12331800" cy="10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O Sistema de Camadas no Docker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Conceito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Uma </a:t>
            </a:r>
            <a:r>
              <a:rPr b="1" lang="en-US" sz="2000">
                <a:solidFill>
                  <a:schemeClr val="dk1"/>
                </a:solidFill>
              </a:rPr>
              <a:t>imagem Docker</a:t>
            </a:r>
            <a:r>
              <a:rPr lang="en-US" sz="2000">
                <a:solidFill>
                  <a:schemeClr val="dk1"/>
                </a:solidFill>
              </a:rPr>
              <a:t> é formada por </a:t>
            </a:r>
            <a:r>
              <a:rPr b="1" lang="en-US" sz="2000">
                <a:solidFill>
                  <a:schemeClr val="dk1"/>
                </a:solidFill>
              </a:rPr>
              <a:t>camadas empilhadas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Cada camada corresponde a uma </a:t>
            </a:r>
            <a:r>
              <a:rPr b="1" lang="en-US" sz="2000">
                <a:solidFill>
                  <a:schemeClr val="dk1"/>
                </a:solidFill>
              </a:rPr>
              <a:t>instrução do Dockerfile</a:t>
            </a:r>
            <a:r>
              <a:rPr lang="en-US" sz="2000">
                <a:solidFill>
                  <a:schemeClr val="dk1"/>
                </a:solidFill>
              </a:rPr>
              <a:t> (ex.: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COPY</a:t>
            </a:r>
            <a:r>
              <a:rPr lang="en-US" sz="2000">
                <a:solidFill>
                  <a:schemeClr val="dk1"/>
                </a:solidFill>
              </a:rPr>
              <a:t>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Todas as camadas são </a:t>
            </a:r>
            <a:r>
              <a:rPr b="1" lang="en-US" sz="2000">
                <a:solidFill>
                  <a:schemeClr val="dk1"/>
                </a:solidFill>
              </a:rPr>
              <a:t>somente leitura</a:t>
            </a:r>
            <a:r>
              <a:rPr lang="en-US" sz="2000">
                <a:solidFill>
                  <a:schemeClr val="dk1"/>
                </a:solidFill>
              </a:rPr>
              <a:t> e ficam </a:t>
            </a:r>
            <a:r>
              <a:rPr b="1" lang="en-US" sz="2000">
                <a:solidFill>
                  <a:schemeClr val="dk1"/>
                </a:solidFill>
              </a:rPr>
              <a:t>cacheadas pelo Docker Engine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Benefícios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Eficiência de Armazenamento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Camadas são </a:t>
            </a:r>
            <a:r>
              <a:rPr b="1" lang="en-US" sz="2000">
                <a:solidFill>
                  <a:schemeClr val="dk1"/>
                </a:solidFill>
              </a:rPr>
              <a:t>compartilhadas entre imagens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Exemplo: a base </a:t>
            </a:r>
            <a:r>
              <a:rPr b="1" lang="en-US" sz="2000">
                <a:solidFill>
                  <a:schemeClr val="dk1"/>
                </a:solidFill>
              </a:rPr>
              <a:t>Ubuntu</a:t>
            </a:r>
            <a:r>
              <a:rPr lang="en-US" sz="2000">
                <a:solidFill>
                  <a:schemeClr val="dk1"/>
                </a:solidFill>
              </a:rPr>
              <a:t> é armazenada </a:t>
            </a:r>
            <a:r>
              <a:rPr b="1" lang="en-US" sz="2000">
                <a:solidFill>
                  <a:schemeClr val="dk1"/>
                </a:solidFill>
              </a:rPr>
              <a:t>apenas uma vez</a:t>
            </a:r>
            <a:r>
              <a:rPr lang="en-US" sz="2000">
                <a:solidFill>
                  <a:schemeClr val="dk1"/>
                </a:solidFill>
              </a:rPr>
              <a:t>, mesmo se usada em várias imagens.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Builds mais Rápidos</a:t>
            </a:r>
            <a:r>
              <a:rPr lang="en-US" sz="2000">
                <a:solidFill>
                  <a:schemeClr val="dk1"/>
                </a:solidFill>
              </a:rPr>
              <a:t> 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O Docker reaproveita o </a:t>
            </a:r>
            <a:r>
              <a:rPr b="1" lang="en-US" sz="2000">
                <a:solidFill>
                  <a:schemeClr val="dk1"/>
                </a:solidFill>
              </a:rPr>
              <a:t>cache das camadas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Apenas as </a:t>
            </a:r>
            <a:r>
              <a:rPr b="1" lang="en-US" sz="2000">
                <a:solidFill>
                  <a:schemeClr val="dk1"/>
                </a:solidFill>
              </a:rPr>
              <a:t>camadas alteradas</a:t>
            </a:r>
            <a:r>
              <a:rPr lang="en-US" sz="2000">
                <a:solidFill>
                  <a:schemeClr val="dk1"/>
                </a:solidFill>
              </a:rPr>
              <a:t> são reconstruídas.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Transferências Otimizadas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Ao fazer </a:t>
            </a:r>
            <a:r>
              <a:rPr b="1" lang="en-US" sz="2000">
                <a:solidFill>
                  <a:schemeClr val="dk1"/>
                </a:solidFill>
              </a:rPr>
              <a:t>pull/push</a:t>
            </a:r>
            <a:r>
              <a:rPr lang="en-US" sz="2000">
                <a:solidFill>
                  <a:schemeClr val="dk1"/>
                </a:solidFill>
              </a:rPr>
              <a:t>, só as camadas </a:t>
            </a:r>
            <a:r>
              <a:rPr b="1" lang="en-US" sz="2000">
                <a:solidFill>
                  <a:schemeClr val="dk1"/>
                </a:solidFill>
              </a:rPr>
              <a:t>ausentes no destino</a:t>
            </a:r>
            <a:r>
              <a:rPr lang="en-US" sz="2000">
                <a:solidFill>
                  <a:schemeClr val="dk1"/>
                </a:solidFill>
              </a:rPr>
              <a:t> são baixadas/enviadas.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96" name="Google Shape;296;g37c50c45887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4050" y="378675"/>
            <a:ext cx="4355850" cy="43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c50c45887_0_25"/>
          <p:cNvSpPr txBox="1"/>
          <p:nvPr/>
        </p:nvSpPr>
        <p:spPr>
          <a:xfrm>
            <a:off x="0" y="0"/>
            <a:ext cx="18288000" cy="9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</a:rPr>
              <a:t>O Dockerfile</a:t>
            </a:r>
            <a:endParaRPr b="1" sz="4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b="1" lang="en-US" sz="2500">
                <a:solidFill>
                  <a:schemeClr val="dk1"/>
                </a:solidFill>
              </a:rPr>
              <a:t>Definição</a:t>
            </a:r>
            <a:endParaRPr b="1" sz="25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 </a:t>
            </a:r>
            <a:r>
              <a:rPr b="1" lang="en-US" sz="2000">
                <a:solidFill>
                  <a:schemeClr val="dk1"/>
                </a:solidFill>
              </a:rPr>
              <a:t>Dockerfile</a:t>
            </a:r>
            <a:r>
              <a:rPr lang="en-US" sz="2000">
                <a:solidFill>
                  <a:schemeClr val="dk1"/>
                </a:solidFill>
              </a:rPr>
              <a:t> é um </a:t>
            </a:r>
            <a:r>
              <a:rPr b="1" lang="en-US" sz="2000">
                <a:solidFill>
                  <a:schemeClr val="dk1"/>
                </a:solidFill>
              </a:rPr>
              <a:t>script de texto</a:t>
            </a:r>
            <a:r>
              <a:rPr lang="en-US" sz="2000">
                <a:solidFill>
                  <a:schemeClr val="dk1"/>
                </a:solidFill>
              </a:rPr>
              <a:t> que descreve </a:t>
            </a:r>
            <a:r>
              <a:rPr b="1" lang="en-US" sz="2000">
                <a:solidFill>
                  <a:schemeClr val="dk1"/>
                </a:solidFill>
              </a:rPr>
              <a:t>como montar uma imagem Docker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Contém um conjunto de </a:t>
            </a:r>
            <a:r>
              <a:rPr b="1" lang="en-US" sz="2000">
                <a:solidFill>
                  <a:schemeClr val="dk1"/>
                </a:solidFill>
              </a:rPr>
              <a:t>instruções sequenciais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Funciona como uma </a:t>
            </a:r>
            <a:r>
              <a:rPr b="1" lang="en-US" sz="2000">
                <a:solidFill>
                  <a:schemeClr val="dk1"/>
                </a:solidFill>
              </a:rPr>
              <a:t>receita</a:t>
            </a:r>
            <a:r>
              <a:rPr lang="en-US" sz="2000">
                <a:solidFill>
                  <a:schemeClr val="dk1"/>
                </a:solidFill>
              </a:rPr>
              <a:t> que o Docker segue para automatizar o </a:t>
            </a:r>
            <a:r>
              <a:rPr b="1" lang="en-US" sz="2000">
                <a:solidFill>
                  <a:schemeClr val="dk1"/>
                </a:solidFill>
              </a:rPr>
              <a:t>build da imagem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Sintaxe Básica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Cada linha é uma instrução que gera uma </a:t>
            </a:r>
            <a:r>
              <a:rPr b="1" lang="en-US" sz="2000">
                <a:solidFill>
                  <a:schemeClr val="dk1"/>
                </a:solidFill>
              </a:rPr>
              <a:t>nova camada da imagem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Exemplos: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ubuntu:20.04</a:t>
            </a:r>
            <a:r>
              <a:rPr lang="en-US" sz="2000">
                <a:solidFill>
                  <a:schemeClr val="dk1"/>
                </a:solidFill>
              </a:rPr>
              <a:t> → define a imagem base.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 apt-get install -y python3</a:t>
            </a:r>
            <a:r>
              <a:rPr lang="en-US" sz="2000">
                <a:solidFill>
                  <a:schemeClr val="dk1"/>
                </a:solidFill>
              </a:rPr>
              <a:t> → executa comandos durante o build.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COPY . /app</a:t>
            </a:r>
            <a:r>
              <a:rPr lang="en-US" sz="2000">
                <a:solidFill>
                  <a:schemeClr val="dk1"/>
                </a:solidFill>
              </a:rPr>
              <a:t> → copia arquivos do host para a imagem.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CMD ["python3", "app.py"]</a:t>
            </a:r>
            <a:r>
              <a:rPr lang="en-US" sz="2000">
                <a:solidFill>
                  <a:schemeClr val="dk1"/>
                </a:solidFill>
              </a:rPr>
              <a:t> → define o comando padrão ao rodar o contêiner.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c50c45887_0_22"/>
          <p:cNvSpPr txBox="1"/>
          <p:nvPr/>
        </p:nvSpPr>
        <p:spPr>
          <a:xfrm>
            <a:off x="0" y="0"/>
            <a:ext cx="15147300" cy="88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</a:rPr>
              <a:t>Instruções Essenciais do Dockerfile</a:t>
            </a:r>
            <a:endParaRPr b="1" sz="44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3700">
                <a:solidFill>
                  <a:schemeClr val="dk1"/>
                </a:solidFill>
              </a:rPr>
              <a:t>: Define a imagem base para iniciar o processo de build.</a:t>
            </a:r>
            <a:endParaRPr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WORKDIR</a:t>
            </a:r>
            <a:r>
              <a:rPr lang="en-US" sz="3700">
                <a:solidFill>
                  <a:schemeClr val="dk1"/>
                </a:solidFill>
              </a:rPr>
              <a:t>: Define o diretório de trabalho para as instruções seguintes (</a:t>
            </a: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n-US" sz="3700">
                <a:solidFill>
                  <a:schemeClr val="dk1"/>
                </a:solidFill>
              </a:rPr>
              <a:t>, </a:t>
            </a: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CMD</a:t>
            </a:r>
            <a:r>
              <a:rPr lang="en-US" sz="3700">
                <a:solidFill>
                  <a:schemeClr val="dk1"/>
                </a:solidFill>
              </a:rPr>
              <a:t>, </a:t>
            </a: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COPY</a:t>
            </a:r>
            <a:r>
              <a:rPr lang="en-US" sz="3700">
                <a:solidFill>
                  <a:schemeClr val="dk1"/>
                </a:solidFill>
              </a:rPr>
              <a:t>, etc.).</a:t>
            </a:r>
            <a:endParaRPr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COPY</a:t>
            </a:r>
            <a:r>
              <a:rPr lang="en-US" sz="3700">
                <a:solidFill>
                  <a:schemeClr val="dk1"/>
                </a:solidFill>
              </a:rPr>
              <a:t>: Copia arquivos e diretórios do host para o sistema de arquivos da imagem.</a:t>
            </a:r>
            <a:endParaRPr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n-US" sz="3700">
                <a:solidFill>
                  <a:schemeClr val="dk1"/>
                </a:solidFill>
              </a:rPr>
              <a:t>: Executa comandos dentro de uma nova camada durante o build. Usado para instalar pacotes, compilar código, etc.</a:t>
            </a:r>
            <a:endParaRPr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EXPOSE</a:t>
            </a:r>
            <a:r>
              <a:rPr lang="en-US" sz="3700">
                <a:solidFill>
                  <a:schemeClr val="dk1"/>
                </a:solidFill>
              </a:rPr>
              <a:t>: Documenta a porta de rede na qual o contêiner escutará em tempo de execução.</a:t>
            </a:r>
            <a:endParaRPr sz="3700">
              <a:solidFill>
                <a:schemeClr val="dk1"/>
              </a:solidFill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</a:pP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CMD</a:t>
            </a:r>
            <a:r>
              <a:rPr lang="en-US" sz="3700">
                <a:solidFill>
                  <a:schemeClr val="dk1"/>
                </a:solidFill>
              </a:rPr>
              <a:t>: Fornece o comando padrão a ser executado quando um contêiner é iniciado. Pode ser sobrescrito na linha de comando (</a:t>
            </a:r>
            <a:r>
              <a:rPr lang="en-US" sz="3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</a:t>
            </a:r>
            <a:r>
              <a:rPr lang="en-US" sz="3700">
                <a:solidFill>
                  <a:schemeClr val="dk1"/>
                </a:solidFill>
              </a:rPr>
              <a:t>).</a:t>
            </a:r>
            <a:endParaRPr sz="3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c50c45887_0_19"/>
          <p:cNvSpPr txBox="1"/>
          <p:nvPr/>
        </p:nvSpPr>
        <p:spPr>
          <a:xfrm>
            <a:off x="0" y="0"/>
            <a:ext cx="12300300" cy="9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</a:rPr>
              <a:t>Contêineres Docker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Definição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 </a:t>
            </a:r>
            <a:r>
              <a:rPr b="1" lang="en-US" sz="2000">
                <a:solidFill>
                  <a:schemeClr val="dk1"/>
                </a:solidFill>
              </a:rPr>
              <a:t>contêiner</a:t>
            </a:r>
            <a:r>
              <a:rPr lang="en-US" sz="2000">
                <a:solidFill>
                  <a:schemeClr val="dk1"/>
                </a:solidFill>
              </a:rPr>
              <a:t> é a </a:t>
            </a:r>
            <a:r>
              <a:rPr b="1" lang="en-US" sz="2000">
                <a:solidFill>
                  <a:schemeClr val="dk1"/>
                </a:solidFill>
              </a:rPr>
              <a:t>instância em execução</a:t>
            </a:r>
            <a:r>
              <a:rPr lang="en-US" sz="2000">
                <a:solidFill>
                  <a:schemeClr val="dk1"/>
                </a:solidFill>
              </a:rPr>
              <a:t> de uma </a:t>
            </a:r>
            <a:r>
              <a:rPr b="1" lang="en-US" sz="2000">
                <a:solidFill>
                  <a:schemeClr val="dk1"/>
                </a:solidFill>
              </a:rPr>
              <a:t>imagem Docker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É a “vida” dada à imagem, permitindo que ela rode como um processo isolado.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Estado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contêiner é a </a:t>
            </a:r>
            <a:r>
              <a:rPr b="1" lang="en-US" sz="2000">
                <a:solidFill>
                  <a:schemeClr val="dk1"/>
                </a:solidFill>
              </a:rPr>
              <a:t>camada viva</a:t>
            </a:r>
            <a:r>
              <a:rPr lang="en-US" sz="2000">
                <a:solidFill>
                  <a:schemeClr val="dk1"/>
                </a:solidFill>
              </a:rPr>
              <a:t> sobre a imagem imutável.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Ele mantém tudo funcionando, mas não altera a imagem original.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Camada de Escrita (Writable Layer)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Ao criar um contêiner, o Docker adiciona uma </a:t>
            </a:r>
            <a:r>
              <a:rPr b="1" lang="en-US" sz="2000">
                <a:solidFill>
                  <a:schemeClr val="dk1"/>
                </a:solidFill>
              </a:rPr>
              <a:t>camada de escrita temporária</a:t>
            </a:r>
            <a:r>
              <a:rPr lang="en-US" sz="2000">
                <a:solidFill>
                  <a:schemeClr val="dk1"/>
                </a:solidFill>
              </a:rPr>
              <a:t> sobre as camadas da imagem.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Todas as modificações (arquivos criados, alterados ou excluídos) são gravadas apenas nessa camada.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Consequência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Se o contêiner for </a:t>
            </a:r>
            <a:r>
              <a:rPr b="1" lang="en-US" sz="2000">
                <a:solidFill>
                  <a:schemeClr val="dk1"/>
                </a:solidFill>
              </a:rPr>
              <a:t>removido</a:t>
            </a:r>
            <a:r>
              <a:rPr lang="en-US" sz="2000">
                <a:solidFill>
                  <a:schemeClr val="dk1"/>
                </a:solidFill>
              </a:rPr>
              <a:t>, essa camada também desaparece.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Resultado: as alterações feitas </a:t>
            </a:r>
            <a:r>
              <a:rPr b="1" lang="en-US" sz="2000">
                <a:solidFill>
                  <a:schemeClr val="dk1"/>
                </a:solidFill>
              </a:rPr>
              <a:t>não persistem</a:t>
            </a:r>
            <a:r>
              <a:rPr lang="en-US" sz="2000">
                <a:solidFill>
                  <a:schemeClr val="dk1"/>
                </a:solidFill>
              </a:rPr>
              <a:t> → os contêineres são </a:t>
            </a:r>
            <a:r>
              <a:rPr b="1" lang="en-US" sz="2000">
                <a:solidFill>
                  <a:schemeClr val="dk1"/>
                </a:solidFill>
              </a:rPr>
              <a:t>efêmeros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312" name="Google Shape;312;g37c50c45887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5825" y="621500"/>
            <a:ext cx="5164175" cy="90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7c50c45887_0_16"/>
          <p:cNvSpPr txBox="1"/>
          <p:nvPr/>
        </p:nvSpPr>
        <p:spPr>
          <a:xfrm>
            <a:off x="0" y="0"/>
            <a:ext cx="13165500" cy="10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Ciclo de Vida de um Contêiner</a:t>
            </a:r>
            <a:endParaRPr b="1" sz="3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Principais Comandos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create &lt;imagem&gt;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Cria a </a:t>
            </a:r>
            <a:r>
              <a:rPr b="1" lang="en-US" sz="1600">
                <a:solidFill>
                  <a:schemeClr val="dk1"/>
                </a:solidFill>
              </a:rPr>
              <a:t>estrutura de um contêiner</a:t>
            </a:r>
            <a:r>
              <a:rPr lang="en-US" sz="1600">
                <a:solidFill>
                  <a:schemeClr val="dk1"/>
                </a:solidFill>
              </a:rPr>
              <a:t> (inclui a camada de escrita).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O contêiner ainda </a:t>
            </a:r>
            <a:r>
              <a:rPr b="1" lang="en-US" sz="1600">
                <a:solidFill>
                  <a:schemeClr val="dk1"/>
                </a:solidFill>
              </a:rPr>
              <a:t>não inicia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start &lt;id_container&gt;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Inicia um contêiner já criado ou que estava parado.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&lt;imagem&gt;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Combina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r>
              <a:rPr lang="en-US" sz="1600">
                <a:solidFill>
                  <a:schemeClr val="dk1"/>
                </a:solidFill>
              </a:rPr>
              <a:t> +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US" sz="1600">
                <a:solidFill>
                  <a:schemeClr val="dk1"/>
                </a:solidFill>
              </a:rPr>
              <a:t> em </a:t>
            </a:r>
            <a:r>
              <a:rPr b="1" lang="en-US" sz="1600">
                <a:solidFill>
                  <a:schemeClr val="dk1"/>
                </a:solidFill>
              </a:rPr>
              <a:t>uma única operação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É o comando mais usado no dia a dia.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stop &lt;id_container&gt;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Para o contêiner de forma </a:t>
            </a:r>
            <a:r>
              <a:rPr b="1" lang="en-US" sz="1600">
                <a:solidFill>
                  <a:schemeClr val="dk1"/>
                </a:solidFill>
              </a:rPr>
              <a:t>controlada</a:t>
            </a:r>
            <a:r>
              <a:rPr lang="en-US" sz="1600">
                <a:solidFill>
                  <a:schemeClr val="dk1"/>
                </a:solidFill>
              </a:rPr>
              <a:t> (envia sinal </a:t>
            </a:r>
            <a:r>
              <a:rPr b="1" lang="en-US" sz="1600">
                <a:solidFill>
                  <a:schemeClr val="dk1"/>
                </a:solidFill>
              </a:rPr>
              <a:t>SIGTERM</a:t>
            </a:r>
            <a:r>
              <a:rPr lang="en-US" sz="1600">
                <a:solidFill>
                  <a:schemeClr val="dk1"/>
                </a:solidFill>
              </a:rPr>
              <a:t>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kill &lt;id_container&gt;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US" sz="1600">
                <a:solidFill>
                  <a:schemeClr val="dk1"/>
                </a:solidFill>
              </a:rPr>
              <a:t>Força a parada imediata</a:t>
            </a:r>
            <a:r>
              <a:rPr lang="en-US" sz="1600">
                <a:solidFill>
                  <a:schemeClr val="dk1"/>
                </a:solidFill>
              </a:rPr>
              <a:t> (envia sinal </a:t>
            </a:r>
            <a:r>
              <a:rPr b="1" lang="en-US" sz="1600">
                <a:solidFill>
                  <a:schemeClr val="dk1"/>
                </a:solidFill>
              </a:rPr>
              <a:t>SIGKILL</a:t>
            </a:r>
            <a:r>
              <a:rPr lang="en-US" sz="1600">
                <a:solidFill>
                  <a:schemeClr val="dk1"/>
                </a:solidFill>
              </a:rPr>
              <a:t>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Usado em emergências.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rm &lt;id_container&gt;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Remove um contêiner </a:t>
            </a:r>
            <a:r>
              <a:rPr b="1" lang="en-US" sz="1600">
                <a:solidFill>
                  <a:schemeClr val="dk1"/>
                </a:solidFill>
              </a:rPr>
              <a:t>parado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Libera espaço e evita acúmulo de containers antigos.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318" name="Google Shape;318;g37c50c45887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4050" y="378675"/>
            <a:ext cx="4355850" cy="43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c50c45887_0_168"/>
          <p:cNvSpPr txBox="1"/>
          <p:nvPr/>
        </p:nvSpPr>
        <p:spPr>
          <a:xfrm>
            <a:off x="0" y="0"/>
            <a:ext cx="13008300" cy="10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Gerenciamento de Dados: O Problema da Efemeridade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O Problema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Por padrão, </a:t>
            </a:r>
            <a:r>
              <a:rPr b="1" lang="en-US" sz="1900">
                <a:solidFill>
                  <a:schemeClr val="dk1"/>
                </a:solidFill>
              </a:rPr>
              <a:t>todos os dados criados dentro de um contêiner desaparecem</a:t>
            </a:r>
            <a:r>
              <a:rPr lang="en-US" sz="1900">
                <a:solidFill>
                  <a:schemeClr val="dk1"/>
                </a:solidFill>
              </a:rPr>
              <a:t> quando ele é removido.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Isso torna os contêineres </a:t>
            </a:r>
            <a:r>
              <a:rPr b="1" lang="en-US" sz="1900">
                <a:solidFill>
                  <a:schemeClr val="dk1"/>
                </a:solidFill>
              </a:rPr>
              <a:t>efêmeros</a:t>
            </a:r>
            <a:r>
              <a:rPr lang="en-US" sz="1900">
                <a:solidFill>
                  <a:schemeClr val="dk1"/>
                </a:solidFill>
              </a:rPr>
              <a:t>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Impacto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Para aplicações </a:t>
            </a:r>
            <a:r>
              <a:rPr b="1" lang="en-US" sz="1900">
                <a:solidFill>
                  <a:schemeClr val="dk1"/>
                </a:solidFill>
              </a:rPr>
              <a:t>stateless</a:t>
            </a:r>
            <a:r>
              <a:rPr lang="en-US" sz="1900">
                <a:solidFill>
                  <a:schemeClr val="dk1"/>
                </a:solidFill>
              </a:rPr>
              <a:t> (sem estado, como APIs simples), não há problema.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Mas aplicações </a:t>
            </a:r>
            <a:r>
              <a:rPr b="1" lang="en-US" sz="1900">
                <a:solidFill>
                  <a:schemeClr val="dk1"/>
                </a:solidFill>
              </a:rPr>
              <a:t>stateful</a:t>
            </a:r>
            <a:r>
              <a:rPr lang="en-US" sz="1900">
                <a:solidFill>
                  <a:schemeClr val="dk1"/>
                </a:solidFill>
              </a:rPr>
              <a:t> (que precisam manter estado), como </a:t>
            </a:r>
            <a:r>
              <a:rPr b="1" lang="en-US" sz="1900">
                <a:solidFill>
                  <a:schemeClr val="dk1"/>
                </a:solidFill>
              </a:rPr>
              <a:t>bancos de dados</a:t>
            </a:r>
            <a:r>
              <a:rPr lang="en-US" sz="1900">
                <a:solidFill>
                  <a:schemeClr val="dk1"/>
                </a:solidFill>
              </a:rPr>
              <a:t>, não podem perder dados a cada reinício.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A Solução no Docker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US" sz="1900">
                <a:solidFill>
                  <a:schemeClr val="dk1"/>
                </a:solidFill>
              </a:rPr>
              <a:t>Volumes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Áreas de armazenamento gerenciadas pelo Docker.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Independentes do ciclo de vida dos contêineres.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Podem ser compartilhados entre múltiplos contêineres.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US" sz="1900">
                <a:solidFill>
                  <a:schemeClr val="dk1"/>
                </a:solidFill>
              </a:rPr>
              <a:t>Bind Mounts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Montam um diretório do </a:t>
            </a:r>
            <a:r>
              <a:rPr b="1" lang="en-US" sz="1900">
                <a:solidFill>
                  <a:schemeClr val="dk1"/>
                </a:solidFill>
              </a:rPr>
              <a:t>host</a:t>
            </a:r>
            <a:r>
              <a:rPr lang="en-US" sz="1900">
                <a:solidFill>
                  <a:schemeClr val="dk1"/>
                </a:solidFill>
              </a:rPr>
              <a:t> dentro do contêiner.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Útil para desenvolvimento (ex.: sincronizar código entre host e contêiner).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c50c45887_0_165"/>
          <p:cNvSpPr txBox="1"/>
          <p:nvPr/>
        </p:nvSpPr>
        <p:spPr>
          <a:xfrm>
            <a:off x="0" y="0"/>
            <a:ext cx="10900500" cy="9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chemeClr val="dk1"/>
                </a:solidFill>
              </a:rPr>
              <a:t>Volumes no Docker</a:t>
            </a:r>
            <a:endParaRPr b="1" sz="4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Definição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Forma </a:t>
            </a:r>
            <a:r>
              <a:rPr b="1" lang="en-US" sz="2000">
                <a:solidFill>
                  <a:schemeClr val="dk1"/>
                </a:solidFill>
              </a:rPr>
              <a:t>preferencial</a:t>
            </a:r>
            <a:r>
              <a:rPr lang="en-US" sz="2000">
                <a:solidFill>
                  <a:schemeClr val="dk1"/>
                </a:solidFill>
              </a:rPr>
              <a:t> de </a:t>
            </a:r>
            <a:r>
              <a:rPr b="1" lang="en-US" sz="2000">
                <a:solidFill>
                  <a:schemeClr val="dk1"/>
                </a:solidFill>
              </a:rPr>
              <a:t>persistir dados</a:t>
            </a:r>
            <a:r>
              <a:rPr lang="en-US" sz="2000">
                <a:solidFill>
                  <a:schemeClr val="dk1"/>
                </a:solidFill>
              </a:rPr>
              <a:t> usados e gerados por contêineres.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Funcionam como </a:t>
            </a:r>
            <a:r>
              <a:rPr b="1" lang="en-US" sz="2000">
                <a:solidFill>
                  <a:schemeClr val="dk1"/>
                </a:solidFill>
              </a:rPr>
              <a:t>diretórios do host</a:t>
            </a:r>
            <a:r>
              <a:rPr lang="en-US" sz="2000">
                <a:solidFill>
                  <a:schemeClr val="dk1"/>
                </a:solidFill>
              </a:rPr>
              <a:t>, mas são </a:t>
            </a:r>
            <a:r>
              <a:rPr b="1" lang="en-US" sz="2000">
                <a:solidFill>
                  <a:schemeClr val="dk1"/>
                </a:solidFill>
              </a:rPr>
              <a:t>gerenciados pelo Docker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Características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Ciclo de Vida Independente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 exclusão de um contêiner </a:t>
            </a:r>
            <a:r>
              <a:rPr b="1" lang="en-US" sz="2000">
                <a:solidFill>
                  <a:schemeClr val="dk1"/>
                </a:solidFill>
              </a:rPr>
              <a:t>não apaga o volume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Os dados permanecem intactos.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Portabilidade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Facilita </a:t>
            </a:r>
            <a:r>
              <a:rPr b="1" lang="en-US" sz="2000">
                <a:solidFill>
                  <a:schemeClr val="dk1"/>
                </a:solidFill>
              </a:rPr>
              <a:t>backup, migração</a:t>
            </a:r>
            <a:r>
              <a:rPr lang="en-US" sz="2000">
                <a:solidFill>
                  <a:schemeClr val="dk1"/>
                </a:solidFill>
              </a:rPr>
              <a:t> e </a:t>
            </a:r>
            <a:r>
              <a:rPr b="1" lang="en-US" sz="2000">
                <a:solidFill>
                  <a:schemeClr val="dk1"/>
                </a:solidFill>
              </a:rPr>
              <a:t>compartilhamento</a:t>
            </a:r>
            <a:r>
              <a:rPr lang="en-US" sz="2000">
                <a:solidFill>
                  <a:schemeClr val="dk1"/>
                </a:solidFill>
              </a:rPr>
              <a:t> de dados entre contêineres.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Performance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Volumes são </a:t>
            </a:r>
            <a:r>
              <a:rPr b="1" lang="en-US" sz="2000">
                <a:solidFill>
                  <a:schemeClr val="dk1"/>
                </a:solidFill>
              </a:rPr>
              <a:t>otimizados</a:t>
            </a:r>
            <a:r>
              <a:rPr lang="en-US" sz="2000">
                <a:solidFill>
                  <a:schemeClr val="dk1"/>
                </a:solidFill>
              </a:rPr>
              <a:t> para operações de leitura e escrita (</a:t>
            </a:r>
            <a:r>
              <a:rPr b="1" lang="en-US" sz="2000">
                <a:solidFill>
                  <a:schemeClr val="dk1"/>
                </a:solidFill>
              </a:rPr>
              <a:t>I/O</a:t>
            </a:r>
            <a:r>
              <a:rPr lang="en-US" sz="2000">
                <a:solidFill>
                  <a:schemeClr val="dk1"/>
                </a:solidFill>
              </a:rPr>
              <a:t>) de contêineres.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Funcionamento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Ao criar um contêiner, você pode </a:t>
            </a:r>
            <a:r>
              <a:rPr b="1" lang="en-US" sz="2000">
                <a:solidFill>
                  <a:schemeClr val="dk1"/>
                </a:solidFill>
              </a:rPr>
              <a:t>montar um volume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329" name="Google Shape;329;g37c50c45887_0_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0500" y="3429000"/>
            <a:ext cx="7082700" cy="371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c50c45887_0_182"/>
          <p:cNvSpPr txBox="1"/>
          <p:nvPr/>
        </p:nvSpPr>
        <p:spPr>
          <a:xfrm>
            <a:off x="0" y="0"/>
            <a:ext cx="8651100" cy="87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Bind Mounts no Docker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Definição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Permitem </a:t>
            </a:r>
            <a:r>
              <a:rPr b="1" lang="en-US" sz="1700">
                <a:solidFill>
                  <a:schemeClr val="dk1"/>
                </a:solidFill>
              </a:rPr>
              <a:t>mapear um arquivo ou diretório do host</a:t>
            </a:r>
            <a:r>
              <a:rPr lang="en-US" sz="1700">
                <a:solidFill>
                  <a:schemeClr val="dk1"/>
                </a:solidFill>
              </a:rPr>
              <a:t> diretamente dentro de um contêiner.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O contêiner passa a </a:t>
            </a:r>
            <a:r>
              <a:rPr b="1" lang="en-US" sz="1700">
                <a:solidFill>
                  <a:schemeClr val="dk1"/>
                </a:solidFill>
              </a:rPr>
              <a:t>ler e escrever</a:t>
            </a:r>
            <a:r>
              <a:rPr lang="en-US" sz="1700">
                <a:solidFill>
                  <a:schemeClr val="dk1"/>
                </a:solidFill>
              </a:rPr>
              <a:t> nesse local </a:t>
            </a:r>
            <a:r>
              <a:rPr b="1" lang="en-US" sz="1700">
                <a:solidFill>
                  <a:schemeClr val="dk1"/>
                </a:solidFill>
              </a:rPr>
              <a:t>diretamente no host</a:t>
            </a:r>
            <a:r>
              <a:rPr lang="en-US" sz="1700">
                <a:solidFill>
                  <a:schemeClr val="dk1"/>
                </a:solidFill>
              </a:rPr>
              <a:t>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Funcionamento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Arquivos/diretórios do host ficam </a:t>
            </a:r>
            <a:r>
              <a:rPr b="1" lang="en-US" sz="1700">
                <a:solidFill>
                  <a:schemeClr val="dk1"/>
                </a:solidFill>
              </a:rPr>
              <a:t>sincronizados</a:t>
            </a:r>
            <a:r>
              <a:rPr lang="en-US" sz="1700">
                <a:solidFill>
                  <a:schemeClr val="dk1"/>
                </a:solidFill>
              </a:rPr>
              <a:t> com o contêiner.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Alterações feitas no host → aparecem no contêiner.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Alterações feitas no contêiner → modificam o host.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Caso de Uso Principal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Ambientes de desenvolvimento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Ideal para trabalhar com </a:t>
            </a:r>
            <a:r>
              <a:rPr b="1" lang="en-US" sz="1700">
                <a:solidFill>
                  <a:schemeClr val="dk1"/>
                </a:solidFill>
              </a:rPr>
              <a:t>código-fonte</a:t>
            </a:r>
            <a:r>
              <a:rPr lang="en-US" sz="1700">
                <a:solidFill>
                  <a:schemeClr val="dk1"/>
                </a:solidFill>
              </a:rPr>
              <a:t>, já que alterações no host se refletem em tempo real dentro do contêiner.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Desvantagens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Acoplamento</a:t>
            </a:r>
            <a:r>
              <a:rPr lang="en-US" sz="1700">
                <a:solidFill>
                  <a:schemeClr val="dk1"/>
                </a:solidFill>
              </a:rPr>
              <a:t> → a estrutura do contêiner fica dependente da do host.</a:t>
            </a:r>
            <a:br>
              <a:rPr lang="en-US" sz="1700">
                <a:solidFill>
                  <a:schemeClr val="dk1"/>
                </a:solidFill>
              </a:rPr>
            </a:br>
            <a:r>
              <a:rPr b="1" lang="en-US" sz="1700">
                <a:solidFill>
                  <a:schemeClr val="dk1"/>
                </a:solidFill>
              </a:rPr>
              <a:t>Problemas de permissões</a:t>
            </a:r>
            <a:r>
              <a:rPr lang="en-US" sz="1700">
                <a:solidFill>
                  <a:schemeClr val="dk1"/>
                </a:solidFill>
              </a:rPr>
              <a:t> → diferenças entre usuários do host e do contêiner podem gerar conflitos de acesso.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35" name="Google Shape;335;g37c50c45887_0_182"/>
          <p:cNvSpPr txBox="1"/>
          <p:nvPr/>
        </p:nvSpPr>
        <p:spPr>
          <a:xfrm>
            <a:off x="9579150" y="770750"/>
            <a:ext cx="7660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Comando de Exemplo:</a:t>
            </a:r>
            <a:endParaRPr b="1" sz="3400"/>
          </a:p>
        </p:txBody>
      </p:sp>
      <p:pic>
        <p:nvPicPr>
          <p:cNvPr id="336" name="Google Shape;336;g37c50c45887_0_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7163" y="2349188"/>
            <a:ext cx="9364175" cy="14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c50c45887_0_13"/>
          <p:cNvSpPr txBox="1"/>
          <p:nvPr/>
        </p:nvSpPr>
        <p:spPr>
          <a:xfrm>
            <a:off x="0" y="0"/>
            <a:ext cx="10082400" cy="52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Redes (Networking) no Docker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Conceito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O Docker fornece diferentes </a:t>
            </a:r>
            <a:r>
              <a:rPr b="1" lang="en-US" sz="1500">
                <a:solidFill>
                  <a:schemeClr val="dk1"/>
                </a:solidFill>
              </a:rPr>
              <a:t>opções de rede</a:t>
            </a:r>
            <a:r>
              <a:rPr lang="en-US" sz="1500">
                <a:solidFill>
                  <a:schemeClr val="dk1"/>
                </a:solidFill>
              </a:rPr>
              <a:t> para: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Permitir que </a:t>
            </a:r>
            <a:r>
              <a:rPr b="1" lang="en-US" sz="1500">
                <a:solidFill>
                  <a:schemeClr val="dk1"/>
                </a:solidFill>
              </a:rPr>
              <a:t>contêineres conversem entre si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Controlar a </a:t>
            </a:r>
            <a:r>
              <a:rPr b="1" lang="en-US" sz="1500">
                <a:solidFill>
                  <a:schemeClr val="dk1"/>
                </a:solidFill>
              </a:rPr>
              <a:t>comunicação com o mundo exterior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Principais Drivers de Rede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1.</a:t>
            </a: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bridge</a:t>
            </a:r>
            <a:r>
              <a:rPr b="1" lang="en-US" sz="1500">
                <a:solidFill>
                  <a:schemeClr val="dk1"/>
                </a:solidFill>
              </a:rPr>
              <a:t> (padrão)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Cria uma </a:t>
            </a:r>
            <a:r>
              <a:rPr b="1" lang="en-US" sz="1500">
                <a:solidFill>
                  <a:schemeClr val="dk1"/>
                </a:solidFill>
              </a:rPr>
              <a:t>rede privada interna</a:t>
            </a:r>
            <a:r>
              <a:rPr lang="en-US" sz="1500">
                <a:solidFill>
                  <a:schemeClr val="dk1"/>
                </a:solidFill>
              </a:rPr>
              <a:t> no host.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Contêineres na mesma rede </a:t>
            </a:r>
            <a:r>
              <a:rPr b="1" lang="en-US" sz="1500">
                <a:solidFill>
                  <a:schemeClr val="dk1"/>
                </a:solidFill>
              </a:rPr>
              <a:t>se comunicam via IP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Para acesso externo → usar </a:t>
            </a:r>
            <a:r>
              <a:rPr b="1" lang="en-US" sz="1500">
                <a:solidFill>
                  <a:schemeClr val="dk1"/>
                </a:solidFill>
              </a:rPr>
              <a:t>mapeamento de portas</a:t>
            </a:r>
            <a:r>
              <a:rPr lang="en-US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342" name="Google Shape;342;g37c50c45887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9850" y="4054600"/>
            <a:ext cx="6383600" cy="12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7c50c45887_0_13"/>
          <p:cNvSpPr txBox="1"/>
          <p:nvPr/>
        </p:nvSpPr>
        <p:spPr>
          <a:xfrm>
            <a:off x="0" y="5344725"/>
            <a:ext cx="74763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2. </a:t>
            </a: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host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Remove o isolamento de rede.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O contêiner </a:t>
            </a:r>
            <a:r>
              <a:rPr b="1" lang="en-US" sz="1500">
                <a:solidFill>
                  <a:schemeClr val="dk1"/>
                </a:solidFill>
              </a:rPr>
              <a:t>compartilha a interface de rede do host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Máxima performance</a:t>
            </a:r>
            <a:r>
              <a:rPr lang="en-US" sz="1500">
                <a:solidFill>
                  <a:schemeClr val="dk1"/>
                </a:solidFill>
              </a:rPr>
              <a:t>, mas </a:t>
            </a:r>
            <a:r>
              <a:rPr b="1" lang="en-US" sz="1500">
                <a:solidFill>
                  <a:schemeClr val="dk1"/>
                </a:solidFill>
              </a:rPr>
              <a:t>menos seguro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3.</a:t>
            </a: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Desativa totalmente a rede do contêiner.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Útil para </a:t>
            </a:r>
            <a:r>
              <a:rPr b="1" lang="en-US" sz="1500">
                <a:solidFill>
                  <a:schemeClr val="dk1"/>
                </a:solidFill>
              </a:rPr>
              <a:t>processamento isolado</a:t>
            </a:r>
            <a:r>
              <a:rPr lang="en-US" sz="1500">
                <a:solidFill>
                  <a:schemeClr val="dk1"/>
                </a:solidFill>
              </a:rPr>
              <a:t>, sem comunicação externa.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7c50c45887_0_196"/>
          <p:cNvSpPr txBox="1"/>
          <p:nvPr/>
        </p:nvSpPr>
        <p:spPr>
          <a:xfrm>
            <a:off x="0" y="0"/>
            <a:ext cx="13086900" cy="24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Redes Definidas pelo Usuário no Docker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Boa Prática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Criar </a:t>
            </a:r>
            <a:r>
              <a:rPr b="1" lang="en-US" sz="2000">
                <a:solidFill>
                  <a:schemeClr val="dk1"/>
                </a:solidFill>
              </a:rPr>
              <a:t>redes bridge customizadas</a:t>
            </a:r>
            <a:r>
              <a:rPr lang="en-US" sz="2000">
                <a:solidFill>
                  <a:schemeClr val="dk1"/>
                </a:solidFill>
              </a:rPr>
              <a:t> para cada aplicação.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Exemplo de criação: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49" name="Google Shape;349;g37c50c45887_0_196"/>
          <p:cNvSpPr txBox="1"/>
          <p:nvPr/>
        </p:nvSpPr>
        <p:spPr>
          <a:xfrm>
            <a:off x="0" y="2419200"/>
            <a:ext cx="58041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docker network create minha-rede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7c50c45887_0_196"/>
          <p:cNvSpPr txBox="1"/>
          <p:nvPr/>
        </p:nvSpPr>
        <p:spPr>
          <a:xfrm>
            <a:off x="78650" y="3173400"/>
            <a:ext cx="11372400" cy="6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🔹 Vantagens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Melhor Isolamento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Contêineres em redes diferentes são </a:t>
            </a:r>
            <a:r>
              <a:rPr b="1" lang="en-US" sz="2000">
                <a:solidFill>
                  <a:schemeClr val="dk1"/>
                </a:solidFill>
              </a:rPr>
              <a:t>isolados por padrão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Reduz risco de conflitos e aumenta a segurança.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Resolução de Nomes Automática (Service Discovery)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Contêineres na mesma rede podem se comunicar usando o </a:t>
            </a:r>
            <a:r>
              <a:rPr b="1" lang="en-US" sz="2000">
                <a:solidFill>
                  <a:schemeClr val="dk1"/>
                </a:solidFill>
              </a:rPr>
              <a:t>nome do contêiner como hostname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Exemplo: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-US" sz="2000">
                <a:solidFill>
                  <a:schemeClr val="dk1"/>
                </a:solidFill>
              </a:rPr>
              <a:t>O contêiner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api</a:t>
            </a:r>
            <a:r>
              <a:rPr lang="en-US" sz="2000">
                <a:solidFill>
                  <a:schemeClr val="dk1"/>
                </a:solidFill>
              </a:rPr>
              <a:t> acessa o banco de dados usando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</a:t>
            </a:r>
            <a:r>
              <a:rPr lang="en-US" sz="2000">
                <a:solidFill>
                  <a:schemeClr val="dk1"/>
                </a:solidFill>
              </a:rPr>
              <a:t> como endereço.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-US" sz="2000">
                <a:solidFill>
                  <a:schemeClr val="dk1"/>
                </a:solidFill>
              </a:rPr>
              <a:t>Não é necessário configurar IPs manualmente.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351" name="Google Shape;351;g37c50c45887_0_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3450" y="2571600"/>
            <a:ext cx="6684549" cy="5377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c50c45887_0_10"/>
          <p:cNvSpPr txBox="1"/>
          <p:nvPr/>
        </p:nvSpPr>
        <p:spPr>
          <a:xfrm>
            <a:off x="0" y="0"/>
            <a:ext cx="15807900" cy="103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Docker como Facilitador de Microsserviços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 Isolamento de Dependências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Cada microsserviço roda em sua </a:t>
            </a:r>
            <a:r>
              <a:rPr b="1" lang="en-US" sz="1600">
                <a:solidFill>
                  <a:schemeClr val="dk1"/>
                </a:solidFill>
              </a:rPr>
              <a:t>própria imagem</a:t>
            </a:r>
            <a:r>
              <a:rPr lang="en-US" sz="1600">
                <a:solidFill>
                  <a:schemeClr val="dk1"/>
                </a:solidFill>
              </a:rPr>
              <a:t>, com: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Runtime específico.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Suas próprias bibliotecas e configurações.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Elimina conflitos entre versões de linguagens ou pacotes.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Implantação Independente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Uma </a:t>
            </a:r>
            <a:r>
              <a:rPr b="1" lang="en-US" sz="1600">
                <a:solidFill>
                  <a:schemeClr val="dk1"/>
                </a:solidFill>
              </a:rPr>
              <a:t>nova versão</a:t>
            </a:r>
            <a:r>
              <a:rPr lang="en-US" sz="1600">
                <a:solidFill>
                  <a:schemeClr val="dk1"/>
                </a:solidFill>
              </a:rPr>
              <a:t> de um microsserviço pode ser implantada como </a:t>
            </a:r>
            <a:r>
              <a:rPr b="1" lang="en-US" sz="1600">
                <a:solidFill>
                  <a:schemeClr val="dk1"/>
                </a:solidFill>
              </a:rPr>
              <a:t>um novo contêiner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Não afeta os demais serviços → facilita CI/CD.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Escalabilidade Granular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Permite </a:t>
            </a:r>
            <a:r>
              <a:rPr b="1" lang="en-US" sz="1600">
                <a:solidFill>
                  <a:schemeClr val="dk1"/>
                </a:solidFill>
              </a:rPr>
              <a:t>escalar horizontalmente apenas os serviços críticos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Evita desperdício de recursos → otimização de custos.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Poliglotismo Tecnológico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Cada serviço pode ser escrito em </a:t>
            </a:r>
            <a:r>
              <a:rPr b="1" lang="en-US" sz="1600">
                <a:solidFill>
                  <a:schemeClr val="dk1"/>
                </a:solidFill>
              </a:rPr>
              <a:t>linguagens e frameworks diferentes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Exemplo: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</a:t>
            </a:r>
            <a:r>
              <a:rPr lang="en-US" sz="1600">
                <a:solidFill>
                  <a:schemeClr val="dk1"/>
                </a:solidFill>
              </a:rPr>
              <a:t> em Node.js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payments</a:t>
            </a:r>
            <a:r>
              <a:rPr lang="en-US" sz="1600">
                <a:solidFill>
                  <a:schemeClr val="dk1"/>
                </a:solidFill>
              </a:rPr>
              <a:t> em Java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analytics</a:t>
            </a:r>
            <a:r>
              <a:rPr lang="en-US" sz="1600">
                <a:solidFill>
                  <a:schemeClr val="dk1"/>
                </a:solidFill>
              </a:rPr>
              <a:t> em Python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c50c45887_0_220"/>
          <p:cNvSpPr txBox="1"/>
          <p:nvPr/>
        </p:nvSpPr>
        <p:spPr>
          <a:xfrm>
            <a:off x="0" y="0"/>
            <a:ext cx="16075500" cy="69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1"/>
                </a:solidFill>
              </a:rPr>
              <a:t>Docker e o Ciclo de Vida DevOps (CI/CD)</a:t>
            </a:r>
            <a:endParaRPr b="1" sz="5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Paridade de Ambientes:</a:t>
            </a:r>
            <a:r>
              <a:rPr lang="en-US" sz="3000">
                <a:solidFill>
                  <a:schemeClr val="dk1"/>
                </a:solidFill>
              </a:rPr>
              <a:t> O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Dockerfile</a:t>
            </a:r>
            <a:r>
              <a:rPr lang="en-US" sz="3000">
                <a:solidFill>
                  <a:schemeClr val="dk1"/>
                </a:solidFill>
              </a:rPr>
              <a:t> serve como "infraestrutura como código", garantindo que os ambientes de desenvolvimento, teste e produção sejam idênticos.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Integração com Pipelines de CI/CD:</a:t>
            </a:r>
            <a:endParaRPr b="1" sz="3000">
              <a:solidFill>
                <a:schemeClr val="dk1"/>
              </a:solidFill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AutoNum type="arabicPeriod"/>
            </a:pPr>
            <a:r>
              <a:rPr b="1" lang="en-US" sz="3000">
                <a:solidFill>
                  <a:schemeClr val="dk1"/>
                </a:solidFill>
              </a:rPr>
              <a:t>Build:</a:t>
            </a:r>
            <a:r>
              <a:rPr lang="en-US" sz="3000">
                <a:solidFill>
                  <a:schemeClr val="dk1"/>
                </a:solidFill>
              </a:rPr>
              <a:t> O servidor de CI (Jenkins, GitLab CI) executa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build</a:t>
            </a:r>
            <a:r>
              <a:rPr lang="en-US" sz="3000">
                <a:solidFill>
                  <a:schemeClr val="dk1"/>
                </a:solidFill>
              </a:rPr>
              <a:t> para criar uma imagem a partir de um commit.</a:t>
            </a:r>
            <a:endParaRPr sz="3000">
              <a:solidFill>
                <a:schemeClr val="dk1"/>
              </a:solidFill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AutoNum type="arabicPeriod"/>
            </a:pPr>
            <a:r>
              <a:rPr b="1" lang="en-US" sz="3000">
                <a:solidFill>
                  <a:schemeClr val="dk1"/>
                </a:solidFill>
              </a:rPr>
              <a:t>Test:</a:t>
            </a:r>
            <a:r>
              <a:rPr lang="en-US" sz="3000">
                <a:solidFill>
                  <a:schemeClr val="dk1"/>
                </a:solidFill>
              </a:rPr>
              <a:t> O pipeline inicia um contêiner a partir da nova imagem para executar testes de unidade, integração e etc.</a:t>
            </a:r>
            <a:endParaRPr sz="3000">
              <a:solidFill>
                <a:schemeClr val="dk1"/>
              </a:solidFill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AutoNum type="arabicPeriod"/>
            </a:pPr>
            <a:r>
              <a:rPr b="1" lang="en-US" sz="3000">
                <a:solidFill>
                  <a:schemeClr val="dk1"/>
                </a:solidFill>
              </a:rPr>
              <a:t>Push:</a:t>
            </a:r>
            <a:r>
              <a:rPr lang="en-US" sz="3000">
                <a:solidFill>
                  <a:schemeClr val="dk1"/>
                </a:solidFill>
              </a:rPr>
              <a:t> Se os testes passarem, a imagem é versionada e enviada para um Docker Registry.</a:t>
            </a:r>
            <a:endParaRPr sz="3000">
              <a:solidFill>
                <a:schemeClr val="dk1"/>
              </a:solidFill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AutoNum type="arabicPeriod"/>
            </a:pPr>
            <a:r>
              <a:rPr b="1" lang="en-US" sz="3000">
                <a:solidFill>
                  <a:schemeClr val="dk1"/>
                </a:solidFill>
              </a:rPr>
              <a:t>Deploy:</a:t>
            </a:r>
            <a:r>
              <a:rPr lang="en-US" sz="3000">
                <a:solidFill>
                  <a:schemeClr val="dk1"/>
                </a:solidFill>
              </a:rPr>
              <a:t> O ambiente de produção (geralmente orquestrado pelo Kubernetes) realiza o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pull</a:t>
            </a:r>
            <a:r>
              <a:rPr lang="en-US" sz="3000">
                <a:solidFill>
                  <a:schemeClr val="dk1"/>
                </a:solidFill>
              </a:rPr>
              <a:t> da nova imagem e atualiza os contêineres em execução (ex: Rolling Update).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7c50c45887_0_217"/>
          <p:cNvSpPr txBox="1"/>
          <p:nvPr/>
        </p:nvSpPr>
        <p:spPr>
          <a:xfrm>
            <a:off x="0" y="0"/>
            <a:ext cx="17758500" cy="9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Considerações Arquiteturais e Boas Práticas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Imagens Mínimas</a:t>
            </a:r>
            <a:endParaRPr b="1" sz="18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Prefira </a:t>
            </a:r>
            <a:r>
              <a:rPr b="1" lang="en-US">
                <a:solidFill>
                  <a:schemeClr val="dk1"/>
                </a:solidFill>
              </a:rPr>
              <a:t>imagens base pequenas</a:t>
            </a:r>
            <a:r>
              <a:rPr lang="en-US">
                <a:solidFill>
                  <a:schemeClr val="dk1"/>
                </a:solidFill>
              </a:rPr>
              <a:t> (ex.: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alpine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Use </a:t>
            </a:r>
            <a:r>
              <a:rPr b="1" lang="en-US">
                <a:solidFill>
                  <a:schemeClr val="dk1"/>
                </a:solidFill>
              </a:rPr>
              <a:t>multi-stage builds</a:t>
            </a:r>
            <a:r>
              <a:rPr lang="en-US">
                <a:solidFill>
                  <a:schemeClr val="dk1"/>
                </a:solidFill>
              </a:rPr>
              <a:t> para gerar imagens finais enxutas.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Benefícios: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Deploys mais rápidos.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Menor superfície de ataque → mais segurança.</a:t>
            </a:r>
            <a:br>
              <a:rPr lang="en-US" sz="11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Contêineres Stateless</a:t>
            </a:r>
            <a:endParaRPr b="1" sz="18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Sempre que possível, projete aplicações para serem </a:t>
            </a:r>
            <a:r>
              <a:rPr b="1" lang="en-US">
                <a:solidFill>
                  <a:schemeClr val="dk1"/>
                </a:solidFill>
              </a:rPr>
              <a:t>sem estado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Externalize o estado em: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Bancos de dados.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Sistemas de cache.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Volumes persistentes.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Vantagens: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Mais fáceis de </a:t>
            </a:r>
            <a:r>
              <a:rPr b="1" lang="en-US">
                <a:solidFill>
                  <a:schemeClr val="dk1"/>
                </a:solidFill>
              </a:rPr>
              <a:t>escalar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b="1" lang="en-US">
                <a:solidFill>
                  <a:schemeClr val="dk1"/>
                </a:solidFill>
              </a:rPr>
              <a:t>substituir</a:t>
            </a:r>
            <a:r>
              <a:rPr lang="en-US">
                <a:solidFill>
                  <a:schemeClr val="dk1"/>
                </a:solidFill>
              </a:rPr>
              <a:t> e </a:t>
            </a:r>
            <a:r>
              <a:rPr b="1" lang="en-US">
                <a:solidFill>
                  <a:schemeClr val="dk1"/>
                </a:solidFill>
              </a:rPr>
              <a:t>gerenciar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Segurança</a:t>
            </a:r>
            <a:endParaRPr b="1" sz="18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Evite rodar como root</a:t>
            </a:r>
            <a:r>
              <a:rPr lang="en-US">
                <a:solidFill>
                  <a:schemeClr val="dk1"/>
                </a:solidFill>
              </a:rPr>
              <a:t> dentro do contêiner.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Use </a:t>
            </a:r>
            <a:r>
              <a:rPr b="1" lang="en-US">
                <a:solidFill>
                  <a:schemeClr val="dk1"/>
                </a:solidFill>
              </a:rPr>
              <a:t>scanners de vulnerabilidade</a:t>
            </a:r>
            <a:r>
              <a:rPr lang="en-US">
                <a:solidFill>
                  <a:schemeClr val="dk1"/>
                </a:solidFill>
              </a:rPr>
              <a:t> (ex.: </a:t>
            </a:r>
            <a:r>
              <a:rPr i="1" lang="en-US">
                <a:solidFill>
                  <a:schemeClr val="dk1"/>
                </a:solidFill>
              </a:rPr>
              <a:t>Trivy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i="1" lang="en-US">
                <a:solidFill>
                  <a:schemeClr val="dk1"/>
                </a:solidFill>
              </a:rPr>
              <a:t>Snyk</a:t>
            </a:r>
            <a:r>
              <a:rPr lang="en-US">
                <a:solidFill>
                  <a:schemeClr val="dk1"/>
                </a:solidFill>
              </a:rPr>
              <a:t>) para inspecionar imagens.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Gerencie segredos com segurança</a:t>
            </a:r>
            <a:r>
              <a:rPr lang="en-US">
                <a:solidFill>
                  <a:schemeClr val="dk1"/>
                </a:solidFill>
              </a:rPr>
              <a:t>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Nunca inclua </a:t>
            </a:r>
            <a:r>
              <a:rPr b="1" lang="en-US">
                <a:solidFill>
                  <a:schemeClr val="dk1"/>
                </a:solidFill>
              </a:rPr>
              <a:t>senhas, tokens ou chaves de API</a:t>
            </a:r>
            <a:r>
              <a:rPr lang="en-US">
                <a:solidFill>
                  <a:schemeClr val="dk1"/>
                </a:solidFill>
              </a:rPr>
              <a:t> no Dockerfile.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Utilize variáveis de ambiente seguras ou secret managers (ex.: Vault, AWS Secrets Manager).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67" name="Google Shape;367;g37c50c45887_0_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2325" y="1531875"/>
            <a:ext cx="5829300" cy="58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2" name="Google Shape;372;p25"/>
          <p:cNvCxnSpPr/>
          <p:nvPr/>
        </p:nvCxnSpPr>
        <p:spPr>
          <a:xfrm>
            <a:off x="3001685" y="1057186"/>
            <a:ext cx="523800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25"/>
          <p:cNvSpPr txBox="1"/>
          <p:nvPr/>
        </p:nvSpPr>
        <p:spPr>
          <a:xfrm>
            <a:off x="3276600" y="348209"/>
            <a:ext cx="6280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Nosso 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4118768"/>
            <a:ext cx="8745936" cy="58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5"/>
          <p:cNvSpPr txBox="1"/>
          <p:nvPr/>
        </p:nvSpPr>
        <p:spPr>
          <a:xfrm>
            <a:off x="6390795" y="2933700"/>
            <a:ext cx="675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</a:t>
            </a: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7c50c45887_0_236"/>
          <p:cNvSpPr txBox="1"/>
          <p:nvPr/>
        </p:nvSpPr>
        <p:spPr>
          <a:xfrm>
            <a:off x="3463050" y="3265650"/>
            <a:ext cx="113619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PARA AS QUESTÕES</a:t>
            </a:r>
            <a:endParaRPr b="1"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https://g.co/gemini/share/99b99306926d</a:t>
            </a:r>
            <a:endParaRPr b="1"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5" name="Google Shape;385;p59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59"/>
          <p:cNvSpPr txBox="1"/>
          <p:nvPr/>
        </p:nvSpPr>
        <p:spPr>
          <a:xfrm>
            <a:off x="3276600" y="377016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Vamos ao AVA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2493043"/>
            <a:ext cx="5486400" cy="5510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37449" y="1383085"/>
            <a:ext cx="3020210" cy="1917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14066" y="36957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14066" y="5939081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8709" y="8146677"/>
            <a:ext cx="302895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9"/>
          <p:cNvSpPr txBox="1"/>
          <p:nvPr/>
        </p:nvSpPr>
        <p:spPr>
          <a:xfrm>
            <a:off x="13757659" y="2058240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Vídeo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9"/>
          <p:cNvSpPr txBox="1"/>
          <p:nvPr/>
        </p:nvSpPr>
        <p:spPr>
          <a:xfrm>
            <a:off x="13792200" y="4034850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9"/>
          <p:cNvSpPr txBox="1"/>
          <p:nvPr/>
        </p:nvSpPr>
        <p:spPr>
          <a:xfrm>
            <a:off x="13792200" y="6570618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Perguntas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9"/>
          <p:cNvSpPr txBox="1"/>
          <p:nvPr/>
        </p:nvSpPr>
        <p:spPr>
          <a:xfrm>
            <a:off x="13792200" y="8611526"/>
            <a:ext cx="289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0" name="Google Shape;400;p60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60"/>
          <p:cNvSpPr txBox="1"/>
          <p:nvPr/>
        </p:nvSpPr>
        <p:spPr>
          <a:xfrm>
            <a:off x="3001686" y="348209"/>
            <a:ext cx="523795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6661" y="3238503"/>
            <a:ext cx="9065939" cy="6032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61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408" name="Google Shape;408;p61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61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0" name="Google Shape;410;p61"/>
          <p:cNvSpPr/>
          <p:nvPr/>
        </p:nvSpPr>
        <p:spPr>
          <a:xfrm>
            <a:off x="1477632" y="52035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9" l="0" r="0" t="-46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1" name="Google Shape;411;p61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412" name="Google Shape;412;p61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61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61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61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61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61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61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61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61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Francisco Borges</dc:creator>
</cp:coreProperties>
</file>