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d9f8T2nnd+FeEhuIKzIyCHhd0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474d96ed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6474d96ed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74d96ed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6474d96ed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474d96ed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6474d96ed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74d96ed1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6474d96ed1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474d96ed1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6474d96ed1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74d96ed1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6474d96ed1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474d96ed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6474d96ed1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474d96ed1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6474d96ed1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474d96ed1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6474d96ed1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474d96ed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6474d96ed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474d96ed1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6474d96ed1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474d96ed1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6474d96ed1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474d96ed1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6474d96ed1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74d96ed1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6474d96ed1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55aa3ae7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455aa3ae7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7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" name="Google Shape;104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7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1" name="Google Shape;111;p7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7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3" name="Google Shape;113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4" name="Google Shape;124;p7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8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8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2" name="Google Shape;132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8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10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152" name="Google Shape;152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"/>
          <p:cNvSpPr/>
          <p:nvPr/>
        </p:nvSpPr>
        <p:spPr>
          <a:xfrm>
            <a:off x="1337682" y="25676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9" l="0" r="0" t="-4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156" name="Google Shape;156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1259809" y="206904"/>
            <a:ext cx="81438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1259797" y="1711322"/>
            <a:ext cx="788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1131156" y="4452004"/>
            <a:ext cx="81438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4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4"/>
          <p:cNvSpPr txBox="1"/>
          <p:nvPr/>
        </p:nvSpPr>
        <p:spPr>
          <a:xfrm>
            <a:off x="3001685" y="190500"/>
            <a:ext cx="556260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2667001" y="3437418"/>
            <a:ext cx="675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Adição de paginação e ordenação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9963" y="1764051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474d96ed1_0_1"/>
          <p:cNvSpPr txBox="1"/>
          <p:nvPr/>
        </p:nvSpPr>
        <p:spPr>
          <a:xfrm>
            <a:off x="221600" y="1936100"/>
            <a:ext cx="124302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Objetivo da Funcionalidade: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O objetivo desta alteração é otimizar os endpoints que retornam listas de dados, como a listagem de clientes e restaurantes. Em uma aplicação real, essas listas podem conter milhares de registros, e retornar todos de uma vez é ineficiente e sobrecarrega tanto o servidor quanto o cliente. A paginação resolve isso, permitindo que os dados sejam entregues em "páginas" menores e gerenciáveis.</a:t>
            </a:r>
            <a:endParaRPr/>
          </a:p>
        </p:txBody>
      </p:sp>
      <p:sp>
        <p:nvSpPr>
          <p:cNvPr id="181" name="Google Shape;181;g36474d96ed1_0_1"/>
          <p:cNvSpPr txBox="1"/>
          <p:nvPr/>
        </p:nvSpPr>
        <p:spPr>
          <a:xfrm>
            <a:off x="221600" y="4073550"/>
            <a:ext cx="67179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Passo 1: Atualizar os Repositórios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 Spring Data JPA facilita muito a nossa vida. Precisamos apenas alterar a assinatura dos métodos de busca nos repositórios para que aceitem um objeto do tipo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6474d96ed1_0_1"/>
          <p:cNvSpPr txBox="1"/>
          <p:nvPr/>
        </p:nvSpPr>
        <p:spPr>
          <a:xfrm>
            <a:off x="221600" y="6067300"/>
            <a:ext cx="671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1.1. </a:t>
            </a:r>
            <a:r>
              <a:rPr b="1" lang="en-US" sz="1800">
                <a:solidFill>
                  <a:schemeClr val="dk1"/>
                </a:solidFill>
              </a:rPr>
              <a:t>Modifique </a:t>
            </a:r>
            <a:r>
              <a:rPr lang="en-US" sz="1800">
                <a:solidFill>
                  <a:schemeClr val="dk1"/>
                </a:solidFill>
              </a:rPr>
              <a:t>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ClienteRepository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6474d96ed1_0_1"/>
          <p:cNvSpPr txBox="1"/>
          <p:nvPr/>
        </p:nvSpPr>
        <p:spPr>
          <a:xfrm>
            <a:off x="221600" y="7141000"/>
            <a:ext cx="98322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Altere </a:t>
            </a:r>
            <a:r>
              <a:rPr lang="en-US" sz="1800">
                <a:solidFill>
                  <a:schemeClr val="dk1"/>
                </a:solidFill>
              </a:rPr>
              <a:t>o método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findByAtivoTrue</a:t>
            </a:r>
            <a:r>
              <a:rPr lang="en-US" sz="1800">
                <a:solidFill>
                  <a:schemeClr val="dk1"/>
                </a:solidFill>
              </a:rPr>
              <a:t> para que ele possa receber as informações de paginação.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src/main/java/com/deliverytech/repository/ClienteRepository.java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6474d96ed1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738850"/>
            <a:ext cx="11970150" cy="66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74d96ed1_0_23"/>
          <p:cNvSpPr txBox="1"/>
          <p:nvPr/>
        </p:nvSpPr>
        <p:spPr>
          <a:xfrm>
            <a:off x="265475" y="1995100"/>
            <a:ext cx="111501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1.2. </a:t>
            </a:r>
            <a:r>
              <a:rPr b="1" lang="en-US" sz="1800">
                <a:solidFill>
                  <a:schemeClr val="dk1"/>
                </a:solidFill>
              </a:rPr>
              <a:t>Modifique </a:t>
            </a:r>
            <a:r>
              <a:rPr lang="en-US" sz="1800">
                <a:solidFill>
                  <a:schemeClr val="dk1"/>
                </a:solidFill>
              </a:rPr>
              <a:t>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RestauranteRepository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Faremos o mesmo para a listagem de todos os restaurantes.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src/main/java/com/deliverytech/repository/RestauranteRepository.java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4" name="Google Shape;194;g36474d96ed1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62500"/>
            <a:ext cx="11263175" cy="5726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474d96ed1_0_18"/>
          <p:cNvSpPr txBox="1"/>
          <p:nvPr/>
        </p:nvSpPr>
        <p:spPr>
          <a:xfrm>
            <a:off x="650350" y="1820150"/>
            <a:ext cx="67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Camada de Serviço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6474d96ed1_0_18"/>
          <p:cNvSpPr txBox="1"/>
          <p:nvPr/>
        </p:nvSpPr>
        <p:spPr>
          <a:xfrm>
            <a:off x="650350" y="2869850"/>
            <a:ext cx="103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Agora, vamos ajustar os serviços para que eles repassem o objeto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 para os repositórios.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6474d96ed1_0_18"/>
          <p:cNvSpPr txBox="1"/>
          <p:nvPr/>
        </p:nvSpPr>
        <p:spPr>
          <a:xfrm>
            <a:off x="650350" y="3651275"/>
            <a:ext cx="10392000" cy="16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2.1. Modifique o </a:t>
            </a: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</a:t>
            </a:r>
            <a:r>
              <a:rPr b="1" lang="en-US" sz="1800">
                <a:solidFill>
                  <a:schemeClr val="dk1"/>
                </a:solidFill>
              </a:rPr>
              <a:t> e sua implementação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src/main/java/com/deliverytech/service/ClienteService.java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g36474d96ed1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325" y="5484400"/>
            <a:ext cx="7146025" cy="466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74d96ed1_0_50"/>
          <p:cNvSpPr txBox="1"/>
          <p:nvPr/>
        </p:nvSpPr>
        <p:spPr>
          <a:xfrm>
            <a:off x="743675" y="2135050"/>
            <a:ext cx="104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src/main/java/com/deliverytech/service/impl/ClienteServiceImpl.java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36474d96ed1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49150"/>
            <a:ext cx="10878275" cy="68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74d96ed1_0_45"/>
          <p:cNvSpPr txBox="1"/>
          <p:nvPr/>
        </p:nvSpPr>
        <p:spPr>
          <a:xfrm>
            <a:off x="580400" y="1820125"/>
            <a:ext cx="671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2.2. </a:t>
            </a:r>
            <a:r>
              <a:rPr b="1" lang="en-US" sz="1800">
                <a:solidFill>
                  <a:schemeClr val="dk1"/>
                </a:solidFill>
              </a:rPr>
              <a:t>Modifique </a:t>
            </a:r>
            <a:r>
              <a:rPr lang="en-US" sz="1800">
                <a:solidFill>
                  <a:schemeClr val="dk1"/>
                </a:solidFill>
              </a:rPr>
              <a:t>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RestauranteService</a:t>
            </a:r>
            <a:r>
              <a:rPr lang="en-US" sz="1800">
                <a:solidFill>
                  <a:schemeClr val="dk1"/>
                </a:solidFill>
              </a:rPr>
              <a:t> e sua implementação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6474d96ed1_0_45"/>
          <p:cNvSpPr txBox="1"/>
          <p:nvPr/>
        </p:nvSpPr>
        <p:spPr>
          <a:xfrm>
            <a:off x="580400" y="2823175"/>
            <a:ext cx="919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src/main/java/com/deliverytech/service/RestauranteService.java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g36474d96ed1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14475"/>
            <a:ext cx="9618500" cy="583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474d96ed1_0_13"/>
          <p:cNvSpPr txBox="1"/>
          <p:nvPr/>
        </p:nvSpPr>
        <p:spPr>
          <a:xfrm>
            <a:off x="628825" y="1738525"/>
            <a:ext cx="998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src/main/java/com/deliverytech/service/impl/RestauranteServiceImpl.java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6474d96ed1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29825"/>
            <a:ext cx="10236799" cy="6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474d96ed1_0_75"/>
          <p:cNvSpPr txBox="1"/>
          <p:nvPr/>
        </p:nvSpPr>
        <p:spPr>
          <a:xfrm>
            <a:off x="637050" y="151625"/>
            <a:ext cx="170139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Passo 3: Atualizar os Controladores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Esta é a etapa final. Vamos modificar os endpoints para que o Spring possa injetar o objeto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 a partir dos parâmetros da URL. O retorno também será modificado para um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</a:t>
            </a:r>
            <a:r>
              <a:rPr lang="en-US" sz="1800">
                <a:solidFill>
                  <a:schemeClr val="dk1"/>
                </a:solidFill>
              </a:rPr>
              <a:t>, que já contém as informações de paginação.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3.1. Modifique o </a:t>
            </a: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ClienteController</a:t>
            </a:r>
            <a:endParaRPr b="1"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src/main/java/com/deliverytech/controller/ClienteController.java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7" name="Google Shape;227;g36474d96ed1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47125"/>
            <a:ext cx="17918025" cy="29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74d96ed1_0_70"/>
          <p:cNvSpPr txBox="1"/>
          <p:nvPr/>
        </p:nvSpPr>
        <p:spPr>
          <a:xfrm>
            <a:off x="256625" y="1679475"/>
            <a:ext cx="77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3.2. </a:t>
            </a:r>
            <a:r>
              <a:rPr b="1" lang="en-US" sz="1800">
                <a:solidFill>
                  <a:schemeClr val="dk1"/>
                </a:solidFill>
              </a:rPr>
              <a:t>Modifique </a:t>
            </a:r>
            <a:r>
              <a:rPr lang="en-US" sz="1800">
                <a:solidFill>
                  <a:schemeClr val="dk1"/>
                </a:solidFill>
              </a:rPr>
              <a:t>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RestauranteController</a:t>
            </a:r>
            <a:endParaRPr sz="1800"/>
          </a:p>
        </p:txBody>
      </p:sp>
      <p:sp>
        <p:nvSpPr>
          <p:cNvPr id="233" name="Google Shape;233;g36474d96ed1_0_70"/>
          <p:cNvSpPr txBox="1"/>
          <p:nvPr/>
        </p:nvSpPr>
        <p:spPr>
          <a:xfrm>
            <a:off x="256625" y="2915825"/>
            <a:ext cx="115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Arquivo: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src/main/java/com/deliverytech/controller/RestauranteController.java</a:t>
            </a:r>
            <a:endParaRPr sz="1800"/>
          </a:p>
        </p:txBody>
      </p:sp>
      <p:pic>
        <p:nvPicPr>
          <p:cNvPr id="234" name="Google Shape;234;g36474d96ed1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52850"/>
            <a:ext cx="18135600" cy="162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74d96ed1_0_8"/>
          <p:cNvSpPr txBox="1"/>
          <p:nvPr/>
        </p:nvSpPr>
        <p:spPr>
          <a:xfrm>
            <a:off x="440425" y="2566625"/>
            <a:ext cx="13179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Resumo das Alterações: Implementando Paginação e Ordenação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6474d96ed1_0_8"/>
          <p:cNvSpPr txBox="1"/>
          <p:nvPr/>
        </p:nvSpPr>
        <p:spPr>
          <a:xfrm>
            <a:off x="128300" y="4455350"/>
            <a:ext cx="17177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Passo 1: Atualizar a Camada de Repositório (Repository)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 primeira mudança foi na camada de acesso a dados. Instruímos o Spring Data JPA a entender que, em vez de listas completas, ele deveria trabalhar com páginas.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O que foi feito: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Alteramos os métodos nos repositórios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ClienteRepository</a:t>
            </a:r>
            <a:r>
              <a:rPr lang="en-US" sz="1800">
                <a:solidFill>
                  <a:schemeClr val="dk1"/>
                </a:solidFill>
              </a:rPr>
              <a:t> 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RestauranteRepository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 tipo de retorno mudou de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List&lt;T&gt;</a:t>
            </a:r>
            <a:r>
              <a:rPr lang="en-US" sz="1800">
                <a:solidFill>
                  <a:schemeClr val="dk1"/>
                </a:solidFill>
              </a:rPr>
              <a:t> para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Page&lt;T&gt;</a:t>
            </a:r>
            <a:r>
              <a:rPr lang="en-US" sz="1800">
                <a:solidFill>
                  <a:schemeClr val="dk1"/>
                </a:solidFill>
              </a:rPr>
              <a:t>. O objeto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</a:t>
            </a:r>
            <a:r>
              <a:rPr lang="en-US" sz="1800">
                <a:solidFill>
                  <a:schemeClr val="dk1"/>
                </a:solidFill>
              </a:rPr>
              <a:t> é especial, pois ele contém não só a lista de itens da página atual, mas também metadados como o número total de páginas, total de elementos, etc.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Adicionamos um parâmetro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 aos métodos. É através deste objeto que o Spring injetará as informações da requisição (qual página, quantos itens por página e como ordenar).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74d96ed1_0_102"/>
          <p:cNvSpPr txBox="1"/>
          <p:nvPr/>
        </p:nvSpPr>
        <p:spPr>
          <a:xfrm>
            <a:off x="484375" y="2029400"/>
            <a:ext cx="102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</a:t>
            </a:r>
            <a:r>
              <a:rPr lang="en-US" sz="1800">
                <a:solidFill>
                  <a:schemeClr val="dk1"/>
                </a:solidFill>
              </a:rPr>
              <a:t>xemplo no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ClienteRepository.java</a:t>
            </a:r>
            <a:r>
              <a:rPr lang="en-US" sz="1800">
                <a:solidFill>
                  <a:schemeClr val="dk1"/>
                </a:solidFill>
              </a:rPr>
              <a:t>:</a:t>
            </a:r>
            <a:endParaRPr sz="1800"/>
          </a:p>
        </p:txBody>
      </p:sp>
      <p:pic>
        <p:nvPicPr>
          <p:cNvPr id="246" name="Google Shape;246;g36474d96ed1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43500"/>
            <a:ext cx="16025725" cy="32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74d96ed1_0_97"/>
          <p:cNvSpPr txBox="1"/>
          <p:nvPr/>
        </p:nvSpPr>
        <p:spPr>
          <a:xfrm>
            <a:off x="384875" y="699800"/>
            <a:ext cx="170607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Passo 2: Propagar as Mudanças para a Camada de Serviço (Service)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Com os repositórios atualizados, o próximo passo foi ajustar a camada de serviço, que os utiliza.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O que foi feito: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Atualizamos as assinaturas dos métodos nas interfaces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RestauranteService</a:t>
            </a:r>
            <a:r>
              <a:rPr lang="en-US" sz="1800">
                <a:solidFill>
                  <a:schemeClr val="dk1"/>
                </a:solidFill>
              </a:rPr>
              <a:t>) para refletir a mudança, aceitando 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 e retornando um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Page&lt;T&gt;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Nas classes de implementação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ClienteServiceImpl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RestauranteServiceImpl</a:t>
            </a:r>
            <a:r>
              <a:rPr lang="en-US" sz="1800">
                <a:solidFill>
                  <a:schemeClr val="dk1"/>
                </a:solidFill>
              </a:rPr>
              <a:t>), simplesmente repassamos o objeto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</a:t>
            </a:r>
            <a:r>
              <a:rPr lang="en-US" sz="1800">
                <a:solidFill>
                  <a:schemeClr val="dk1"/>
                </a:solidFill>
              </a:rPr>
              <a:t> para a chamada do método correspondente no repositório.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2" name="Google Shape;252;g36474d96ed1_0_97"/>
          <p:cNvSpPr txBox="1"/>
          <p:nvPr/>
        </p:nvSpPr>
        <p:spPr>
          <a:xfrm>
            <a:off x="384875" y="4198775"/>
            <a:ext cx="87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Exemplo no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ClienteServiceImpl.java</a:t>
            </a:r>
            <a:r>
              <a:rPr lang="en-US" sz="1800">
                <a:solidFill>
                  <a:schemeClr val="dk1"/>
                </a:solidFill>
              </a:rPr>
              <a:t>:</a:t>
            </a:r>
            <a:endParaRPr sz="2100"/>
          </a:p>
        </p:txBody>
      </p:sp>
      <p:pic>
        <p:nvPicPr>
          <p:cNvPr id="253" name="Google Shape;253;g36474d96ed1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12875"/>
            <a:ext cx="11715701" cy="41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474d96ed1_0_126"/>
          <p:cNvSpPr txBox="1"/>
          <p:nvPr/>
        </p:nvSpPr>
        <p:spPr>
          <a:xfrm>
            <a:off x="256600" y="2577600"/>
            <a:ext cx="172122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Passo 3: Expor a Funcionalidade na Camada de Controle (Controller)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 última etapa foi modificar os endpoints na API para que os usuários pudessem, de fato, usar a paginação.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O que foi feito: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Nos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ClienteController</a:t>
            </a:r>
            <a:r>
              <a:rPr lang="en-US" sz="1800">
                <a:solidFill>
                  <a:schemeClr val="dk1"/>
                </a:solidFill>
              </a:rPr>
              <a:t> 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RestauranteController</a:t>
            </a:r>
            <a:r>
              <a:rPr lang="en-US" sz="1800">
                <a:solidFill>
                  <a:schemeClr val="dk1"/>
                </a:solidFill>
              </a:rPr>
              <a:t>, alteramos os métodos de listagem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@GetMapping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 método agora recebe um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Pageable pageable</a:t>
            </a:r>
            <a:r>
              <a:rPr lang="en-US" sz="1800">
                <a:solidFill>
                  <a:schemeClr val="dk1"/>
                </a:solidFill>
              </a:rPr>
              <a:t> como parâmetro. O Spring Boot é inteligente o suficiente para criar este objeto automaticamente a partir dos parâmetros da URL (como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?page=0&amp;size=10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 tipo de retorno mudou de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List&lt;DTO&gt;</a:t>
            </a:r>
            <a:r>
              <a:rPr lang="en-US" sz="1800">
                <a:solidFill>
                  <a:schemeClr val="dk1"/>
                </a:solidFill>
              </a:rPr>
              <a:t> para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Page&lt;DTO&gt;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Usamos o método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.map()</a:t>
            </a:r>
            <a:r>
              <a:rPr lang="en-US" sz="1800">
                <a:solidFill>
                  <a:schemeClr val="dk1"/>
                </a:solidFill>
              </a:rPr>
              <a:t> do objeto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</a:t>
            </a:r>
            <a:r>
              <a:rPr lang="en-US" sz="1800">
                <a:solidFill>
                  <a:schemeClr val="dk1"/>
                </a:solidFill>
              </a:rPr>
              <a:t> para converter a página de Entidades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Page&lt;Cliente&gt;</a:t>
            </a:r>
            <a:r>
              <a:rPr lang="en-US" sz="1800">
                <a:solidFill>
                  <a:schemeClr val="dk1"/>
                </a:solidFill>
              </a:rPr>
              <a:t>) para uma página de DTOs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Page&lt;ClienteResponse&gt;</a:t>
            </a:r>
            <a:r>
              <a:rPr lang="en-US" sz="1800">
                <a:solidFill>
                  <a:schemeClr val="dk1"/>
                </a:solidFill>
              </a:rPr>
              <a:t>) de forma elegante.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74d96ed1_0_121"/>
          <p:cNvSpPr txBox="1"/>
          <p:nvPr/>
        </p:nvSpPr>
        <p:spPr>
          <a:xfrm>
            <a:off x="291575" y="1889450"/>
            <a:ext cx="94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Exemplo no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ClienteController.java</a:t>
            </a:r>
            <a:r>
              <a:rPr lang="en-US" sz="1800">
                <a:solidFill>
                  <a:schemeClr val="dk1"/>
                </a:solidFill>
              </a:rPr>
              <a:t>:</a:t>
            </a:r>
            <a:endParaRPr sz="1800"/>
          </a:p>
        </p:txBody>
      </p:sp>
      <p:pic>
        <p:nvPicPr>
          <p:cNvPr id="264" name="Google Shape;264;g36474d96ed1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47125"/>
            <a:ext cx="17918025" cy="29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55aa3ae71_0_0"/>
          <p:cNvSpPr txBox="1"/>
          <p:nvPr/>
        </p:nvSpPr>
        <p:spPr>
          <a:xfrm>
            <a:off x="915975" y="1974975"/>
            <a:ext cx="162378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E30613"/>
                </a:solidFill>
              </a:rPr>
              <a:t>                  </a:t>
            </a: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solidFill>
                <a:srgbClr val="E30613"/>
              </a:solidFill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solidFill>
                <a:srgbClr val="E30613"/>
              </a:solidFill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7600">
                <a:solidFill>
                  <a:srgbClr val="E30613"/>
                </a:solidFill>
              </a:rPr>
              <a:t>  IMPLEMENTANDO A PAGINAÇÃO</a:t>
            </a:r>
            <a:endParaRPr b="1" sz="7600">
              <a:solidFill>
                <a:srgbClr val="E3061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29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29"/>
          <p:cNvSpPr txBox="1"/>
          <p:nvPr/>
        </p:nvSpPr>
        <p:spPr>
          <a:xfrm>
            <a:off x="32766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6390795" y="2933700"/>
            <a:ext cx="67589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0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30"/>
          <p:cNvSpPr txBox="1"/>
          <p:nvPr/>
        </p:nvSpPr>
        <p:spPr>
          <a:xfrm>
            <a:off x="2480450" y="356449"/>
            <a:ext cx="6280430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Realizando a Prática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4401971" y="8768149"/>
            <a:ext cx="675891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 ACESSANDO O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4537" y="1919926"/>
            <a:ext cx="8124366" cy="5750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/>
        </p:nvSpPr>
        <p:spPr>
          <a:xfrm>
            <a:off x="3276600" y="459099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19300"/>
            <a:ext cx="3352797" cy="335279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5"/>
          <p:cNvSpPr txBox="1"/>
          <p:nvPr/>
        </p:nvSpPr>
        <p:spPr>
          <a:xfrm>
            <a:off x="914400" y="5793351"/>
            <a:ext cx="143256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Fábio Correa Xavier é CIO do Tribunal de Contas do Estado de São Paulo (TCESP), liderando a transformação digital com foco em inteligência artificial, proteção de dados e modernização institucional. Mestre pela USP, possui MBA pelo IBMEC e especialização no Japão pela JICA. É autor de obras de referência sobre tecnologia e LGPD no setor público, incluindo o premiado "CIO 5.0". Reconhecido nacionalmente, foi eleito Executivo de TI do Ano e Top 10 em IA. Atua como professor, conselheiro e colunista em veículos como o MIT Technology Review Brasil.Lattes: http://lattes.cnpq.br/3394819461303851LinkedIn: https://www.linkedin.com/in/fabiocorreaxavier/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1800" y="459099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5"/>
          <p:cNvSpPr txBox="1"/>
          <p:nvPr/>
        </p:nvSpPr>
        <p:spPr>
          <a:xfrm>
            <a:off x="14687748" y="2309560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9" name="Google Shape;299;p46"/>
          <p:cNvCxnSpPr/>
          <p:nvPr/>
        </p:nvCxnSpPr>
        <p:spPr>
          <a:xfrm>
            <a:off x="3118310" y="1558711"/>
            <a:ext cx="523800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46"/>
          <p:cNvSpPr txBox="1"/>
          <p:nvPr/>
        </p:nvSpPr>
        <p:spPr>
          <a:xfrm>
            <a:off x="3346600" y="-1"/>
            <a:ext cx="5238000" cy="16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6"/>
          <p:cNvSpPr txBox="1"/>
          <p:nvPr/>
        </p:nvSpPr>
        <p:spPr>
          <a:xfrm>
            <a:off x="3213697" y="6562129"/>
            <a:ext cx="14325600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 da informação: a nova fronteira da confiança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cada segundo, milhares de ataques digitais acontecem no mundo. Neste episódio, mostro como certificações como ISC2 CC, CompTIA Security+ e EXIN PDPP não apenas comprovam conhecimento técnico, mas atestam compromisso ético com a proteção de dados. Um investimento que o mercado reconhece.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2458660"/>
            <a:ext cx="5237959" cy="35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05871" y="427732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/>
        </p:nvSpPr>
        <p:spPr>
          <a:xfrm>
            <a:off x="15491819" y="2483156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47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47"/>
          <p:cNvSpPr txBox="1"/>
          <p:nvPr/>
        </p:nvSpPr>
        <p:spPr>
          <a:xfrm>
            <a:off x="3276600" y="459099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7"/>
          <p:cNvSpPr txBox="1"/>
          <p:nvPr/>
        </p:nvSpPr>
        <p:spPr>
          <a:xfrm>
            <a:off x="2209822" y="6994343"/>
            <a:ext cx="15621000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Questão Geradora: Como Você vê e se posiciona quanto aos protocolos de segurança da informação?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2458660"/>
            <a:ext cx="5237959" cy="35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05871" y="427732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7"/>
          <p:cNvSpPr txBox="1"/>
          <p:nvPr/>
        </p:nvSpPr>
        <p:spPr>
          <a:xfrm>
            <a:off x="15491819" y="2345348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9" name="Google Shape;319;p48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48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371816"/>
            <a:ext cx="5714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49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327" name="Google Shape;327;p49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49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49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9" l="0" r="0" t="-4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49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9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49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9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9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9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9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9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Bia e Ale</dc:creator>
</cp:coreProperties>
</file>