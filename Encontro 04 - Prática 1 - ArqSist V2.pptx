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10287000" cx="18288000"/>
  <p:notesSz cx="6858000" cy="9144000"/>
  <p:embeddedFontLst>
    <p:embeddedFont>
      <p:font typeface="Quattrocento Sans"/>
      <p:regular r:id="rId34"/>
      <p:bold r:id="rId35"/>
      <p:italic r:id="rId36"/>
      <p:boldItalic r:id="rId37"/>
    </p:embeddedFont>
    <p:embeddedFont>
      <p:font typeface="Roboto Mon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hUThSmQbcgUt6fQtmwmozK4nX1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RobotoMono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QuattrocentoSans-bold.fntdata"/><Relationship Id="rId12" Type="http://schemas.openxmlformats.org/officeDocument/2006/relationships/slide" Target="slides/slide7.xml"/><Relationship Id="rId34" Type="http://schemas.openxmlformats.org/officeDocument/2006/relationships/font" Target="fonts/QuattrocentoSans-regular.fntdata"/><Relationship Id="rId15" Type="http://schemas.openxmlformats.org/officeDocument/2006/relationships/slide" Target="slides/slide10.xml"/><Relationship Id="rId37" Type="http://schemas.openxmlformats.org/officeDocument/2006/relationships/font" Target="fonts/QuattrocentoSans-boldItalic.fntdata"/><Relationship Id="rId14" Type="http://schemas.openxmlformats.org/officeDocument/2006/relationships/slide" Target="slides/slide9.xml"/><Relationship Id="rId36" Type="http://schemas.openxmlformats.org/officeDocument/2006/relationships/font" Target="fonts/QuattrocentoSans-italic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.fntdata"/><Relationship Id="rId16" Type="http://schemas.openxmlformats.org/officeDocument/2006/relationships/slide" Target="slides/slide11.xml"/><Relationship Id="rId38" Type="http://schemas.openxmlformats.org/officeDocument/2006/relationships/font" Target="fonts/RobotoMono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8" name="Google Shape;108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" name="Google Shape;110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0" name="Google Shape;130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7" name="Google Shape;147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3835381fa_0_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73835381fa_0_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1" name="Google Shape;161;g373835381fa_0_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73835381fa_0_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73835381fa_0_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73835381fa_0_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3" name="Google Shape;173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3835381fa_0_2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g373835381fa_0_2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0" name="Google Shape;190;g373835381fa_0_28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g373835381fa_0_28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g373835381fa_0_28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73835381fa_0_28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73835381fa_0_4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73835381fa_0_4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3" name="Google Shape;203;g373835381fa_0_49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73835381fa_0_4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g373835381fa_0_4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g373835381fa_0_4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6" name="Google Shape;216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3835381fa_0_6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g373835381fa_0_6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0" name="Google Shape;230;g373835381fa_0_6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g373835381fa_0_6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73835381fa_0_6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73835381fa_0_6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7" name="Google Shape;257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3835381fa_0_1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g373835381fa_0_1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0" name="Google Shape;270;g373835381fa_0_11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73835381fa_0_11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2" name="Google Shape;272;g373835381fa_0_11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g373835381fa_0_11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73835381fa_0_9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73835381fa_0_9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9" name="Google Shape;279;g373835381fa_0_91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373835381fa_0_9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g373835381fa_0_9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373835381fa_0_9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4" name="Google Shape;294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73835381fa_0_1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g373835381fa_0_1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4" name="Google Shape;304;g373835381fa_0_125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373835381fa_0_12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g373835381fa_0_12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73835381fa_0_12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9" name="Google Shape;319;p1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3835381fa_0_14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73835381fa_0_14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9" name="Google Shape;329;g373835381fa_0_14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g373835381fa_0_14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373835381fa_0_14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g373835381fa_0_14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42" name="Google Shape;342;p1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3" name="Google Shape;353;p1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5" name="Google Shape;355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69" name="Google Shape;369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83" name="Google Shape;383;p2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2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8cdd43a17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388cdd43a17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5" name="Google Shape;395;g388cdd43a17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6" name="Google Shape;396;g388cdd43a17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7" name="Google Shape;397;g388cdd43a17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g388cdd43a17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04" name="Google Shape;404;p2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8" name="Google Shape;418;p2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2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0" name="Google Shape;420;p2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32" name="Google Shape;432;p2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2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4" name="Google Shape;434;p2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2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46" name="Google Shape;446;p2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2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2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57" name="Google Shape;457;p2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2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p2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3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12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image" Target="../media/image3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.co/gemini/share/e8fa258f236b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12" Type="http://schemas.openxmlformats.org/officeDocument/2006/relationships/image" Target="../media/image2.png"/><Relationship Id="rId9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619507" y="2882547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4" l="0" r="0" t="-46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" r="-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4" r="-2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3" l="0" r="0" t="-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7" l="0" r="0" t="-75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0" l="0" r="0" t="-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3" r="-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1619496" y="759554"/>
            <a:ext cx="8143800" cy="13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Aula: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1477622" y="2088172"/>
            <a:ext cx="78864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9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21"/>
              <a:buFont typeface="Arial"/>
              <a:buNone/>
            </a:pPr>
            <a:r>
              <a:rPr b="0" i="0" lang="en-US" sz="272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Bem-vindo(a) ao nosso Programa Qualifica - TI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220343" y="4200330"/>
            <a:ext cx="8143800" cy="41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69"/>
              <a:buFont typeface="Arial"/>
              <a:buNone/>
            </a:pPr>
            <a:r>
              <a:rPr b="1" i="0" lang="en-US" sz="806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Curso: Arquitetura de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Google Shape;113;p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2"/>
          <p:cNvSpPr/>
          <p:nvPr/>
        </p:nvSpPr>
        <p:spPr>
          <a:xfrm>
            <a:off x="10695500" y="1057830"/>
            <a:ext cx="9528785" cy="8200470"/>
          </a:xfrm>
          <a:custGeom>
            <a:rect b="b" l="l" r="r" t="t"/>
            <a:pathLst>
              <a:path extrusionOk="0" h="8200470" w="9528785">
                <a:moveTo>
                  <a:pt x="0" y="0"/>
                </a:moveTo>
                <a:lnTo>
                  <a:pt x="9528785" y="0"/>
                </a:lnTo>
                <a:lnTo>
                  <a:pt x="9528785" y="8200470"/>
                </a:lnTo>
                <a:lnTo>
                  <a:pt x="0" y="82004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1435612" y="2784627"/>
            <a:ext cx="8649000" cy="68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Boas-vindas 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Prática do Dia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Ambiente Laboratorial - Demonstrar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Intervalo / Parada Técnica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Executando a Atividade Prática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 da Atividade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 Articulado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Debate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1038225" y="3702368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/>
          <p:nvPr/>
        </p:nvSpPr>
        <p:spPr>
          <a:xfrm>
            <a:off x="1038225" y="4331587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1038225" y="4960806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/>
          <p:nvPr/>
        </p:nvSpPr>
        <p:spPr>
          <a:xfrm>
            <a:off x="1038225" y="5590025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038225" y="6219244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1038225" y="6848462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1038225" y="7477681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/>
          <p:nvPr/>
        </p:nvSpPr>
        <p:spPr>
          <a:xfrm>
            <a:off x="1038225" y="8106900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1038225" y="8736119"/>
            <a:ext cx="202018" cy="374764"/>
          </a:xfrm>
          <a:custGeom>
            <a:rect b="b" l="l" r="r" t="t"/>
            <a:pathLst>
              <a:path extrusionOk="0" h="374764" w="202018">
                <a:moveTo>
                  <a:pt x="0" y="0"/>
                </a:moveTo>
                <a:lnTo>
                  <a:pt x="202018" y="0"/>
                </a:lnTo>
                <a:lnTo>
                  <a:pt x="202018" y="374764"/>
                </a:lnTo>
                <a:lnTo>
                  <a:pt x="0" y="3747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 rot="567872">
            <a:off x="12773374" y="3054930"/>
            <a:ext cx="5373052" cy="5373053"/>
          </a:xfrm>
          <a:custGeom>
            <a:rect b="b" l="l" r="r" t="t"/>
            <a:pathLst>
              <a:path extrusionOk="0" h="7164070" w="7164070">
                <a:moveTo>
                  <a:pt x="0" y="0"/>
                </a:moveTo>
                <a:lnTo>
                  <a:pt x="7164070" y="0"/>
                </a:lnTo>
                <a:lnTo>
                  <a:pt x="7164070" y="7164070"/>
                </a:lnTo>
                <a:lnTo>
                  <a:pt x="0" y="71640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034770" y="1752186"/>
            <a:ext cx="11910089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5" name="Google Shape;135;p5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6" name="Google Shape;136;p5"/>
          <p:cNvSpPr txBox="1"/>
          <p:nvPr/>
        </p:nvSpPr>
        <p:spPr>
          <a:xfrm>
            <a:off x="26670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39153" y="4375837"/>
            <a:ext cx="7519500" cy="44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None/>
            </a:pP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Situação Atual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22" lvl="1" marL="661447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Char char="•"/>
            </a:pP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Ambiente configurado com JDK 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22" lvl="1" marL="661447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Char char="•"/>
            </a:pP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 Projeto Spring Boot funcionando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22" lvl="1" marL="661447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Char char="•"/>
            </a:pPr>
            <a:r>
              <a:rPr b="0" i="0" lang="en-US" sz="306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Entidades JPA modeladas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22" lvl="1" marL="661447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Char char="•"/>
            </a:pP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 Falta: Persistir dados no banco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22" lvl="1" marL="661447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Char char="•"/>
            </a:pP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 Falta: Implementar operações CRUD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722" lvl="1" marL="661447" marR="0" rtl="0" algn="l">
              <a:lnSpc>
                <a:spcPct val="12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Char char="•"/>
            </a:pPr>
            <a:r>
              <a:rPr b="0" i="0" lang="en-US" sz="3063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 Falta: Regras de negócio organizadas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4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3"/>
              <a:buFont typeface="Arial"/>
              <a:buNone/>
            </a:pPr>
            <a:r>
              <a:t/>
            </a:r>
            <a:endParaRPr b="0" i="0" sz="3063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/>
        </p:nvSpPr>
        <p:spPr>
          <a:xfrm>
            <a:off x="835287" y="2532872"/>
            <a:ext cx="9391853" cy="8083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3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5"/>
              <a:buFont typeface="Arial"/>
              <a:buNone/>
            </a:pPr>
            <a:r>
              <a:rPr b="0" i="1" lang="en-US" sz="17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startup </a:t>
            </a:r>
            <a:r>
              <a:rPr b="0" i="1" lang="en-US" sz="1795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DeliveryTech </a:t>
            </a:r>
            <a:r>
              <a:rPr b="0" i="1" lang="en-US" sz="17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está evoluindo rapidamente! Após estabelecer a base do sistema com Spring Boot (Aula 3) e modelar as entidades JPA (Aula 4), chegou o momento crucial de implementar a camada de acesso a dados e regras de negócio.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678106" y="1190328"/>
            <a:ext cx="97062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Cenário Real: DeliveryTech em Crescimento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11378982" y="3632887"/>
            <a:ext cx="5115300" cy="9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🚨 Problema Real Enfrentado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10436165" y="4937811"/>
            <a:ext cx="7499485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42"/>
              <a:buFont typeface="Arial"/>
              <a:buNone/>
            </a:pPr>
            <a:r>
              <a:rPr b="0" i="0" lang="en-US" sz="294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 CTO da DeliveryTech te chamou para uma reunião urgente: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"/>
          <p:cNvSpPr txBox="1"/>
          <p:nvPr/>
        </p:nvSpPr>
        <p:spPr>
          <a:xfrm>
            <a:off x="10797830" y="5956986"/>
            <a:ext cx="6570513" cy="1703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27"/>
              <a:buFont typeface="Arial"/>
              <a:buNone/>
            </a:pPr>
            <a:r>
              <a:rPr b="0" i="1" lang="en-US" sz="192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🗣️ "Pessoal, temos um problema! Os investidores querem ver o sistema funcionando com dados reais na próxima semana. Precisamos sair do 'Hello World' e implementar funcionalidades que realmente persistam informações no banco de dados. Nossos concorrentes já estão operando e não podemos ficar para trás!"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" name="Google Shape;152;p6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3" name="Google Shape;153;p6"/>
          <p:cNvSpPr txBox="1"/>
          <p:nvPr/>
        </p:nvSpPr>
        <p:spPr>
          <a:xfrm>
            <a:off x="26670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6"/>
          <p:cNvSpPr txBox="1"/>
          <p:nvPr/>
        </p:nvSpPr>
        <p:spPr>
          <a:xfrm>
            <a:off x="2078819" y="3207771"/>
            <a:ext cx="12024133" cy="40384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090" lvl="1" marL="820183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Char char="•"/>
            </a:pPr>
            <a:r>
              <a:rPr b="0" i="0" lang="en-US" sz="379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👥 Clientes precisam ser cadastrados e consultados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090" lvl="1" marL="820183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Char char="•"/>
            </a:pPr>
            <a:r>
              <a:rPr b="0" i="0" lang="en-US" sz="379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🍽️ Restaurantes devem ser gerenciados no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090" lvl="1" marL="820183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Char char="•"/>
            </a:pPr>
            <a:r>
              <a:rPr b="0" i="0" lang="en-US" sz="379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 Produtos precisam ser organizados por restaurante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090" lvl="1" marL="820183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Char char="•"/>
            </a:pPr>
            <a:r>
              <a:rPr b="0" i="0" lang="en-US" sz="379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📦 Pedidos devem ser criados e rastreados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090" lvl="1" marL="820183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Char char="•"/>
            </a:pPr>
            <a:r>
              <a:rPr b="0" i="0" lang="en-US" sz="3798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 Regras de negócio precisam estar bem organizadas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None/>
            </a:pPr>
            <a:r>
              <a:t/>
            </a:r>
            <a:endParaRPr b="0" i="0" sz="37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4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98"/>
              <a:buFont typeface="Arial"/>
              <a:buNone/>
            </a:pPr>
            <a:r>
              <a:t/>
            </a:r>
            <a:endParaRPr b="0" i="0" sz="3798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2982635" y="1183489"/>
            <a:ext cx="4923453" cy="6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Desafios Identificados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6"/>
          <p:cNvSpPr txBox="1"/>
          <p:nvPr/>
        </p:nvSpPr>
        <p:spPr>
          <a:xfrm>
            <a:off x="1464286" y="6887105"/>
            <a:ext cx="15359428" cy="1702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33"/>
              <a:buFont typeface="Arial"/>
              <a:buNone/>
            </a:pPr>
            <a:r>
              <a:rPr b="0" i="0" lang="en-US" sz="37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👨‍💻 Sua Missão como Desenvolvedor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33"/>
              <a:buFont typeface="Arial"/>
              <a:buNone/>
            </a:pPr>
            <a:r>
              <a:rPr b="0" i="0" lang="en-US" sz="37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a camada de persistência e a camada de serviços do sistema, criando uma base sólida para as funcionalidades de negócio.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g373835381fa_0_6"/>
          <p:cNvCxnSpPr/>
          <p:nvPr/>
        </p:nvCxnSpPr>
        <p:spPr>
          <a:xfrm rot="24824">
            <a:off x="2982566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" name="Google Shape;167;g373835381fa_0_6"/>
          <p:cNvSpPr txBox="1"/>
          <p:nvPr/>
        </p:nvSpPr>
        <p:spPr>
          <a:xfrm>
            <a:off x="2667000" y="252959"/>
            <a:ext cx="628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3835381fa_0_6"/>
          <p:cNvSpPr txBox="1"/>
          <p:nvPr/>
        </p:nvSpPr>
        <p:spPr>
          <a:xfrm>
            <a:off x="1665050" y="2928150"/>
            <a:ext cx="6717900" cy="74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1"/>
                </a:solidFill>
              </a:rPr>
              <a:t>Passos básicos para criar entidades</a:t>
            </a:r>
            <a:endParaRPr b="1" sz="25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b="1" lang="en-US" sz="1900">
                <a:solidFill>
                  <a:schemeClr val="dk1"/>
                </a:solidFill>
              </a:rPr>
              <a:t>Definir quais conceitos do domínio precisam ser persistidos</a:t>
            </a:r>
            <a:r>
              <a:rPr lang="en-US" sz="1900">
                <a:solidFill>
                  <a:schemeClr val="dk1"/>
                </a:solidFill>
              </a:rPr>
              <a:t> (ex.: cliente, pedido, produto).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Criar uma classe para cada conceito.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Anotar a classe com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@Entity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Definir um </a:t>
            </a:r>
            <a:r>
              <a:rPr b="1" lang="en-US" sz="1900">
                <a:solidFill>
                  <a:schemeClr val="dk1"/>
                </a:solidFill>
              </a:rPr>
              <a:t>campo identificador</a:t>
            </a:r>
            <a:r>
              <a:rPr lang="en-US" sz="1900">
                <a:solidFill>
                  <a:schemeClr val="dk1"/>
                </a:solidFill>
              </a:rPr>
              <a:t> (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@Id</a:t>
            </a:r>
            <a:r>
              <a:rPr lang="en-US" sz="1900">
                <a:solidFill>
                  <a:schemeClr val="dk1"/>
                </a:solidFill>
              </a:rPr>
              <a:t>) e sua estratégia de geração.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Mapear relacionamentos (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@OneToMany</a:t>
            </a:r>
            <a:r>
              <a:rPr lang="en-US" sz="1900">
                <a:solidFill>
                  <a:schemeClr val="dk1"/>
                </a:solidFill>
              </a:rPr>
              <a:t>,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@ManyToOne</a:t>
            </a:r>
            <a:r>
              <a:rPr lang="en-US" sz="1900">
                <a:solidFill>
                  <a:schemeClr val="dk1"/>
                </a:solidFill>
              </a:rPr>
              <a:t>,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@ManyToMany</a:t>
            </a:r>
            <a:r>
              <a:rPr lang="en-US" sz="1900">
                <a:solidFill>
                  <a:schemeClr val="dk1"/>
                </a:solidFill>
              </a:rPr>
              <a:t>).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Adicionar anotações de coluna (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@Column</a:t>
            </a:r>
            <a:r>
              <a:rPr lang="en-US" sz="1900">
                <a:solidFill>
                  <a:schemeClr val="dk1"/>
                </a:solidFill>
              </a:rPr>
              <a:t>,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@JoinColumn</a:t>
            </a:r>
            <a:r>
              <a:rPr lang="en-US" sz="1900">
                <a:solidFill>
                  <a:schemeClr val="dk1"/>
                </a:solidFill>
              </a:rPr>
              <a:t>) para ajustes finos.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/>
            </a:pPr>
            <a:r>
              <a:rPr lang="en-US" sz="1900">
                <a:solidFill>
                  <a:schemeClr val="dk1"/>
                </a:solidFill>
              </a:rPr>
              <a:t>Criar construtores, getters e setters (ou usar Lombok para gerar automaticamente).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373835381fa_0_6"/>
          <p:cNvSpPr txBox="1"/>
          <p:nvPr/>
        </p:nvSpPr>
        <p:spPr>
          <a:xfrm>
            <a:off x="2866375" y="1761825"/>
            <a:ext cx="67179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33"/>
              <a:buFont typeface="Arial"/>
              <a:buNone/>
            </a:pPr>
            <a:r>
              <a:rPr b="1" lang="en-US" sz="4033">
                <a:solidFill>
                  <a:schemeClr val="dk1"/>
                </a:solidFill>
              </a:rPr>
              <a:t>Entidades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7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7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1111552" y="3563094"/>
            <a:ext cx="6145407" cy="6329575"/>
          </a:xfrm>
          <a:custGeom>
            <a:rect b="b" l="l" r="r" t="t"/>
            <a:pathLst>
              <a:path extrusionOk="0" h="6329575" w="6145407">
                <a:moveTo>
                  <a:pt x="0" y="0"/>
                </a:moveTo>
                <a:lnTo>
                  <a:pt x="6145406" y="0"/>
                </a:lnTo>
                <a:lnTo>
                  <a:pt x="6145406" y="6329575"/>
                </a:lnTo>
                <a:lnTo>
                  <a:pt x="0" y="63295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 txBox="1"/>
          <p:nvPr/>
        </p:nvSpPr>
        <p:spPr>
          <a:xfrm>
            <a:off x="26670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7"/>
          <p:cNvSpPr txBox="1"/>
          <p:nvPr/>
        </p:nvSpPr>
        <p:spPr>
          <a:xfrm>
            <a:off x="540152" y="2763344"/>
            <a:ext cx="7805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Cria as Entidades primeiro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7"/>
          <p:cNvSpPr txBox="1"/>
          <p:nvPr/>
        </p:nvSpPr>
        <p:spPr>
          <a:xfrm>
            <a:off x="0" y="1183489"/>
            <a:ext cx="11870106" cy="6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ATIVIDADE 1: CONFIGURAÇÃO DOS 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7"/>
          <p:cNvSpPr txBox="1"/>
          <p:nvPr/>
        </p:nvSpPr>
        <p:spPr>
          <a:xfrm>
            <a:off x="1083900" y="3872875"/>
            <a:ext cx="67179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Criar as entidades</a:t>
            </a:r>
            <a:r>
              <a:rPr lang="en-US" sz="2300">
                <a:solidFill>
                  <a:schemeClr val="dk1"/>
                </a:solidFill>
              </a:rPr>
              <a:t> significa definir, no código da aplicação, as classes que vão representar </a:t>
            </a:r>
            <a:r>
              <a:rPr b="1" lang="en-US" sz="2300">
                <a:solidFill>
                  <a:schemeClr val="dk1"/>
                </a:solidFill>
              </a:rPr>
              <a:t>os objetos do mundo real ou do domínio do sistema</a:t>
            </a:r>
            <a:r>
              <a:rPr lang="en-US" sz="2300">
                <a:solidFill>
                  <a:schemeClr val="dk1"/>
                </a:solidFill>
              </a:rPr>
              <a:t> e que serão </a:t>
            </a:r>
            <a:r>
              <a:rPr b="1" lang="en-US" sz="2300">
                <a:solidFill>
                  <a:schemeClr val="dk1"/>
                </a:solidFill>
              </a:rPr>
              <a:t>mapeadas</a:t>
            </a:r>
            <a:r>
              <a:rPr lang="en-US" sz="2300">
                <a:solidFill>
                  <a:schemeClr val="dk1"/>
                </a:solidFill>
              </a:rPr>
              <a:t> para tabelas no banco de dados.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 txBox="1"/>
          <p:nvPr/>
        </p:nvSpPr>
        <p:spPr>
          <a:xfrm>
            <a:off x="1213050" y="5948950"/>
            <a:ext cx="671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uma entidade 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213050" y="6747325"/>
            <a:ext cx="6717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</a:rPr>
              <a:t>É uma </a:t>
            </a:r>
            <a:r>
              <a:rPr b="1" lang="en-US" sz="2100">
                <a:solidFill>
                  <a:schemeClr val="dk1"/>
                </a:solidFill>
              </a:rPr>
              <a:t>classe de domínio</a:t>
            </a:r>
            <a:r>
              <a:rPr lang="en-US" sz="2100">
                <a:solidFill>
                  <a:schemeClr val="dk1"/>
                </a:solidFill>
              </a:rPr>
              <a:t> (ex.: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Cliente</a:t>
            </a:r>
            <a:r>
              <a:rPr lang="en-US" sz="2100">
                <a:solidFill>
                  <a:schemeClr val="dk1"/>
                </a:solidFill>
              </a:rPr>
              <a:t>,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Restaurante</a:t>
            </a:r>
            <a:r>
              <a:rPr lang="en-US" sz="2100">
                <a:solidFill>
                  <a:schemeClr val="dk1"/>
                </a:solidFill>
              </a:rPr>
              <a:t>, </a:t>
            </a:r>
            <a:r>
              <a:rPr lang="en-US" sz="2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Produto</a:t>
            </a:r>
            <a:r>
              <a:rPr lang="en-US" sz="2100">
                <a:solidFill>
                  <a:schemeClr val="dk1"/>
                </a:solidFill>
              </a:rPr>
              <a:t>) que representa um conceito central do seu negócio.</a:t>
            </a:r>
            <a:endParaRPr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g373835381fa_0_28"/>
          <p:cNvCxnSpPr/>
          <p:nvPr/>
        </p:nvCxnSpPr>
        <p:spPr>
          <a:xfrm rot="24824">
            <a:off x="2982566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g373835381fa_0_28"/>
          <p:cNvSpPr txBox="1"/>
          <p:nvPr/>
        </p:nvSpPr>
        <p:spPr>
          <a:xfrm>
            <a:off x="2667000" y="252959"/>
            <a:ext cx="628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373835381fa_0_28"/>
          <p:cNvSpPr txBox="1"/>
          <p:nvPr/>
        </p:nvSpPr>
        <p:spPr>
          <a:xfrm>
            <a:off x="583175" y="1912775"/>
            <a:ext cx="30000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33">
                <a:solidFill>
                  <a:schemeClr val="dk1"/>
                </a:solidFill>
              </a:rPr>
              <a:t>Repository</a:t>
            </a:r>
            <a:endParaRPr/>
          </a:p>
        </p:txBody>
      </p:sp>
      <p:sp>
        <p:nvSpPr>
          <p:cNvPr id="198" name="Google Shape;198;g373835381fa_0_28"/>
          <p:cNvSpPr txBox="1"/>
          <p:nvPr/>
        </p:nvSpPr>
        <p:spPr>
          <a:xfrm>
            <a:off x="743675" y="2916500"/>
            <a:ext cx="6717900" cy="3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Em desenvolvimento com </a:t>
            </a:r>
            <a:r>
              <a:rPr b="1" lang="en-US" sz="1800">
                <a:solidFill>
                  <a:schemeClr val="dk1"/>
                </a:solidFill>
              </a:rPr>
              <a:t>Java + Spring Data JPA</a:t>
            </a:r>
            <a:r>
              <a:rPr lang="en-US" sz="1800">
                <a:solidFill>
                  <a:schemeClr val="dk1"/>
                </a:solidFill>
              </a:rPr>
              <a:t>, um </a:t>
            </a:r>
            <a:r>
              <a:rPr b="1" lang="en-US" sz="1800">
                <a:solidFill>
                  <a:schemeClr val="dk1"/>
                </a:solidFill>
              </a:rPr>
              <a:t>Repository</a:t>
            </a:r>
            <a:r>
              <a:rPr lang="en-US" sz="1800">
                <a:solidFill>
                  <a:schemeClr val="dk1"/>
                </a:solidFill>
              </a:rPr>
              <a:t> é a </a:t>
            </a:r>
            <a:r>
              <a:rPr b="1" lang="en-US" sz="1800">
                <a:solidFill>
                  <a:schemeClr val="dk1"/>
                </a:solidFill>
              </a:rPr>
              <a:t>camada de acesso a dados</a:t>
            </a:r>
            <a:r>
              <a:rPr lang="en-US" sz="1800">
                <a:solidFill>
                  <a:schemeClr val="dk1"/>
                </a:solidFill>
              </a:rPr>
              <a:t> — ou seja, é o componente responsável por conversar com o banco de dados para </a:t>
            </a:r>
            <a:r>
              <a:rPr b="1" lang="en-US" sz="1800">
                <a:solidFill>
                  <a:schemeClr val="dk1"/>
                </a:solidFill>
              </a:rPr>
              <a:t>buscar, salvar, atualizar e excluir</a:t>
            </a:r>
            <a:r>
              <a:rPr lang="en-US" sz="1800">
                <a:solidFill>
                  <a:schemeClr val="dk1"/>
                </a:solidFill>
              </a:rPr>
              <a:t> entidades.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Ele faz parte do padrão de projeto chamado </a:t>
            </a:r>
            <a:r>
              <a:rPr b="1" lang="en-US" sz="1800">
                <a:solidFill>
                  <a:schemeClr val="dk1"/>
                </a:solidFill>
              </a:rPr>
              <a:t>Repository Pattern</a:t>
            </a:r>
            <a:r>
              <a:rPr lang="en-US" sz="1800">
                <a:solidFill>
                  <a:schemeClr val="dk1"/>
                </a:solidFill>
              </a:rPr>
              <a:t>, que separa a lógica de acesso a dados da lógica de negócio.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g373835381fa_0_28"/>
          <p:cNvSpPr txBox="1"/>
          <p:nvPr/>
        </p:nvSpPr>
        <p:spPr>
          <a:xfrm>
            <a:off x="583175" y="5552400"/>
            <a:ext cx="6717900" cy="50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100">
                <a:solidFill>
                  <a:schemeClr val="dk1"/>
                </a:solidFill>
              </a:rPr>
              <a:t>O que é na prática</a:t>
            </a:r>
            <a:endParaRPr b="1" sz="21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É </a:t>
            </a:r>
            <a:r>
              <a:rPr b="1" lang="en-US" sz="1900">
                <a:solidFill>
                  <a:schemeClr val="dk1"/>
                </a:solidFill>
              </a:rPr>
              <a:t>uma interface Java</a:t>
            </a:r>
            <a:r>
              <a:rPr lang="en-US" sz="1900">
                <a:solidFill>
                  <a:schemeClr val="dk1"/>
                </a:solidFill>
              </a:rPr>
              <a:t> (não uma classe) que normalmente </a:t>
            </a:r>
            <a:r>
              <a:rPr b="1" lang="en-US" sz="1900">
                <a:solidFill>
                  <a:schemeClr val="dk1"/>
                </a:solidFill>
              </a:rPr>
              <a:t>estende</a:t>
            </a:r>
            <a:r>
              <a:rPr lang="en-US" sz="1900">
                <a:solidFill>
                  <a:schemeClr val="dk1"/>
                </a:solidFill>
              </a:rPr>
              <a:t> uma interface fornecida pelo Spring Data JPA, como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JpaRepository</a:t>
            </a:r>
            <a:r>
              <a:rPr lang="en-US" sz="1900">
                <a:solidFill>
                  <a:schemeClr val="dk1"/>
                </a:solidFill>
              </a:rPr>
              <a:t> ou 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CrudRepository</a:t>
            </a:r>
            <a:r>
              <a:rPr lang="en-US" sz="1900">
                <a:solidFill>
                  <a:schemeClr val="dk1"/>
                </a:solidFill>
              </a:rPr>
              <a:t>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Você </a:t>
            </a:r>
            <a:r>
              <a:rPr b="1" lang="en-US" sz="1900">
                <a:solidFill>
                  <a:schemeClr val="dk1"/>
                </a:solidFill>
              </a:rPr>
              <a:t>não precisa implementar os métodos</a:t>
            </a:r>
            <a:r>
              <a:rPr lang="en-US" sz="1900">
                <a:solidFill>
                  <a:schemeClr val="dk1"/>
                </a:solidFill>
              </a:rPr>
              <a:t> — o Spring gera automaticamente a implementação em tempo de execução.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É </a:t>
            </a:r>
            <a:r>
              <a:rPr b="1" lang="en-US" sz="1900">
                <a:solidFill>
                  <a:schemeClr val="dk1"/>
                </a:solidFill>
              </a:rPr>
              <a:t>fortemente tipado</a:t>
            </a:r>
            <a:r>
              <a:rPr lang="en-US" sz="1900">
                <a:solidFill>
                  <a:schemeClr val="dk1"/>
                </a:solidFill>
              </a:rPr>
              <a:t>: você informa </a:t>
            </a:r>
            <a:r>
              <a:rPr b="1" lang="en-US" sz="1900">
                <a:solidFill>
                  <a:schemeClr val="dk1"/>
                </a:solidFill>
              </a:rPr>
              <a:t>qual é a entidade</a:t>
            </a:r>
            <a:r>
              <a:rPr lang="en-US" sz="1900">
                <a:solidFill>
                  <a:schemeClr val="dk1"/>
                </a:solidFill>
              </a:rPr>
              <a:t> e </a:t>
            </a:r>
            <a:r>
              <a:rPr b="1" lang="en-US" sz="1900">
                <a:solidFill>
                  <a:schemeClr val="dk1"/>
                </a:solidFill>
              </a:rPr>
              <a:t>qual é o tipo da chave primária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8" name="Google Shape;208;g373835381fa_0_49"/>
          <p:cNvCxnSpPr/>
          <p:nvPr/>
        </p:nvCxnSpPr>
        <p:spPr>
          <a:xfrm rot="24824">
            <a:off x="2982566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9" name="Google Shape;209;g373835381fa_0_49"/>
          <p:cNvSpPr txBox="1"/>
          <p:nvPr/>
        </p:nvSpPr>
        <p:spPr>
          <a:xfrm>
            <a:off x="2667000" y="252959"/>
            <a:ext cx="628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73835381fa_0_49"/>
          <p:cNvSpPr txBox="1"/>
          <p:nvPr/>
        </p:nvSpPr>
        <p:spPr>
          <a:xfrm>
            <a:off x="583175" y="1912775"/>
            <a:ext cx="3000000" cy="8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33">
                <a:solidFill>
                  <a:schemeClr val="dk1"/>
                </a:solidFill>
              </a:rPr>
              <a:t>Repository</a:t>
            </a:r>
            <a:endParaRPr/>
          </a:p>
        </p:txBody>
      </p:sp>
      <p:sp>
        <p:nvSpPr>
          <p:cNvPr id="211" name="Google Shape;211;g373835381fa_0_49"/>
          <p:cNvSpPr txBox="1"/>
          <p:nvPr/>
        </p:nvSpPr>
        <p:spPr>
          <a:xfrm>
            <a:off x="743675" y="2916500"/>
            <a:ext cx="6717900" cy="59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Onde ele entra na arquitetura: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chemeClr val="dk1"/>
                </a:solidFill>
              </a:rPr>
              <a:t>Controller  →  Service  →  </a:t>
            </a:r>
            <a:r>
              <a:rPr b="1" lang="en-US" sz="1900">
                <a:solidFill>
                  <a:schemeClr val="dk1"/>
                </a:solidFill>
              </a:rPr>
              <a:t>Repository </a:t>
            </a:r>
            <a:r>
              <a:rPr lang="en-US" sz="1900">
                <a:solidFill>
                  <a:schemeClr val="dk1"/>
                </a:solidFill>
              </a:rPr>
              <a:t> →  Banco de Dados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Controller</a:t>
            </a:r>
            <a:r>
              <a:rPr lang="en-US" sz="1800">
                <a:solidFill>
                  <a:schemeClr val="dk1"/>
                </a:solidFill>
              </a:rPr>
              <a:t> → recebe a requisição HTTP.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Service</a:t>
            </a:r>
            <a:r>
              <a:rPr lang="en-US" sz="1800">
                <a:solidFill>
                  <a:schemeClr val="dk1"/>
                </a:solidFill>
              </a:rPr>
              <a:t> → aplica regras de negócio.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Repository</a:t>
            </a:r>
            <a:r>
              <a:rPr lang="en-US" sz="1800">
                <a:solidFill>
                  <a:schemeClr val="dk1"/>
                </a:solidFill>
              </a:rPr>
              <a:t> → acessa e manipula os dados persistidos.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Banco</a:t>
            </a:r>
            <a:r>
              <a:rPr lang="en-US" sz="1800">
                <a:solidFill>
                  <a:schemeClr val="dk1"/>
                </a:solidFill>
              </a:rPr>
              <a:t> → armazena as informações.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g373835381fa_0_49"/>
          <p:cNvSpPr txBox="1"/>
          <p:nvPr/>
        </p:nvSpPr>
        <p:spPr>
          <a:xfrm>
            <a:off x="8947500" y="2111725"/>
            <a:ext cx="6717900" cy="55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Vantagens de usar um Repository no Spring Data</a:t>
            </a:r>
            <a:endParaRPr b="1" sz="21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000">
                <a:solidFill>
                  <a:schemeClr val="dk1"/>
                </a:solidFill>
              </a:rPr>
              <a:t>Menos código</a:t>
            </a:r>
            <a:r>
              <a:rPr lang="en-US" sz="2000">
                <a:solidFill>
                  <a:schemeClr val="dk1"/>
                </a:solidFill>
              </a:rPr>
              <a:t> → sem precisar criar DAO manualmente.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000">
                <a:solidFill>
                  <a:schemeClr val="dk1"/>
                </a:solidFill>
              </a:rPr>
              <a:t>Tipagem forte</a:t>
            </a:r>
            <a:r>
              <a:rPr lang="en-US" sz="2000">
                <a:solidFill>
                  <a:schemeClr val="dk1"/>
                </a:solidFill>
              </a:rPr>
              <a:t> → garante que os tipos corretos sejam usados.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000">
                <a:solidFill>
                  <a:schemeClr val="dk1"/>
                </a:solidFill>
              </a:rPr>
              <a:t>Integração automática</a:t>
            </a:r>
            <a:r>
              <a:rPr lang="en-US" sz="2000">
                <a:solidFill>
                  <a:schemeClr val="dk1"/>
                </a:solidFill>
              </a:rPr>
              <a:t> com JPA/Hibernate.</a:t>
            </a:r>
            <a:br>
              <a:rPr lang="en-US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Suporte a consultas personalizadas</a:t>
            </a:r>
            <a:r>
              <a:rPr lang="en-US" sz="2000">
                <a:solidFill>
                  <a:schemeClr val="dk1"/>
                </a:solidFill>
              </a:rPr>
              <a:t> de forma declarativ</a:t>
            </a:r>
            <a:r>
              <a:rPr lang="en-US" sz="1100">
                <a:solidFill>
                  <a:schemeClr val="dk1"/>
                </a:solidFill>
              </a:rPr>
              <a:t>a.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490033" y="4306831"/>
            <a:ext cx="9604966" cy="4631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ClienteRepository: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Estender JpaRepository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Implementar buscas por e-mail e status 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RestauranteRepository: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por nome, categoria, ativos, ordenação por avaliação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ProdutoRepository: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produtos por restaurante, por categoria e disponibilidade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PedidoRepository: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pedidos por cliente, filtrar por status/data, relatórios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-330965" y="3405733"/>
            <a:ext cx="5623482" cy="66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0" y="1183489"/>
            <a:ext cx="118701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⚙️ CONFIGURAÇÃO DOS REPOSITORIES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10537529" y="4491891"/>
            <a:ext cx="7571631" cy="2299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📦 Entregáveis: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Interfaces Repository criadas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Métodos de consulta implementados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Anotações @Query quando necessário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Testes básicos funcionando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1028700" y="2413746"/>
            <a:ext cx="10022681" cy="567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b="1" i="0" lang="en-US" sz="33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interfaces Repository com Spring Data JPA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5" name="Google Shape;235;g373835381fa_0_66"/>
          <p:cNvCxnSpPr/>
          <p:nvPr/>
        </p:nvCxnSpPr>
        <p:spPr>
          <a:xfrm rot="24824">
            <a:off x="2982566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g373835381fa_0_66"/>
          <p:cNvSpPr txBox="1"/>
          <p:nvPr/>
        </p:nvSpPr>
        <p:spPr>
          <a:xfrm>
            <a:off x="2667000" y="252959"/>
            <a:ext cx="628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373835381fa_0_66"/>
          <p:cNvSpPr txBox="1"/>
          <p:nvPr/>
        </p:nvSpPr>
        <p:spPr>
          <a:xfrm>
            <a:off x="170535" y="1273215"/>
            <a:ext cx="5623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73835381fa_0_66"/>
          <p:cNvSpPr txBox="1"/>
          <p:nvPr/>
        </p:nvSpPr>
        <p:spPr>
          <a:xfrm>
            <a:off x="1540825" y="2052300"/>
            <a:ext cx="6717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O que é um </a:t>
            </a:r>
            <a:r>
              <a:rPr b="1" i="1" lang="en-US" sz="2500">
                <a:solidFill>
                  <a:schemeClr val="dk1"/>
                </a:solidFill>
              </a:rPr>
              <a:t>Service?</a:t>
            </a:r>
            <a:endParaRPr b="1"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373835381fa_0_66"/>
          <p:cNvSpPr txBox="1"/>
          <p:nvPr/>
        </p:nvSpPr>
        <p:spPr>
          <a:xfrm>
            <a:off x="1540825" y="2621700"/>
            <a:ext cx="67179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É uma </a:t>
            </a:r>
            <a:r>
              <a:rPr b="1" lang="en-US" sz="1800">
                <a:solidFill>
                  <a:schemeClr val="dk1"/>
                </a:solidFill>
              </a:rPr>
              <a:t>classe Java</a:t>
            </a:r>
            <a:r>
              <a:rPr lang="en-US" sz="1800">
                <a:solidFill>
                  <a:schemeClr val="dk1"/>
                </a:solidFill>
              </a:rPr>
              <a:t> anotada com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@Service</a:t>
            </a:r>
            <a:r>
              <a:rPr lang="en-US" sz="1800">
                <a:solidFill>
                  <a:schemeClr val="dk1"/>
                </a:solidFill>
              </a:rPr>
              <a:t> (anotação do Spring que a registra como um componente gerenciado pelo </a:t>
            </a:r>
            <a:r>
              <a:rPr i="1" lang="en-US" sz="1800">
                <a:solidFill>
                  <a:schemeClr val="dk1"/>
                </a:solidFill>
              </a:rPr>
              <a:t>container</a:t>
            </a:r>
            <a:r>
              <a:rPr lang="en-US" sz="1800">
                <a:solidFill>
                  <a:schemeClr val="dk1"/>
                </a:solidFill>
              </a:rPr>
              <a:t>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Centraliza </a:t>
            </a:r>
            <a:r>
              <a:rPr b="1" lang="en-US" sz="1800">
                <a:solidFill>
                  <a:schemeClr val="dk1"/>
                </a:solidFill>
              </a:rPr>
              <a:t>regras de negócio</a:t>
            </a:r>
            <a:r>
              <a:rPr lang="en-US" sz="1800">
                <a:solidFill>
                  <a:schemeClr val="dk1"/>
                </a:solidFill>
              </a:rPr>
              <a:t> e </a:t>
            </a:r>
            <a:r>
              <a:rPr b="1" lang="en-US" sz="1800">
                <a:solidFill>
                  <a:schemeClr val="dk1"/>
                </a:solidFill>
              </a:rPr>
              <a:t>processos da aplicação</a:t>
            </a:r>
            <a:r>
              <a:rPr lang="en-US" sz="1800">
                <a:solidFill>
                  <a:schemeClr val="dk1"/>
                </a:solidFill>
              </a:rPr>
              <a:t>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</a:rPr>
              <a:t>Consome dados dos </a:t>
            </a:r>
            <a:r>
              <a:rPr b="1" lang="en-US" sz="1800">
                <a:solidFill>
                  <a:schemeClr val="dk1"/>
                </a:solidFill>
              </a:rPr>
              <a:t>Repositories</a:t>
            </a:r>
            <a:r>
              <a:rPr lang="en-US" sz="1800">
                <a:solidFill>
                  <a:schemeClr val="dk1"/>
                </a:solidFill>
              </a:rPr>
              <a:t> e os processa antes de devolvê-los ao </a:t>
            </a:r>
            <a:r>
              <a:rPr b="1" lang="en-US" sz="1800">
                <a:solidFill>
                  <a:schemeClr val="dk1"/>
                </a:solidFill>
              </a:rPr>
              <a:t>Controller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373835381fa_0_66"/>
          <p:cNvSpPr txBox="1"/>
          <p:nvPr/>
        </p:nvSpPr>
        <p:spPr>
          <a:xfrm>
            <a:off x="1303525" y="5354125"/>
            <a:ext cx="67179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Onde o Service se encaixa na arquitetura</a:t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  →  </a:t>
            </a:r>
            <a:r>
              <a:rPr b="1"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 </a:t>
            </a: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 Repository  →  Banco de Dados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Controller</a:t>
            </a:r>
            <a:r>
              <a:rPr lang="en-US" sz="1700">
                <a:solidFill>
                  <a:schemeClr val="dk1"/>
                </a:solidFill>
              </a:rPr>
              <a:t>: recebe a requisição HTTP e chama o Service.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Service</a:t>
            </a:r>
            <a:r>
              <a:rPr lang="en-US" sz="1700">
                <a:solidFill>
                  <a:schemeClr val="dk1"/>
                </a:solidFill>
              </a:rPr>
              <a:t>: executa as regras de negócio, validações e orquestra a lógica.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Repository</a:t>
            </a:r>
            <a:r>
              <a:rPr lang="en-US" sz="1700">
                <a:solidFill>
                  <a:schemeClr val="dk1"/>
                </a:solidFill>
              </a:rPr>
              <a:t>: realiza operações no banco (CRUD).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dk1"/>
                </a:solidFill>
              </a:rPr>
              <a:t>Banco</a:t>
            </a:r>
            <a:r>
              <a:rPr lang="en-US" sz="1700">
                <a:solidFill>
                  <a:schemeClr val="dk1"/>
                </a:solidFill>
              </a:rPr>
              <a:t>: armazena os dados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373835381fa_0_66"/>
          <p:cNvSpPr txBox="1"/>
          <p:nvPr/>
        </p:nvSpPr>
        <p:spPr>
          <a:xfrm>
            <a:off x="10960700" y="1893925"/>
            <a:ext cx="5822700" cy="76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O que costuma entrar em um Service:</a:t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Validações</a:t>
            </a:r>
            <a:r>
              <a:rPr lang="en-US" sz="1800">
                <a:solidFill>
                  <a:schemeClr val="dk1"/>
                </a:solidFill>
              </a:rPr>
              <a:t> (ex.: campos obrigatórios, formatos corretos).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Regras de negócio</a:t>
            </a:r>
            <a:r>
              <a:rPr lang="en-US" sz="1800">
                <a:solidFill>
                  <a:schemeClr val="dk1"/>
                </a:solidFill>
              </a:rPr>
              <a:t> (ex.: descontos, cálculo de taxas, restrições).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Orquestração</a:t>
            </a:r>
            <a:r>
              <a:rPr lang="en-US" sz="1800">
                <a:solidFill>
                  <a:schemeClr val="dk1"/>
                </a:solidFill>
              </a:rPr>
              <a:t> de chamadas a múltiplos Repositories.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Transações</a:t>
            </a:r>
            <a:r>
              <a:rPr lang="en-US" sz="1800">
                <a:solidFill>
                  <a:schemeClr val="dk1"/>
                </a:solidFill>
              </a:rPr>
              <a:t>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@Transactional</a:t>
            </a:r>
            <a:r>
              <a:rPr lang="en-US" sz="1800">
                <a:solidFill>
                  <a:schemeClr val="dk1"/>
                </a:solidFill>
              </a:rPr>
              <a:t> para garantir atomicidade).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Integração com APIs externas</a:t>
            </a:r>
            <a:r>
              <a:rPr lang="en-US" sz="1800">
                <a:solidFill>
                  <a:schemeClr val="dk1"/>
                </a:solidFill>
              </a:rPr>
              <a:t> quando faz parte do fluxo do negócio.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 txBox="1"/>
          <p:nvPr/>
        </p:nvSpPr>
        <p:spPr>
          <a:xfrm>
            <a:off x="162899" y="4030800"/>
            <a:ext cx="13756500" cy="22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1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ClienteService</a:t>
            </a: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Cadastro, validação de e-mail, busca, atualização, inativação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1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RestauranteService</a:t>
            </a: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Gestão, validações, controle de status ativo/inativo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1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ProdutoService</a:t>
            </a: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Cadastro por restaurante, disponibilidade, validação de preço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1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PedidoService</a:t>
            </a: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Criação, cálculo de valores, mudança de status, validações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t/>
            </a:r>
            <a:endParaRPr b="0" i="0" sz="25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9"/>
          <p:cNvSpPr txBox="1"/>
          <p:nvPr/>
        </p:nvSpPr>
        <p:spPr>
          <a:xfrm>
            <a:off x="-330965" y="2206265"/>
            <a:ext cx="5623482" cy="66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9"/>
          <p:cNvSpPr txBox="1"/>
          <p:nvPr/>
        </p:nvSpPr>
        <p:spPr>
          <a:xfrm>
            <a:off x="4518146" y="7079525"/>
            <a:ext cx="9251700" cy="26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📦 Entregáveis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Classes Service implementadas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Injeção de dependência configurada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Regras de negócio implementadas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3" lvl="1" marL="660586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Tratamento básico de exceções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2" name="Google Shape;262;p10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3" name="Google Shape;263;p10"/>
          <p:cNvSpPr txBox="1"/>
          <p:nvPr/>
        </p:nvSpPr>
        <p:spPr>
          <a:xfrm>
            <a:off x="26670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0"/>
          <p:cNvSpPr txBox="1"/>
          <p:nvPr/>
        </p:nvSpPr>
        <p:spPr>
          <a:xfrm>
            <a:off x="415485" y="1343190"/>
            <a:ext cx="5623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Controllers 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 txBox="1"/>
          <p:nvPr/>
        </p:nvSpPr>
        <p:spPr>
          <a:xfrm>
            <a:off x="1128550" y="2776550"/>
            <a:ext cx="6717900" cy="6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que é um Controller REST 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É uma </a:t>
            </a:r>
            <a:r>
              <a:rPr b="1" lang="en-US" sz="1600">
                <a:solidFill>
                  <a:schemeClr val="dk1"/>
                </a:solidFill>
              </a:rPr>
              <a:t>classe Java</a:t>
            </a:r>
            <a:r>
              <a:rPr lang="en-US" sz="1600">
                <a:solidFill>
                  <a:schemeClr val="dk1"/>
                </a:solidFill>
              </a:rPr>
              <a:t> anotada com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@RestController</a:t>
            </a:r>
            <a:r>
              <a:rPr lang="en-US" sz="1600">
                <a:solidFill>
                  <a:schemeClr val="dk1"/>
                </a:solidFill>
              </a:rPr>
              <a:t> (combina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@Controller</a:t>
            </a:r>
            <a:r>
              <a:rPr lang="en-US" sz="1600">
                <a:solidFill>
                  <a:schemeClr val="dk1"/>
                </a:solidFill>
              </a:rPr>
              <a:t> +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@ResponseBody</a:t>
            </a:r>
            <a:r>
              <a:rPr lang="en-US" sz="1600">
                <a:solidFill>
                  <a:schemeClr val="dk1"/>
                </a:solidFill>
              </a:rPr>
              <a:t>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Cada método é mapeado para um </a:t>
            </a:r>
            <a:r>
              <a:rPr b="1" lang="en-US" sz="1600">
                <a:solidFill>
                  <a:schemeClr val="dk1"/>
                </a:solidFill>
              </a:rPr>
              <a:t>endpoint HTTP</a:t>
            </a:r>
            <a:r>
              <a:rPr lang="en-US" sz="1600">
                <a:solidFill>
                  <a:schemeClr val="dk1"/>
                </a:solidFill>
              </a:rPr>
              <a:t> usando anotações como: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@GetMapping</a:t>
            </a:r>
            <a:r>
              <a:rPr lang="en-US" sz="1600">
                <a:solidFill>
                  <a:schemeClr val="dk1"/>
                </a:solidFill>
              </a:rPr>
              <a:t> → para requisições GET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@PostMapping</a:t>
            </a:r>
            <a:r>
              <a:rPr lang="en-US" sz="1600">
                <a:solidFill>
                  <a:schemeClr val="dk1"/>
                </a:solidFill>
              </a:rPr>
              <a:t> → para requisições POST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@PutMapping</a:t>
            </a:r>
            <a:r>
              <a:rPr lang="en-US" sz="1600">
                <a:solidFill>
                  <a:schemeClr val="dk1"/>
                </a:solidFill>
              </a:rPr>
              <a:t> → para requisições PUT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@DeleteMapping</a:t>
            </a:r>
            <a:r>
              <a:rPr lang="en-US" sz="1600">
                <a:solidFill>
                  <a:schemeClr val="dk1"/>
                </a:solidFill>
              </a:rPr>
              <a:t> → para requisições DELETE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Pode receber parâmetros pela </a:t>
            </a:r>
            <a:r>
              <a:rPr b="1" lang="en-US" sz="1600">
                <a:solidFill>
                  <a:schemeClr val="dk1"/>
                </a:solidFill>
              </a:rPr>
              <a:t>URL</a:t>
            </a:r>
            <a:r>
              <a:rPr lang="en-US" sz="1600">
                <a:solidFill>
                  <a:schemeClr val="dk1"/>
                </a:solidFill>
              </a:rPr>
              <a:t>, </a:t>
            </a:r>
            <a:r>
              <a:rPr b="1" lang="en-US" sz="1600">
                <a:solidFill>
                  <a:schemeClr val="dk1"/>
                </a:solidFill>
              </a:rPr>
              <a:t>query string</a:t>
            </a:r>
            <a:r>
              <a:rPr lang="en-US" sz="1600">
                <a:solidFill>
                  <a:schemeClr val="dk1"/>
                </a:solidFill>
              </a:rPr>
              <a:t> ou </a:t>
            </a:r>
            <a:r>
              <a:rPr b="1" lang="en-US" sz="1600">
                <a:solidFill>
                  <a:schemeClr val="dk1"/>
                </a:solidFill>
              </a:rPr>
              <a:t>corpo da requisição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Retorna dados em formato JSON (padrão) ou outro formato suportado.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 txBox="1"/>
          <p:nvPr/>
        </p:nvSpPr>
        <p:spPr>
          <a:xfrm>
            <a:off x="10272575" y="2368350"/>
            <a:ext cx="67179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Estrutura típica de um Controller REST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 (navegador ou app)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→ Controller REST (HTTP)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→ Service (regras de negócio)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→ Repository (acesso ao banco)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73835381fa_0_111"/>
          <p:cNvSpPr txBox="1"/>
          <p:nvPr/>
        </p:nvSpPr>
        <p:spPr>
          <a:xfrm>
            <a:off x="497127" y="1343200"/>
            <a:ext cx="12539700" cy="73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Controllers Rest</a:t>
            </a:r>
            <a:endParaRPr b="1" i="0" sz="403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t/>
            </a:r>
            <a:endParaRPr b="1" sz="4033"/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t/>
            </a:r>
            <a:endParaRPr b="1" sz="4033"/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lang="en-US" sz="3033"/>
              <a:t>Principais anotações usadas em Controllers REST: </a:t>
            </a:r>
            <a:endParaRPr b="1" sz="3033"/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t/>
            </a:r>
            <a:endParaRPr b="1" sz="3733"/>
          </a:p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@RestController</a:t>
            </a:r>
            <a:r>
              <a:rPr lang="en-US" sz="1800">
                <a:solidFill>
                  <a:schemeClr val="dk1"/>
                </a:solidFill>
              </a:rPr>
              <a:t> → diz ao Spring que a classe responde a requisições REST e retorna dados no corpo da resposta.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@RequestMapping</a:t>
            </a:r>
            <a:r>
              <a:rPr lang="en-US" sz="1800">
                <a:solidFill>
                  <a:schemeClr val="dk1"/>
                </a:solidFill>
              </a:rPr>
              <a:t> → define o </a:t>
            </a:r>
            <a:r>
              <a:rPr b="1" lang="en-US" sz="1800">
                <a:solidFill>
                  <a:schemeClr val="dk1"/>
                </a:solidFill>
              </a:rPr>
              <a:t>caminho base</a:t>
            </a:r>
            <a:r>
              <a:rPr lang="en-US" sz="1800">
                <a:solidFill>
                  <a:schemeClr val="dk1"/>
                </a:solidFill>
              </a:rPr>
              <a:t> para todos os endpoints da classe.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@GetMapping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@PostMapping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@PutMapping</a:t>
            </a:r>
            <a:r>
              <a:rPr lang="en-US" sz="1800">
                <a:solidFill>
                  <a:schemeClr val="dk1"/>
                </a:solidFill>
              </a:rPr>
              <a:t>, 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@DeleteMapping</a:t>
            </a:r>
            <a:r>
              <a:rPr lang="en-US" sz="1800">
                <a:solidFill>
                  <a:schemeClr val="dk1"/>
                </a:solidFill>
              </a:rPr>
              <a:t> → mapeiam métodos HTTP.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@PathVariable</a:t>
            </a:r>
            <a:r>
              <a:rPr lang="en-US" sz="1800">
                <a:solidFill>
                  <a:schemeClr val="dk1"/>
                </a:solidFill>
              </a:rPr>
              <a:t> → captura valores de parâmetros na URL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/clientes/{id}</a:t>
            </a:r>
            <a:r>
              <a:rPr lang="en-US" sz="1800">
                <a:solidFill>
                  <a:schemeClr val="dk1"/>
                </a:solidFill>
              </a:rPr>
              <a:t>).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@RequestBody</a:t>
            </a:r>
            <a:r>
              <a:rPr lang="en-US" sz="1800">
                <a:solidFill>
                  <a:schemeClr val="dk1"/>
                </a:solidFill>
              </a:rPr>
              <a:t> → mapeia o JSON enviado no corpo da requisição para um objeto Java.</a:t>
            </a:r>
            <a:br>
              <a:rPr lang="en-US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@RequestParam</a:t>
            </a:r>
            <a:r>
              <a:rPr lang="en-US" sz="1800">
                <a:solidFill>
                  <a:schemeClr val="dk1"/>
                </a:solidFill>
              </a:rPr>
              <a:t> → captura parâmetros da query string (</a:t>
            </a:r>
            <a:r>
              <a:rPr lang="en-US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/clientes?ativo=true</a:t>
            </a:r>
            <a:r>
              <a:rPr lang="en-US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t/>
            </a:r>
            <a:endParaRPr b="1" sz="3033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4" name="Google Shape;284;g373835381fa_0_91"/>
          <p:cNvCxnSpPr/>
          <p:nvPr/>
        </p:nvCxnSpPr>
        <p:spPr>
          <a:xfrm rot="24824">
            <a:off x="2982566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5" name="Google Shape;285;g373835381fa_0_91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73835381fa_0_91"/>
          <p:cNvSpPr txBox="1"/>
          <p:nvPr/>
        </p:nvSpPr>
        <p:spPr>
          <a:xfrm>
            <a:off x="162906" y="4030799"/>
            <a:ext cx="12159600" cy="4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ClienteController: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0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/clientes, GET /clientes, GET /clientes/{id}, PUT /clientes/{id}, DELETE /clientes/{id}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RestauranteController: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0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CRUD completo + buscar por categoria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ProdutoController: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0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CRUD + buscar produtos por restaurante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PedidoController: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0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Criar pedido, consultar por cliente, atualizar status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t/>
            </a:r>
            <a:endParaRPr b="0" i="0" sz="25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373835381fa_0_91"/>
          <p:cNvSpPr txBox="1"/>
          <p:nvPr/>
        </p:nvSpPr>
        <p:spPr>
          <a:xfrm>
            <a:off x="2667000" y="252959"/>
            <a:ext cx="628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73835381fa_0_91"/>
          <p:cNvSpPr txBox="1"/>
          <p:nvPr/>
        </p:nvSpPr>
        <p:spPr>
          <a:xfrm>
            <a:off x="-330965" y="2206265"/>
            <a:ext cx="5623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Controllers 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73835381fa_0_91"/>
          <p:cNvSpPr txBox="1"/>
          <p:nvPr/>
        </p:nvSpPr>
        <p:spPr>
          <a:xfrm>
            <a:off x="0" y="1183489"/>
            <a:ext cx="113559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3: CONTROLLERS REST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g373835381fa_0_91"/>
          <p:cNvSpPr txBox="1"/>
          <p:nvPr/>
        </p:nvSpPr>
        <p:spPr>
          <a:xfrm>
            <a:off x="9727499" y="7335337"/>
            <a:ext cx="6537000" cy="3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📦 Entregáveis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Controllers REST implementados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Endpoints funcionando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Validações de entrada aplicadas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Respostas HTTP adequadas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t/>
            </a:r>
            <a:endParaRPr b="0" i="0" sz="30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1"/>
          <p:cNvSpPr txBox="1"/>
          <p:nvPr/>
        </p:nvSpPr>
        <p:spPr>
          <a:xfrm>
            <a:off x="1455150" y="2006775"/>
            <a:ext cx="6717900" cy="59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Testes e Validação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Testes</a:t>
            </a:r>
            <a:r>
              <a:rPr lang="en-US" sz="1900">
                <a:solidFill>
                  <a:schemeClr val="dk1"/>
                </a:solidFill>
              </a:rPr>
              <a:t> garantem que a aplicação funcione hoje e continue funcionando após mudanças (regressão).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Validação</a:t>
            </a:r>
            <a:r>
              <a:rPr lang="en-US" sz="1900">
                <a:solidFill>
                  <a:schemeClr val="dk1"/>
                </a:solidFill>
              </a:rPr>
              <a:t> garante </a:t>
            </a:r>
            <a:r>
              <a:rPr b="1" lang="en-US" sz="1900">
                <a:solidFill>
                  <a:schemeClr val="dk1"/>
                </a:solidFill>
              </a:rPr>
              <a:t>dados corretos</a:t>
            </a:r>
            <a:r>
              <a:rPr lang="en-US" sz="1900">
                <a:solidFill>
                  <a:schemeClr val="dk1"/>
                </a:solidFill>
              </a:rPr>
              <a:t> nas bordas (entrada/saída), reduzindo bugs e falhas de negócio.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400">
                <a:solidFill>
                  <a:schemeClr val="dk1"/>
                </a:solidFill>
              </a:rPr>
              <a:t>Pirâmide de testes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Unitários (base):</a:t>
            </a:r>
            <a:r>
              <a:rPr lang="en-US" sz="1600">
                <a:solidFill>
                  <a:schemeClr val="dk1"/>
                </a:solidFill>
              </a:rPr>
              <a:t> rápidos, isolam uma classe (ex.: </a:t>
            </a:r>
            <a:r>
              <a:rPr lang="en-US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Service</a:t>
            </a:r>
            <a:r>
              <a:rPr lang="en-US" sz="1600">
                <a:solidFill>
                  <a:schemeClr val="dk1"/>
                </a:solidFill>
              </a:rPr>
              <a:t>) usando </a:t>
            </a:r>
            <a:r>
              <a:rPr i="1" lang="en-US" sz="1600">
                <a:solidFill>
                  <a:schemeClr val="dk1"/>
                </a:solidFill>
              </a:rPr>
              <a:t>mocks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Integração (meio):</a:t>
            </a:r>
            <a:r>
              <a:rPr lang="en-US" sz="1600">
                <a:solidFill>
                  <a:schemeClr val="dk1"/>
                </a:solidFill>
              </a:rPr>
              <a:t> exercitam componentes reais e infraestrutura (JPA, banco). Use </a:t>
            </a:r>
            <a:r>
              <a:rPr b="1" lang="en-US" sz="1600">
                <a:solidFill>
                  <a:schemeClr val="dk1"/>
                </a:solidFill>
              </a:rPr>
              <a:t>Testcontainers</a:t>
            </a:r>
            <a:r>
              <a:rPr lang="en-US" sz="1600">
                <a:solidFill>
                  <a:schemeClr val="dk1"/>
                </a:solidFill>
              </a:rPr>
              <a:t>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End-to-end</a:t>
            </a:r>
            <a:r>
              <a:rPr lang="en-US" sz="1600">
                <a:solidFill>
                  <a:schemeClr val="dk1"/>
                </a:solidFill>
              </a:rPr>
              <a:t> (topo): exercitam o sistema pela API HTTP (fluxos reais).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10435875" y="2006775"/>
            <a:ext cx="6032700" cy="48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Ferramentas principais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JUnit 5</a:t>
            </a:r>
            <a:r>
              <a:rPr lang="en-US" sz="1900">
                <a:solidFill>
                  <a:schemeClr val="dk1"/>
                </a:solidFill>
              </a:rPr>
              <a:t>: framework de testes.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Mockito</a:t>
            </a:r>
            <a:r>
              <a:rPr lang="en-US" sz="1900">
                <a:solidFill>
                  <a:schemeClr val="dk1"/>
                </a:solidFill>
              </a:rPr>
              <a:t>: </a:t>
            </a:r>
            <a:r>
              <a:rPr i="1" lang="en-US" sz="1900">
                <a:solidFill>
                  <a:schemeClr val="dk1"/>
                </a:solidFill>
              </a:rPr>
              <a:t>mocks/stubs/spies</a:t>
            </a:r>
            <a:r>
              <a:rPr lang="en-US" sz="1900">
                <a:solidFill>
                  <a:schemeClr val="dk1"/>
                </a:solidFill>
              </a:rPr>
              <a:t> para unitários.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Spring Boot Test</a:t>
            </a:r>
            <a:r>
              <a:rPr lang="en-US" sz="1900">
                <a:solidFill>
                  <a:schemeClr val="dk1"/>
                </a:solidFill>
              </a:rPr>
              <a:t> (</a:t>
            </a:r>
            <a:r>
              <a:rPr lang="en-US" sz="1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spring-boot-starter-test</a:t>
            </a:r>
            <a:r>
              <a:rPr lang="en-US" sz="1900">
                <a:solidFill>
                  <a:schemeClr val="dk1"/>
                </a:solidFill>
              </a:rPr>
              <a:t>): utilitários e </a:t>
            </a:r>
            <a:r>
              <a:rPr i="1" lang="en-US" sz="1900">
                <a:solidFill>
                  <a:schemeClr val="dk1"/>
                </a:solidFill>
              </a:rPr>
              <a:t>slices</a:t>
            </a:r>
            <a:r>
              <a:rPr lang="en-US" sz="1900">
                <a:solidFill>
                  <a:schemeClr val="dk1"/>
                </a:solidFill>
              </a:rPr>
              <a:t> de teste.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Testcontainers</a:t>
            </a:r>
            <a:r>
              <a:rPr lang="en-US" sz="1900">
                <a:solidFill>
                  <a:schemeClr val="dk1"/>
                </a:solidFill>
              </a:rPr>
              <a:t>: banco real em container (Postgres/MySQL) para integração.</a:t>
            </a:r>
            <a:br>
              <a:rPr lang="en-US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1"/>
                </a:solidFill>
              </a:rPr>
              <a:t>RestAssured</a:t>
            </a:r>
            <a:r>
              <a:rPr lang="en-US" sz="1900">
                <a:solidFill>
                  <a:schemeClr val="dk1"/>
                </a:solidFill>
              </a:rPr>
              <a:t> ou </a:t>
            </a:r>
            <a:r>
              <a:rPr b="1" lang="en-US" sz="1900">
                <a:solidFill>
                  <a:schemeClr val="dk1"/>
                </a:solidFill>
              </a:rPr>
              <a:t>MockMvc</a:t>
            </a:r>
            <a:r>
              <a:rPr lang="en-US" sz="1900">
                <a:solidFill>
                  <a:schemeClr val="dk1"/>
                </a:solidFill>
              </a:rPr>
              <a:t>: testes de API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g373835381fa_0_125"/>
          <p:cNvCxnSpPr/>
          <p:nvPr/>
        </p:nvCxnSpPr>
        <p:spPr>
          <a:xfrm rot="24824">
            <a:off x="2982566" y="1047661"/>
            <a:ext cx="527623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g373835381fa_0_125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73835381fa_0_125"/>
          <p:cNvSpPr txBox="1"/>
          <p:nvPr/>
        </p:nvSpPr>
        <p:spPr>
          <a:xfrm>
            <a:off x="287526" y="3392121"/>
            <a:ext cx="12159600" cy="13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Testes via Postman / Insomnia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Verificação no console do banco H2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Testes das regras de negócio (e-mail único, cálculos, status)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373835381fa_0_125"/>
          <p:cNvSpPr txBox="1"/>
          <p:nvPr/>
        </p:nvSpPr>
        <p:spPr>
          <a:xfrm>
            <a:off x="2667000" y="252959"/>
            <a:ext cx="6280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g373835381fa_0_125"/>
          <p:cNvSpPr txBox="1"/>
          <p:nvPr/>
        </p:nvSpPr>
        <p:spPr>
          <a:xfrm>
            <a:off x="170894" y="2254821"/>
            <a:ext cx="56235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Testes e Validação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373835381fa_0_125"/>
          <p:cNvSpPr txBox="1"/>
          <p:nvPr/>
        </p:nvSpPr>
        <p:spPr>
          <a:xfrm>
            <a:off x="0" y="1183489"/>
            <a:ext cx="113559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ATIVIDADE 4: TESTES E VALIDAÇÃO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373835381fa_0_125"/>
          <p:cNvSpPr txBox="1"/>
          <p:nvPr/>
        </p:nvSpPr>
        <p:spPr>
          <a:xfrm>
            <a:off x="4386411" y="5933361"/>
            <a:ext cx="7729500" cy="32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📦 Entregáveis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Collection de testes Postman/Insomnia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Screenshots dos testes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Dados de exemplo no H2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Funcionalidades validadas com sucesso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t/>
            </a:r>
            <a:endParaRPr b="0" i="0" sz="30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 txBox="1"/>
          <p:nvPr/>
        </p:nvSpPr>
        <p:spPr>
          <a:xfrm>
            <a:off x="189601" y="1799946"/>
            <a:ext cx="8069100" cy="9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Documentação e Finalização</a:t>
            </a:r>
            <a:endParaRPr b="1" sz="4033"/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lang="en-US" sz="2333"/>
              <a:t>O que é Documentação no contexto da aplicação</a:t>
            </a:r>
            <a:endParaRPr b="1" sz="2333"/>
          </a:p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t/>
            </a:r>
            <a:endParaRPr b="1" sz="2333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</a:rPr>
              <a:t>Documentação é o </a:t>
            </a:r>
            <a:r>
              <a:rPr b="1" lang="en-US" sz="1600">
                <a:solidFill>
                  <a:schemeClr val="dk1"/>
                </a:solidFill>
              </a:rPr>
              <a:t>registro claro e organizado</a:t>
            </a:r>
            <a:r>
              <a:rPr lang="en-US" sz="1600">
                <a:solidFill>
                  <a:schemeClr val="dk1"/>
                </a:solidFill>
              </a:rPr>
              <a:t> de como sua aplicação funciona, como ela deve ser usada e como deve ser mantida.</a:t>
            </a:r>
            <a:br>
              <a:rPr lang="en-US" sz="1600">
                <a:solidFill>
                  <a:schemeClr val="dk1"/>
                </a:solidFill>
              </a:rPr>
            </a:br>
            <a:r>
              <a:rPr lang="en-US" sz="1600">
                <a:solidFill>
                  <a:schemeClr val="dk1"/>
                </a:solidFill>
              </a:rPr>
              <a:t> Serve para: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Quem vai </a:t>
            </a:r>
            <a:r>
              <a:rPr b="1" lang="en-US" sz="1600">
                <a:solidFill>
                  <a:schemeClr val="dk1"/>
                </a:solidFill>
              </a:rPr>
              <a:t>usar</a:t>
            </a:r>
            <a:r>
              <a:rPr lang="en-US" sz="1600">
                <a:solidFill>
                  <a:schemeClr val="dk1"/>
                </a:solidFill>
              </a:rPr>
              <a:t> (ex.: consumidores da API).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Quem vai </a:t>
            </a:r>
            <a:r>
              <a:rPr b="1" lang="en-US" sz="1600">
                <a:solidFill>
                  <a:schemeClr val="dk1"/>
                </a:solidFill>
              </a:rPr>
              <a:t>manter</a:t>
            </a:r>
            <a:r>
              <a:rPr lang="en-US" sz="1600">
                <a:solidFill>
                  <a:schemeClr val="dk1"/>
                </a:solidFill>
              </a:rPr>
              <a:t> ou </a:t>
            </a:r>
            <a:r>
              <a:rPr b="1" lang="en-US" sz="1600">
                <a:solidFill>
                  <a:schemeClr val="dk1"/>
                </a:solidFill>
              </a:rPr>
              <a:t>evoluir</a:t>
            </a:r>
            <a:r>
              <a:rPr lang="en-US" sz="1600">
                <a:solidFill>
                  <a:schemeClr val="dk1"/>
                </a:solidFill>
              </a:rPr>
              <a:t> o código no futuro.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Garantir </a:t>
            </a:r>
            <a:r>
              <a:rPr b="1" lang="en-US" sz="1600">
                <a:solidFill>
                  <a:schemeClr val="dk1"/>
                </a:solidFill>
              </a:rPr>
              <a:t>transparência</a:t>
            </a:r>
            <a:r>
              <a:rPr lang="en-US" sz="1600">
                <a:solidFill>
                  <a:schemeClr val="dk1"/>
                </a:solidFill>
              </a:rPr>
              <a:t> e </a:t>
            </a:r>
            <a:r>
              <a:rPr b="1" lang="en-US" sz="1600">
                <a:solidFill>
                  <a:schemeClr val="dk1"/>
                </a:solidFill>
              </a:rPr>
              <a:t>padronização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Documentação da API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chemeClr val="dk1"/>
                </a:solidFill>
              </a:rPr>
              <a:t>Swagger/OpenAPI</a:t>
            </a:r>
            <a:r>
              <a:rPr lang="en-US" sz="1700">
                <a:solidFill>
                  <a:schemeClr val="dk1"/>
                </a:solidFill>
              </a:rPr>
              <a:t> → descreve todos os endpoints, parâmetros, modelos de entrada/saída, códigos de resposta e exemplos.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Ajuda outros devs a </a:t>
            </a:r>
            <a:r>
              <a:rPr b="1" lang="en-US" sz="1700">
                <a:solidFill>
                  <a:schemeClr val="dk1"/>
                </a:solidFill>
              </a:rPr>
              <a:t>consumirem</a:t>
            </a:r>
            <a:r>
              <a:rPr lang="en-US" sz="1700">
                <a:solidFill>
                  <a:schemeClr val="dk1"/>
                </a:solidFill>
              </a:rPr>
              <a:t> sua API sem precisar olhar o código.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Pode ser gerada automaticamente no Spring Boot usando </a:t>
            </a:r>
            <a:r>
              <a:rPr b="1" lang="en-US" sz="1700">
                <a:solidFill>
                  <a:schemeClr val="dk1"/>
                </a:solidFill>
              </a:rPr>
              <a:t>springdoc-openapi</a:t>
            </a:r>
            <a:r>
              <a:rPr lang="en-US" sz="1700">
                <a:solidFill>
                  <a:schemeClr val="dk1"/>
                </a:solidFill>
              </a:rPr>
              <a:t>.</a:t>
            </a:r>
            <a:br>
              <a:rPr lang="en-US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chemeClr val="dk1"/>
                </a:solidFill>
              </a:rPr>
              <a:t>Permite navegação interativa via navegador para testar endpoints (Swagger UI).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6414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t/>
            </a:r>
            <a:endParaRPr b="1" sz="2333"/>
          </a:p>
        </p:txBody>
      </p:sp>
      <p:sp>
        <p:nvSpPr>
          <p:cNvPr id="325" name="Google Shape;325;p12"/>
          <p:cNvSpPr txBox="1"/>
          <p:nvPr/>
        </p:nvSpPr>
        <p:spPr>
          <a:xfrm>
            <a:off x="10634125" y="1799950"/>
            <a:ext cx="6717900" cy="76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Documentação de projeto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README.md</a:t>
            </a:r>
            <a:r>
              <a:rPr lang="en-US" sz="1600">
                <a:solidFill>
                  <a:schemeClr val="dk1"/>
                </a:solidFill>
              </a:rPr>
              <a:t> → arquivo principal no repositório, contendo: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Objetivo da aplicação.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Stack utilizada.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Como rodar localmente.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Como configurar variáveis de ambiente.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Como rodar testes.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</a:rPr>
              <a:t>Como fazer build/deploy.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Guia de Operação</a:t>
            </a:r>
            <a:r>
              <a:rPr lang="en-US" sz="1600">
                <a:solidFill>
                  <a:schemeClr val="dk1"/>
                </a:solidFill>
              </a:rPr>
              <a:t> → descreve rotinas de manutenção, backup, monitoramento, rollback.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Changelog</a:t>
            </a:r>
            <a:r>
              <a:rPr lang="en-US" sz="1600">
                <a:solidFill>
                  <a:schemeClr val="dk1"/>
                </a:solidFill>
              </a:rPr>
              <a:t> → lista mudanças versão a versão.</a:t>
            </a:r>
            <a:br>
              <a:rPr lang="en-US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Arquitetura</a:t>
            </a:r>
            <a:r>
              <a:rPr lang="en-US" sz="1600">
                <a:solidFill>
                  <a:schemeClr val="dk1"/>
                </a:solidFill>
              </a:rPr>
              <a:t> → breve explicação da arquitetura, camadas e dependências críticas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73835381fa_0_147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73835381fa_0_147"/>
          <p:cNvSpPr txBox="1"/>
          <p:nvPr/>
        </p:nvSpPr>
        <p:spPr>
          <a:xfrm>
            <a:off x="287526" y="3392121"/>
            <a:ext cx="12159600" cy="27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Atualizar README.md com: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Instruções de teste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Organizar commits e subir no GitHub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358" lvl="1" marL="560716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•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Preparar aplicação para demonstração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t/>
            </a:r>
            <a:endParaRPr b="0" i="0" sz="25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73835381fa_0_147"/>
          <p:cNvSpPr txBox="1"/>
          <p:nvPr/>
        </p:nvSpPr>
        <p:spPr>
          <a:xfrm>
            <a:off x="287526" y="2254821"/>
            <a:ext cx="80691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Documentação e Finalização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g373835381fa_0_147"/>
          <p:cNvSpPr txBox="1"/>
          <p:nvPr/>
        </p:nvSpPr>
        <p:spPr>
          <a:xfrm>
            <a:off x="0" y="1183489"/>
            <a:ext cx="11355900" cy="5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DOCUMENTAÇÃO E FINALIZAÇÃO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373835381fa_0_147"/>
          <p:cNvSpPr txBox="1"/>
          <p:nvPr/>
        </p:nvSpPr>
        <p:spPr>
          <a:xfrm>
            <a:off x="4386411" y="5933361"/>
            <a:ext cx="6069900" cy="3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📦 Entregáveis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README.md atualizado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Repositório GitHub organizado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Aplicação demonstrável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92" lvl="1" marL="660585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Char char="•"/>
            </a:pPr>
            <a:r>
              <a:rPr b="0" i="0" lang="en-US" sz="30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Documentação completa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9"/>
              <a:buFont typeface="Arial"/>
              <a:buNone/>
            </a:pPr>
            <a:r>
              <a:t/>
            </a:r>
            <a:endParaRPr b="0" i="0" sz="305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 txBox="1"/>
          <p:nvPr/>
        </p:nvSpPr>
        <p:spPr>
          <a:xfrm>
            <a:off x="2867591" y="4544857"/>
            <a:ext cx="12159679" cy="3107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0359" lvl="1" marL="560717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AutoNum type="arabicPeriod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Repositório GitHub Atualizado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Nome: delivery-api-[seunome]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Branch: 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Commits organizados por funcionalidade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t/>
            </a:r>
            <a:endParaRPr b="0" i="0" sz="25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2.Documentação Completa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3811" lvl="2" marL="1121434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Char char="⚬"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README.md com instruções, endpoints e exemplos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t/>
            </a:r>
            <a:endParaRPr b="0" i="0" sz="25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3"/>
          <p:cNvSpPr txBox="1"/>
          <p:nvPr/>
        </p:nvSpPr>
        <p:spPr>
          <a:xfrm>
            <a:off x="287526" y="2254821"/>
            <a:ext cx="8069152" cy="66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O que deve ser entregue: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8" name="Google Shape;358;p14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14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4"/>
          <p:cNvSpPr/>
          <p:nvPr/>
        </p:nvSpPr>
        <p:spPr>
          <a:xfrm>
            <a:off x="4148874" y="2599918"/>
            <a:ext cx="7848599" cy="7478970"/>
          </a:xfrm>
          <a:custGeom>
            <a:rect b="b" l="l" r="r" t="t"/>
            <a:pathLst>
              <a:path extrusionOk="0" h="6746275" w="4820520">
                <a:moveTo>
                  <a:pt x="0" y="0"/>
                </a:moveTo>
                <a:lnTo>
                  <a:pt x="4820520" y="0"/>
                </a:lnTo>
                <a:lnTo>
                  <a:pt x="4820520" y="6746276"/>
                </a:lnTo>
                <a:lnTo>
                  <a:pt x="0" y="67462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4"/>
          <p:cNvSpPr txBox="1"/>
          <p:nvPr/>
        </p:nvSpPr>
        <p:spPr>
          <a:xfrm>
            <a:off x="26670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 txBox="1"/>
          <p:nvPr/>
        </p:nvSpPr>
        <p:spPr>
          <a:xfrm>
            <a:off x="189544" y="1902905"/>
            <a:ext cx="8069152" cy="66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O que deve ser entregue: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4"/>
          <p:cNvSpPr txBox="1"/>
          <p:nvPr/>
        </p:nvSpPr>
        <p:spPr>
          <a:xfrm>
            <a:off x="0" y="1183489"/>
            <a:ext cx="10888723" cy="6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Estrutura de Pastas Esperada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4"/>
          <p:cNvSpPr txBox="1"/>
          <p:nvPr/>
        </p:nvSpPr>
        <p:spPr>
          <a:xfrm>
            <a:off x="292036" y="4758779"/>
            <a:ext cx="373851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7"/>
              <a:buFont typeface="Arial"/>
              <a:buNone/>
            </a:pPr>
            <a:r>
              <a:rPr b="0" i="0" lang="en-US" sz="259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Repositório GitHub Atualizado</a:t>
            </a:r>
            <a:endParaRPr b="0" i="0" sz="25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4"/>
          <p:cNvSpPr txBox="1"/>
          <p:nvPr/>
        </p:nvSpPr>
        <p:spPr>
          <a:xfrm>
            <a:off x="5159353" y="2693216"/>
            <a:ext cx="7969200" cy="74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delivery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-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api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src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├── main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├── java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└── com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deliverytech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delivery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├── controller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ClienteController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RestauranteController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ProdutoController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└──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PedidoController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├── service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ClienteService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RestauranteService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ProdutoService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└──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PedidoService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├── repository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ClienteRepository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RestauranteRepository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ProdutoRepository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└──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PedidoRepository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├── module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│   └── 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Feitos nesta aula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]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│       └──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DeliveryApiApplication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└── resources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    ├── application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properties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│       └── data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sql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 postman</a:t>
            </a:r>
            <a:r>
              <a:rPr b="0" i="0" lang="en-US" sz="1600" u="none" cap="none" strike="noStrike">
                <a:solidFill>
                  <a:srgbClr val="67CD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/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│   └──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DeliveryAPI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postman_collection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json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├── </a:t>
            </a:r>
            <a:r>
              <a:rPr b="0" i="0" lang="en-US" sz="1600" u="none" cap="none" strike="noStrike">
                <a:solidFill>
                  <a:srgbClr val="F8C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README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md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└── pom</a:t>
            </a: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xml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4" name="Google Shape;374;p15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15"/>
          <p:cNvSpPr/>
          <p:nvPr/>
        </p:nvSpPr>
        <p:spPr>
          <a:xfrm>
            <a:off x="12115800" y="702697"/>
            <a:ext cx="4876800" cy="2438400"/>
          </a:xfrm>
          <a:custGeom>
            <a:rect b="b" l="l" r="r" t="t"/>
            <a:pathLst>
              <a:path extrusionOk="0" h="3251200" w="6502400">
                <a:moveTo>
                  <a:pt x="0" y="0"/>
                </a:moveTo>
                <a:lnTo>
                  <a:pt x="6502400" y="0"/>
                </a:lnTo>
                <a:lnTo>
                  <a:pt x="6502400" y="3251200"/>
                </a:lnTo>
                <a:lnTo>
                  <a:pt x="0" y="32512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5"/>
          <p:cNvSpPr txBox="1"/>
          <p:nvPr/>
        </p:nvSpPr>
        <p:spPr>
          <a:xfrm>
            <a:off x="26670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Desenvolvimento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5"/>
          <p:cNvSpPr txBox="1"/>
          <p:nvPr/>
        </p:nvSpPr>
        <p:spPr>
          <a:xfrm>
            <a:off x="287526" y="2254821"/>
            <a:ext cx="8069152" cy="665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33"/>
              <a:buFont typeface="Arial"/>
              <a:buNone/>
            </a:pPr>
            <a:r>
              <a:rPr b="1" i="0" lang="en-US" sz="4033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 O que deve ser entregue: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5"/>
          <p:cNvSpPr txBox="1"/>
          <p:nvPr/>
        </p:nvSpPr>
        <p:spPr>
          <a:xfrm>
            <a:off x="0" y="1183489"/>
            <a:ext cx="10888723" cy="609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3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9"/>
              <a:buFont typeface="Arial"/>
              <a:buNone/>
            </a:pPr>
            <a:r>
              <a:rPr b="1" i="0" lang="en-US" sz="365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 Importantes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5"/>
          <p:cNvSpPr txBox="1"/>
          <p:nvPr/>
        </p:nvSpPr>
        <p:spPr>
          <a:xfrm>
            <a:off x="1028700" y="3274446"/>
            <a:ext cx="17259300" cy="5881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None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💡 Dicas de Implementação: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Comece pelos Repositories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Mantenha Services com a lógica de negócio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Teste frequentemente usando H2 Console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Organize commits descritivos para cada funcionalidade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None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🔧 Recursos Disponíveis: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Console H2: http://localhost:8080/h2-console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📘 Documentação do Spring Data JPA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📎 Exemplos no GitHub do professor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9359" lvl="1" marL="658717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Char char="•"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📞 Suporte durante a aula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None/>
            </a:pPr>
            <a:r>
              <a:t/>
            </a:r>
            <a:endParaRPr b="0" i="0" sz="305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51"/>
              <a:buFont typeface="Arial"/>
              <a:buNone/>
            </a:pPr>
            <a:r>
              <a:rPr b="0" i="0" lang="en-US" sz="305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"Grandes sistemas são construídos uma camada por vez. Hoje vocês estão construindo a fundação da persistência!"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88" name="Google Shape;388;p22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2"/>
          <p:cNvSpPr txBox="1"/>
          <p:nvPr/>
        </p:nvSpPr>
        <p:spPr>
          <a:xfrm>
            <a:off x="3276600" y="252959"/>
            <a:ext cx="6280430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Nosso 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5410200" y="4118768"/>
            <a:ext cx="8745950" cy="5820060"/>
          </a:xfrm>
          <a:custGeom>
            <a:rect b="b" l="l" r="r" t="t"/>
            <a:pathLst>
              <a:path extrusionOk="0" h="7760081" w="11661267">
                <a:moveTo>
                  <a:pt x="0" y="0"/>
                </a:moveTo>
                <a:lnTo>
                  <a:pt x="11661267" y="0"/>
                </a:lnTo>
                <a:lnTo>
                  <a:pt x="11661267" y="7760081"/>
                </a:lnTo>
                <a:lnTo>
                  <a:pt x="0" y="77600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2"/>
          <p:cNvSpPr txBox="1"/>
          <p:nvPr/>
        </p:nvSpPr>
        <p:spPr>
          <a:xfrm>
            <a:off x="6482220" y="2865100"/>
            <a:ext cx="6576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30 minutos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88cdd43a17_0_0"/>
          <p:cNvSpPr txBox="1"/>
          <p:nvPr/>
        </p:nvSpPr>
        <p:spPr>
          <a:xfrm>
            <a:off x="4161775" y="3790700"/>
            <a:ext cx="13528200" cy="21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 AS QUESTÕES: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https://g.co/gemini/share/e8fa258f236b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9" name="Google Shape;409;p23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0" name="Google Shape;410;p23"/>
          <p:cNvSpPr txBox="1"/>
          <p:nvPr/>
        </p:nvSpPr>
        <p:spPr>
          <a:xfrm>
            <a:off x="3276600" y="363849"/>
            <a:ext cx="5237959" cy="1496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3"/>
          <p:cNvSpPr/>
          <p:nvPr/>
        </p:nvSpPr>
        <p:spPr>
          <a:xfrm>
            <a:off x="914400" y="2019300"/>
            <a:ext cx="3352800" cy="3352800"/>
          </a:xfrm>
          <a:custGeom>
            <a:rect b="b" l="l" r="r" t="t"/>
            <a:pathLst>
              <a:path extrusionOk="0" h="4470400" w="4470400">
                <a:moveTo>
                  <a:pt x="0" y="0"/>
                </a:moveTo>
                <a:lnTo>
                  <a:pt x="4470400" y="0"/>
                </a:lnTo>
                <a:lnTo>
                  <a:pt x="4470400" y="4470400"/>
                </a:lnTo>
                <a:lnTo>
                  <a:pt x="0" y="4470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3"/>
          <p:cNvSpPr txBox="1"/>
          <p:nvPr/>
        </p:nvSpPr>
        <p:spPr>
          <a:xfrm>
            <a:off x="1005825" y="5781901"/>
            <a:ext cx="14142750" cy="4490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Fábio Correa Xavier é CIO do Tribunal de Contas do Estado de São Paulo (TCESP), liderando a transformação digital com foco em inteligência artificial, proteção de dados e modernização institucional. Mestre pela USP, possui MBA pelo IBMEC e especialização no Japão pela JICA. É autor de obras de referência sobre tecnologia e LGPD no setor público, incluindo o premiado "CIO 5.0". Reconhecido nacionalmente, foi eleito Executivo de TI do Ano e Top 10 em IA. Atua como professor, conselheiro e colunista em veículos como o MIT Technology Review Brasil.Lattes: http://lattes.cnpq.br/3394819461303851LinkedIn: https://www.linkedin.com/in/fabiocorreaxavier/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3"/>
          <p:cNvSpPr/>
          <p:nvPr/>
        </p:nvSpPr>
        <p:spPr>
          <a:xfrm>
            <a:off x="14401800" y="240674"/>
            <a:ext cx="2619375" cy="1743075"/>
          </a:xfrm>
          <a:custGeom>
            <a:rect b="b" l="l" r="r" t="t"/>
            <a:pathLst>
              <a:path extrusionOk="0" h="2324100" w="3492500">
                <a:moveTo>
                  <a:pt x="0" y="0"/>
                </a:moveTo>
                <a:lnTo>
                  <a:pt x="3492500" y="0"/>
                </a:lnTo>
                <a:lnTo>
                  <a:pt x="34925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3"/>
          <p:cNvSpPr txBox="1"/>
          <p:nvPr/>
        </p:nvSpPr>
        <p:spPr>
          <a:xfrm>
            <a:off x="14687748" y="1985710"/>
            <a:ext cx="2047478" cy="164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36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3" name="Google Shape;423;p24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24"/>
          <p:cNvSpPr txBox="1"/>
          <p:nvPr/>
        </p:nvSpPr>
        <p:spPr>
          <a:xfrm>
            <a:off x="3276600" y="363849"/>
            <a:ext cx="5237959" cy="1496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24"/>
          <p:cNvSpPr txBox="1"/>
          <p:nvPr/>
        </p:nvSpPr>
        <p:spPr>
          <a:xfrm>
            <a:off x="3436605" y="6267496"/>
            <a:ext cx="14142750" cy="388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Redes de computadores, conectando o futuro!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Em um mundo cada vez mais conectado, dominar redes vai além do cabeamento. Neste vídeo, explico por que certificações como Cisco CCNA e CompTIA Network+ são diferenciais no currículo, abrindo portas em infraestrutura, cloud e cibersegurança. É o primeiro passo para quem quer entender como a internet realmente funciona.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663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4"/>
          <p:cNvSpPr/>
          <p:nvPr/>
        </p:nvSpPr>
        <p:spPr>
          <a:xfrm>
            <a:off x="7620000" y="2458660"/>
            <a:ext cx="5237988" cy="3517488"/>
          </a:xfrm>
          <a:custGeom>
            <a:rect b="b" l="l" r="r" t="t"/>
            <a:pathLst>
              <a:path extrusionOk="0" h="4689983" w="6983984">
                <a:moveTo>
                  <a:pt x="0" y="0"/>
                </a:moveTo>
                <a:lnTo>
                  <a:pt x="6983984" y="0"/>
                </a:lnTo>
                <a:lnTo>
                  <a:pt x="6983984" y="4689983"/>
                </a:lnTo>
                <a:lnTo>
                  <a:pt x="0" y="468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4"/>
          <p:cNvSpPr/>
          <p:nvPr/>
        </p:nvSpPr>
        <p:spPr>
          <a:xfrm>
            <a:off x="15205871" y="427732"/>
            <a:ext cx="2619375" cy="1743075"/>
          </a:xfrm>
          <a:custGeom>
            <a:rect b="b" l="l" r="r" t="t"/>
            <a:pathLst>
              <a:path extrusionOk="0" h="2324100" w="3492500">
                <a:moveTo>
                  <a:pt x="0" y="0"/>
                </a:moveTo>
                <a:lnTo>
                  <a:pt x="3492500" y="0"/>
                </a:lnTo>
                <a:lnTo>
                  <a:pt x="34925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4"/>
          <p:cNvSpPr txBox="1"/>
          <p:nvPr/>
        </p:nvSpPr>
        <p:spPr>
          <a:xfrm>
            <a:off x="15491819" y="2159306"/>
            <a:ext cx="2047478" cy="164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36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7" name="Google Shape;437;p25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8" name="Google Shape;438;p25"/>
          <p:cNvSpPr txBox="1"/>
          <p:nvPr/>
        </p:nvSpPr>
        <p:spPr>
          <a:xfrm>
            <a:off x="3276600" y="363849"/>
            <a:ext cx="5237959" cy="14967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Tema Transversal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25"/>
          <p:cNvSpPr txBox="1"/>
          <p:nvPr/>
        </p:nvSpPr>
        <p:spPr>
          <a:xfrm>
            <a:off x="1844025" y="7013010"/>
            <a:ext cx="15438150" cy="3278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Questão Geradora: Você conhece a estrutura de operação da rede mundial de computadores?  Porque as Certificações Profissionais são elementos importantes no currículo de um Profissional em Tecnologia da Informação?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3815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5"/>
          <p:cNvSpPr/>
          <p:nvPr/>
        </p:nvSpPr>
        <p:spPr>
          <a:xfrm>
            <a:off x="7620000" y="2458660"/>
            <a:ext cx="5237988" cy="3517488"/>
          </a:xfrm>
          <a:custGeom>
            <a:rect b="b" l="l" r="r" t="t"/>
            <a:pathLst>
              <a:path extrusionOk="0" h="4689983" w="6983984">
                <a:moveTo>
                  <a:pt x="0" y="0"/>
                </a:moveTo>
                <a:lnTo>
                  <a:pt x="6983984" y="0"/>
                </a:lnTo>
                <a:lnTo>
                  <a:pt x="6983984" y="4689983"/>
                </a:lnTo>
                <a:lnTo>
                  <a:pt x="0" y="46899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5"/>
          <p:cNvSpPr/>
          <p:nvPr/>
        </p:nvSpPr>
        <p:spPr>
          <a:xfrm>
            <a:off x="15205871" y="427732"/>
            <a:ext cx="2619375" cy="1743075"/>
          </a:xfrm>
          <a:custGeom>
            <a:rect b="b" l="l" r="r" t="t"/>
            <a:pathLst>
              <a:path extrusionOk="0" h="2324100" w="3492500">
                <a:moveTo>
                  <a:pt x="0" y="0"/>
                </a:moveTo>
                <a:lnTo>
                  <a:pt x="3492500" y="0"/>
                </a:lnTo>
                <a:lnTo>
                  <a:pt x="3492500" y="2324100"/>
                </a:lnTo>
                <a:lnTo>
                  <a:pt x="0" y="23241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5"/>
          <p:cNvSpPr txBox="1"/>
          <p:nvPr/>
        </p:nvSpPr>
        <p:spPr>
          <a:xfrm>
            <a:off x="15491819" y="2021498"/>
            <a:ext cx="2047478" cy="16440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36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Aula Prática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1" name="Google Shape;451;p26"/>
          <p:cNvCxnSpPr/>
          <p:nvPr/>
        </p:nvCxnSpPr>
        <p:spPr>
          <a:xfrm rot="24824">
            <a:off x="2982566" y="1047661"/>
            <a:ext cx="5276198" cy="0"/>
          </a:xfrm>
          <a:prstGeom prst="straightConnector1">
            <a:avLst/>
          </a:prstGeom>
          <a:noFill/>
          <a:ln cap="rnd" cmpd="sng" w="28575">
            <a:solidFill>
              <a:srgbClr val="E3061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26"/>
          <p:cNvSpPr txBox="1"/>
          <p:nvPr/>
        </p:nvSpPr>
        <p:spPr>
          <a:xfrm>
            <a:off x="3001686" y="252959"/>
            <a:ext cx="5237959" cy="804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64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99"/>
              <a:buFont typeface="Arial"/>
              <a:buNone/>
            </a:pPr>
            <a:r>
              <a:rPr b="1" i="0" lang="en-US" sz="5599" u="none" cap="none" strike="noStrike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Fechamento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6"/>
          <p:cNvSpPr/>
          <p:nvPr/>
        </p:nvSpPr>
        <p:spPr>
          <a:xfrm>
            <a:off x="6019800" y="2371816"/>
            <a:ext cx="5715000" cy="6858000"/>
          </a:xfrm>
          <a:custGeom>
            <a:rect b="b" l="l" r="r" t="t"/>
            <a:pathLst>
              <a:path extrusionOk="0" h="9144000" w="7620000">
                <a:moveTo>
                  <a:pt x="0" y="0"/>
                </a:moveTo>
                <a:lnTo>
                  <a:pt x="7620000" y="0"/>
                </a:lnTo>
                <a:lnTo>
                  <a:pt x="7620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7"/>
          <p:cNvSpPr/>
          <p:nvPr/>
        </p:nvSpPr>
        <p:spPr>
          <a:xfrm>
            <a:off x="-168372" y="-196608"/>
            <a:ext cx="1197072" cy="10750131"/>
          </a:xfrm>
          <a:custGeom>
            <a:rect b="b" l="l" r="r" t="t"/>
            <a:pathLst>
              <a:path extrusionOk="0" h="10750131" w="1197072">
                <a:moveTo>
                  <a:pt x="0" y="0"/>
                </a:moveTo>
                <a:lnTo>
                  <a:pt x="1197072" y="0"/>
                </a:lnTo>
                <a:lnTo>
                  <a:pt x="1197072" y="10750131"/>
                </a:lnTo>
                <a:lnTo>
                  <a:pt x="0" y="1075013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7"/>
          <p:cNvSpPr/>
          <p:nvPr/>
        </p:nvSpPr>
        <p:spPr>
          <a:xfrm>
            <a:off x="1477632" y="5203547"/>
            <a:ext cx="4826984" cy="942213"/>
          </a:xfrm>
          <a:custGeom>
            <a:rect b="b" l="l" r="r" t="t"/>
            <a:pathLst>
              <a:path extrusionOk="0" h="1256284" w="6435979">
                <a:moveTo>
                  <a:pt x="0" y="0"/>
                </a:moveTo>
                <a:lnTo>
                  <a:pt x="6435979" y="0"/>
                </a:lnTo>
                <a:lnTo>
                  <a:pt x="6435979" y="1256284"/>
                </a:lnTo>
                <a:lnTo>
                  <a:pt x="0" y="12562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634" l="0" r="0" t="-46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27"/>
          <p:cNvSpPr/>
          <p:nvPr/>
        </p:nvSpPr>
        <p:spPr>
          <a:xfrm>
            <a:off x="9634596" y="-468619"/>
            <a:ext cx="7739804" cy="11581916"/>
          </a:xfrm>
          <a:custGeom>
            <a:rect b="b" l="l" r="r" t="t"/>
            <a:pathLst>
              <a:path extrusionOk="0" h="11581916" w="7739804">
                <a:moveTo>
                  <a:pt x="0" y="0"/>
                </a:moveTo>
                <a:lnTo>
                  <a:pt x="7739804" y="0"/>
                </a:lnTo>
                <a:lnTo>
                  <a:pt x="7739804" y="11581916"/>
                </a:lnTo>
                <a:lnTo>
                  <a:pt x="0" y="115819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27"/>
          <p:cNvSpPr/>
          <p:nvPr/>
        </p:nvSpPr>
        <p:spPr>
          <a:xfrm>
            <a:off x="15939655" y="7859362"/>
            <a:ext cx="1951482" cy="2427637"/>
          </a:xfrm>
          <a:custGeom>
            <a:rect b="b" l="l" r="r" t="t"/>
            <a:pathLst>
              <a:path extrusionOk="0" h="3236849" w="2601976">
                <a:moveTo>
                  <a:pt x="0" y="0"/>
                </a:moveTo>
                <a:lnTo>
                  <a:pt x="2601976" y="0"/>
                </a:lnTo>
                <a:lnTo>
                  <a:pt x="2601976" y="3236849"/>
                </a:lnTo>
                <a:lnTo>
                  <a:pt x="0" y="323684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6" r="-1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27"/>
          <p:cNvSpPr/>
          <p:nvPr/>
        </p:nvSpPr>
        <p:spPr>
          <a:xfrm>
            <a:off x="15325189" y="4137430"/>
            <a:ext cx="1605439" cy="2573846"/>
          </a:xfrm>
          <a:custGeom>
            <a:rect b="b" l="l" r="r" t="t"/>
            <a:pathLst>
              <a:path extrusionOk="0" h="3431794" w="2140585">
                <a:moveTo>
                  <a:pt x="0" y="0"/>
                </a:moveTo>
                <a:lnTo>
                  <a:pt x="2140585" y="0"/>
                </a:lnTo>
                <a:lnTo>
                  <a:pt x="2140585" y="3431794"/>
                </a:lnTo>
                <a:lnTo>
                  <a:pt x="0" y="34317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24" r="-2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7"/>
          <p:cNvSpPr/>
          <p:nvPr/>
        </p:nvSpPr>
        <p:spPr>
          <a:xfrm flipH="1">
            <a:off x="8846688" y="4137430"/>
            <a:ext cx="6180486" cy="6149530"/>
          </a:xfrm>
          <a:custGeom>
            <a:rect b="b" l="l" r="r" t="t"/>
            <a:pathLst>
              <a:path extrusionOk="0" h="8199374" w="8240649">
                <a:moveTo>
                  <a:pt x="8240649" y="0"/>
                </a:moveTo>
                <a:lnTo>
                  <a:pt x="0" y="0"/>
                </a:lnTo>
                <a:lnTo>
                  <a:pt x="0" y="8199374"/>
                </a:lnTo>
                <a:lnTo>
                  <a:pt x="8240649" y="8199374"/>
                </a:lnTo>
                <a:lnTo>
                  <a:pt x="8240649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3" l="0" r="0" t="-2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7"/>
          <p:cNvSpPr/>
          <p:nvPr/>
        </p:nvSpPr>
        <p:spPr>
          <a:xfrm flipH="1">
            <a:off x="12392588" y="4137430"/>
            <a:ext cx="4780407" cy="6149530"/>
          </a:xfrm>
          <a:custGeom>
            <a:rect b="b" l="l" r="r" t="t"/>
            <a:pathLst>
              <a:path extrusionOk="0" h="8199374" w="6373876">
                <a:moveTo>
                  <a:pt x="6373876" y="0"/>
                </a:moveTo>
                <a:lnTo>
                  <a:pt x="0" y="0"/>
                </a:lnTo>
                <a:lnTo>
                  <a:pt x="0" y="8199374"/>
                </a:lnTo>
                <a:lnTo>
                  <a:pt x="6373876" y="8199374"/>
                </a:lnTo>
                <a:lnTo>
                  <a:pt x="6373876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7537" l="0" r="0" t="-753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7"/>
          <p:cNvSpPr/>
          <p:nvPr/>
        </p:nvSpPr>
        <p:spPr>
          <a:xfrm>
            <a:off x="10098577" y="9152435"/>
            <a:ext cx="2294001" cy="1134523"/>
          </a:xfrm>
          <a:custGeom>
            <a:rect b="b" l="l" r="r" t="t"/>
            <a:pathLst>
              <a:path extrusionOk="0" h="1512697" w="3058668">
                <a:moveTo>
                  <a:pt x="0" y="0"/>
                </a:moveTo>
                <a:lnTo>
                  <a:pt x="3058668" y="0"/>
                </a:lnTo>
                <a:lnTo>
                  <a:pt x="3058668" y="1512697"/>
                </a:lnTo>
                <a:lnTo>
                  <a:pt x="0" y="15126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80" l="0" r="0" t="-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7"/>
          <p:cNvSpPr/>
          <p:nvPr/>
        </p:nvSpPr>
        <p:spPr>
          <a:xfrm rot="753594">
            <a:off x="14437888" y="1491650"/>
            <a:ext cx="1774603" cy="1744123"/>
          </a:xfrm>
          <a:custGeom>
            <a:rect b="b" l="l" r="r" t="t"/>
            <a:pathLst>
              <a:path extrusionOk="0" h="2325497" w="2366137">
                <a:moveTo>
                  <a:pt x="0" y="0"/>
                </a:moveTo>
                <a:lnTo>
                  <a:pt x="2366137" y="0"/>
                </a:lnTo>
                <a:lnTo>
                  <a:pt x="2366137" y="2325497"/>
                </a:lnTo>
                <a:lnTo>
                  <a:pt x="0" y="23254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7"/>
          <p:cNvSpPr/>
          <p:nvPr/>
        </p:nvSpPr>
        <p:spPr>
          <a:xfrm>
            <a:off x="10584085" y="1028700"/>
            <a:ext cx="2079403" cy="2088261"/>
          </a:xfrm>
          <a:custGeom>
            <a:rect b="b" l="l" r="r" t="t"/>
            <a:pathLst>
              <a:path extrusionOk="0" h="2784348" w="2772537">
                <a:moveTo>
                  <a:pt x="0" y="0"/>
                </a:moveTo>
                <a:lnTo>
                  <a:pt x="2772537" y="0"/>
                </a:lnTo>
                <a:lnTo>
                  <a:pt x="2772537" y="2784348"/>
                </a:lnTo>
                <a:lnTo>
                  <a:pt x="0" y="2784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-33" r="-3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