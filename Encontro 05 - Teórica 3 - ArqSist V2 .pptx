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y="10287000" cx="18288000"/>
  <p:notesSz cx="6858000" cy="9144000"/>
  <p:embeddedFontLst>
    <p:embeddedFont>
      <p:font typeface="Roboto Mono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8" roundtripDataSignature="AMtx7mg8wlc+vCdyiQPh96T+lALAE1XO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font" Target="fonts/RobotoMono-regular.fntdata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46" Type="http://schemas.openxmlformats.org/officeDocument/2006/relationships/font" Target="fonts/RobotoMono-italic.fntdata"/><Relationship Id="rId23" Type="http://schemas.openxmlformats.org/officeDocument/2006/relationships/slide" Target="slides/slide18.xml"/><Relationship Id="rId45" Type="http://schemas.openxmlformats.org/officeDocument/2006/relationships/font" Target="fonts/RobotoMon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48" Type="http://customschemas.google.com/relationships/presentationmetadata" Target="metadata"/><Relationship Id="rId25" Type="http://schemas.openxmlformats.org/officeDocument/2006/relationships/slide" Target="slides/slide20.xml"/><Relationship Id="rId47" Type="http://schemas.openxmlformats.org/officeDocument/2006/relationships/font" Target="fonts/RobotoMono-bold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63e56811c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g363e56811c7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63e56811c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g363e56811c7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631187f71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g3631187f71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631187f71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g3631187f71f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631187f71f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g3631187f71f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631187f71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g3631187f71f_0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631187f71f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g3631187f71f_0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7" name="Google Shape;20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6" name="Google Shape;21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3" name="Google Shape;22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0" name="Google Shape;23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7" name="Google Shape;23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4" name="Google Shape;24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1" name="Google Shape;25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8" name="Google Shape;25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5" name="Google Shape;26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2" name="Google Shape;27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9" name="Google Shape;27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6" name="Google Shape;286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3" name="Google Shape;293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0" name="Google Shape;300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8" name="Google Shape;308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6" name="Google Shape;316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4" name="Google Shape;324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2" name="Google Shape;332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9" name="Google Shape;339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6" name="Google Shape;346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3" name="Google Shape;353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0" name="Google Shape;360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5" name="Google Shape;375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2" name="Google Shape;382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4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4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4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4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9.png"/><Relationship Id="rId4" Type="http://schemas.openxmlformats.org/officeDocument/2006/relationships/image" Target="../media/image2.png"/><Relationship Id="rId10" Type="http://schemas.openxmlformats.org/officeDocument/2006/relationships/image" Target="../media/image1.png"/><Relationship Id="rId9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11.png"/><Relationship Id="rId8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5.png"/><Relationship Id="rId4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1.png"/><Relationship Id="rId4" Type="http://schemas.openxmlformats.org/officeDocument/2006/relationships/image" Target="../media/image3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1.png"/><Relationship Id="rId4" Type="http://schemas.openxmlformats.org/officeDocument/2006/relationships/image" Target="../media/image4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1.png"/><Relationship Id="rId4" Type="http://schemas.openxmlformats.org/officeDocument/2006/relationships/image" Target="../media/image5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8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49.png"/><Relationship Id="rId7" Type="http://schemas.openxmlformats.org/officeDocument/2006/relationships/image" Target="../media/image4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9.png"/><Relationship Id="rId4" Type="http://schemas.openxmlformats.org/officeDocument/2006/relationships/image" Target="../media/image2.png"/><Relationship Id="rId10" Type="http://schemas.openxmlformats.org/officeDocument/2006/relationships/image" Target="../media/image1.png"/><Relationship Id="rId9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11.png"/><Relationship Id="rId8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168372" y="-196608"/>
            <a:ext cx="1197072" cy="10750131"/>
            <a:chOff x="0" y="-38100"/>
            <a:chExt cx="315278" cy="2831310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315278" cy="2793210"/>
            </a:xfrm>
            <a:custGeom>
              <a:rect b="b" l="l" r="r" t="t"/>
              <a:pathLst>
                <a:path extrusionOk="0" h="2793210" w="315278">
                  <a:moveTo>
                    <a:pt x="0" y="0"/>
                  </a:moveTo>
                  <a:lnTo>
                    <a:pt x="315278" y="0"/>
                  </a:lnTo>
                  <a:lnTo>
                    <a:pt x="315278" y="2793210"/>
                  </a:lnTo>
                  <a:lnTo>
                    <a:pt x="0" y="279321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38100"/>
              <a:ext cx="315278" cy="28313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>
            <a:off x="1289507" y="2112772"/>
            <a:ext cx="4826991" cy="942235"/>
          </a:xfrm>
          <a:custGeom>
            <a:rect b="b" l="l" r="r" t="t"/>
            <a:pathLst>
              <a:path extrusionOk="0" h="942235" w="4826991">
                <a:moveTo>
                  <a:pt x="0" y="0"/>
                </a:moveTo>
                <a:lnTo>
                  <a:pt x="4826990" y="0"/>
                </a:lnTo>
                <a:lnTo>
                  <a:pt x="4826990" y="942235"/>
                </a:lnTo>
                <a:lnTo>
                  <a:pt x="0" y="9422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628" l="0" r="0" t="-463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" name="Google Shape;88;p1"/>
          <p:cNvGrpSpPr/>
          <p:nvPr/>
        </p:nvGrpSpPr>
        <p:grpSpPr>
          <a:xfrm>
            <a:off x="9634596" y="-468619"/>
            <a:ext cx="7739804" cy="11581916"/>
            <a:chOff x="0" y="-38100"/>
            <a:chExt cx="2038467" cy="3050381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2038467" cy="3012281"/>
            </a:xfrm>
            <a:custGeom>
              <a:rect b="b" l="l" r="r" t="t"/>
              <a:pathLst>
                <a:path extrusionOk="0" h="3012281" w="2038467">
                  <a:moveTo>
                    <a:pt x="0" y="0"/>
                  </a:moveTo>
                  <a:lnTo>
                    <a:pt x="2038467" y="0"/>
                  </a:lnTo>
                  <a:lnTo>
                    <a:pt x="2038467" y="3012281"/>
                  </a:lnTo>
                  <a:lnTo>
                    <a:pt x="0" y="30122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0" y="-38100"/>
              <a:ext cx="2038467" cy="30503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1" name="Google Shape;91;p1"/>
          <p:cNvSpPr/>
          <p:nvPr/>
        </p:nvSpPr>
        <p:spPr>
          <a:xfrm>
            <a:off x="15939655" y="7859362"/>
            <a:ext cx="1951489" cy="2427638"/>
          </a:xfrm>
          <a:custGeom>
            <a:rect b="b" l="l" r="r" t="t"/>
            <a:pathLst>
              <a:path extrusionOk="0" h="2427638" w="1951489">
                <a:moveTo>
                  <a:pt x="0" y="0"/>
                </a:moveTo>
                <a:lnTo>
                  <a:pt x="1951489" y="0"/>
                </a:lnTo>
                <a:lnTo>
                  <a:pt x="1951489" y="2427638"/>
                </a:lnTo>
                <a:lnTo>
                  <a:pt x="0" y="24276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15325189" y="4137430"/>
            <a:ext cx="1605408" cy="2573800"/>
          </a:xfrm>
          <a:custGeom>
            <a:rect b="b" l="l" r="r" t="t"/>
            <a:pathLst>
              <a:path extrusionOk="0" h="2573800" w="1605408">
                <a:moveTo>
                  <a:pt x="0" y="0"/>
                </a:moveTo>
                <a:lnTo>
                  <a:pt x="1605409" y="0"/>
                </a:lnTo>
                <a:lnTo>
                  <a:pt x="1605409" y="2573800"/>
                </a:lnTo>
                <a:lnTo>
                  <a:pt x="0" y="2573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 flipH="1">
            <a:off x="8846688" y="4137430"/>
            <a:ext cx="6180473" cy="6149570"/>
          </a:xfrm>
          <a:custGeom>
            <a:rect b="b" l="l" r="r" t="t"/>
            <a:pathLst>
              <a:path extrusionOk="0" h="6149570" w="6180473">
                <a:moveTo>
                  <a:pt x="6180473" y="0"/>
                </a:moveTo>
                <a:lnTo>
                  <a:pt x="0" y="0"/>
                </a:lnTo>
                <a:lnTo>
                  <a:pt x="0" y="6149570"/>
                </a:lnTo>
                <a:lnTo>
                  <a:pt x="6180473" y="6149570"/>
                </a:lnTo>
                <a:lnTo>
                  <a:pt x="6180473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 flipH="1">
            <a:off x="12392588" y="4137430"/>
            <a:ext cx="4780387" cy="6149570"/>
          </a:xfrm>
          <a:custGeom>
            <a:rect b="b" l="l" r="r" t="t"/>
            <a:pathLst>
              <a:path extrusionOk="0" h="6149570" w="4780387">
                <a:moveTo>
                  <a:pt x="4780387" y="0"/>
                </a:moveTo>
                <a:lnTo>
                  <a:pt x="0" y="0"/>
                </a:lnTo>
                <a:lnTo>
                  <a:pt x="0" y="6149570"/>
                </a:lnTo>
                <a:lnTo>
                  <a:pt x="4780387" y="6149570"/>
                </a:lnTo>
                <a:lnTo>
                  <a:pt x="4780387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15156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10098577" y="9152435"/>
            <a:ext cx="2294011" cy="1134565"/>
          </a:xfrm>
          <a:custGeom>
            <a:rect b="b" l="l" r="r" t="t"/>
            <a:pathLst>
              <a:path extrusionOk="0" h="1134565" w="2294011">
                <a:moveTo>
                  <a:pt x="0" y="0"/>
                </a:moveTo>
                <a:lnTo>
                  <a:pt x="2294011" y="0"/>
                </a:lnTo>
                <a:lnTo>
                  <a:pt x="2294011" y="1134565"/>
                </a:lnTo>
                <a:lnTo>
                  <a:pt x="0" y="11345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/>
          <p:nvPr/>
        </p:nvSpPr>
        <p:spPr>
          <a:xfrm rot="753594">
            <a:off x="14437890" y="1491650"/>
            <a:ext cx="1774599" cy="1744107"/>
          </a:xfrm>
          <a:custGeom>
            <a:rect b="b" l="l" r="r" t="t"/>
            <a:pathLst>
              <a:path extrusionOk="0" h="1744107" w="1774599">
                <a:moveTo>
                  <a:pt x="0" y="0"/>
                </a:moveTo>
                <a:lnTo>
                  <a:pt x="1774599" y="0"/>
                </a:lnTo>
                <a:lnTo>
                  <a:pt x="1774599" y="1744108"/>
                </a:lnTo>
                <a:lnTo>
                  <a:pt x="0" y="17441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0584085" y="1028700"/>
            <a:ext cx="2079407" cy="2088274"/>
          </a:xfrm>
          <a:custGeom>
            <a:rect b="b" l="l" r="r" t="t"/>
            <a:pathLst>
              <a:path extrusionOk="0" h="2088274" w="2079407">
                <a:moveTo>
                  <a:pt x="0" y="0"/>
                </a:moveTo>
                <a:lnTo>
                  <a:pt x="2079406" y="0"/>
                </a:lnTo>
                <a:lnTo>
                  <a:pt x="2079406" y="2088274"/>
                </a:lnTo>
                <a:lnTo>
                  <a:pt x="0" y="20882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1362896" y="160254"/>
            <a:ext cx="8143800" cy="12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69"/>
              <a:buFont typeface="Arial"/>
              <a:buNone/>
            </a:pPr>
            <a:r>
              <a:rPr b="1" i="0" lang="pt-BR" sz="806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Aula: 05</a:t>
            </a:r>
            <a:endParaRPr b="1" i="0" sz="8069" u="none" cap="none" strike="noStrike">
              <a:solidFill>
                <a:srgbClr val="E306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1289497" y="1478047"/>
            <a:ext cx="78864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21"/>
              <a:buFont typeface="Arial"/>
              <a:buNone/>
            </a:pPr>
            <a:r>
              <a:rPr b="0" i="0" lang="pt-BR" sz="272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Bem-vindo(a) ao nosso Programa Qualifica -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1028709" y="5936604"/>
            <a:ext cx="8143800" cy="36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69"/>
              <a:buFont typeface="Arial"/>
              <a:buNone/>
            </a:pPr>
            <a:r>
              <a:rPr b="1" i="0" lang="pt-BR" sz="806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Curso: Arquitetura de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 txBox="1"/>
          <p:nvPr/>
        </p:nvSpPr>
        <p:spPr>
          <a:xfrm>
            <a:off x="1199374" y="102000"/>
            <a:ext cx="7813500" cy="107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500">
                <a:solidFill>
                  <a:schemeClr val="dk1"/>
                </a:solidFill>
              </a:rPr>
              <a:t>Boas-vindas</a:t>
            </a:r>
            <a:br>
              <a:rPr b="1" lang="pt-BR" sz="1200">
                <a:solidFill>
                  <a:schemeClr val="dk1"/>
                </a:solidFill>
              </a:rPr>
            </a:b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</a:rPr>
              <a:t>Tema Central</a:t>
            </a:r>
            <a:br>
              <a:rPr b="1" lang="pt-BR" sz="1200">
                <a:solidFill>
                  <a:schemeClr val="dk1"/>
                </a:solidFill>
              </a:rPr>
            </a:b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</a:rPr>
              <a:t>Mapeamento ORM e Relacionamentos</a:t>
            </a:r>
            <a:br>
              <a:rPr b="1" lang="pt-BR" sz="1200">
                <a:solidFill>
                  <a:schemeClr val="dk1"/>
                </a:solidFill>
              </a:rPr>
            </a:b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</a:rPr>
              <a:t>Introdução ao Spring Data JPA</a:t>
            </a:r>
            <a:br>
              <a:rPr b="1" lang="pt-BR" sz="1200">
                <a:solidFill>
                  <a:schemeClr val="dk1"/>
                </a:solidFill>
              </a:rPr>
            </a:b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</a:rPr>
              <a:t>Vantagens e Uso do Spring Data JPA</a:t>
            </a:r>
            <a:br>
              <a:rPr b="1" lang="pt-BR" sz="1200">
                <a:solidFill>
                  <a:schemeClr val="dk1"/>
                </a:solidFill>
              </a:rPr>
            </a:b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</a:rPr>
              <a:t>Métodos Automáticos do JpaRepository</a:t>
            </a:r>
            <a:br>
              <a:rPr b="1" lang="pt-BR" sz="1200">
                <a:solidFill>
                  <a:schemeClr val="dk1"/>
                </a:solidFill>
              </a:rPr>
            </a:b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</a:rPr>
              <a:t>Comparando SQL Tradicional com JpaRepository</a:t>
            </a:r>
            <a:br>
              <a:rPr b="1" lang="pt-BR" sz="1200">
                <a:solidFill>
                  <a:schemeClr val="dk1"/>
                </a:solidFill>
              </a:rPr>
            </a:b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</a:rPr>
              <a:t>Conceito de Transações e Importância</a:t>
            </a:r>
            <a:br>
              <a:rPr b="1" lang="pt-BR" sz="1200">
                <a:solidFill>
                  <a:schemeClr val="dk1"/>
                </a:solidFill>
              </a:rPr>
            </a:b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</a:rPr>
              <a:t>Princípios ACID das Transações</a:t>
            </a:r>
            <a:br>
              <a:rPr b="1" lang="pt-BR" sz="1200">
                <a:solidFill>
                  <a:schemeClr val="dk1"/>
                </a:solidFill>
              </a:rPr>
            </a:b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</a:rPr>
              <a:t>Funcionamento de uma Transação (Linha do Tempo)</a:t>
            </a:r>
            <a:br>
              <a:rPr b="1" lang="pt-BR" sz="1200">
                <a:solidFill>
                  <a:schemeClr val="dk1"/>
                </a:solidFill>
              </a:rPr>
            </a:b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</a:rPr>
              <a:t>Uso de @Transactional no Spring Boot</a:t>
            </a:r>
            <a:br>
              <a:rPr b="1" lang="pt-BR" sz="1200">
                <a:solidFill>
                  <a:schemeClr val="dk1"/>
                </a:solidFill>
              </a:rPr>
            </a:b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</a:rPr>
              <a:t>Aplicação de Demonstração</a:t>
            </a:r>
            <a:br>
              <a:rPr b="1" lang="pt-BR" sz="1200">
                <a:solidFill>
                  <a:schemeClr val="dk1"/>
                </a:solidFill>
              </a:rPr>
            </a:b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pt-BR" sz="1200">
                <a:solidFill>
                  <a:schemeClr val="dk1"/>
                </a:solidFill>
              </a:rPr>
              <a:t>Entidade (</a:t>
            </a:r>
            <a:r>
              <a:rPr b="1" lang="pt-BR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Pedido.java</a:t>
            </a:r>
            <a:r>
              <a:rPr b="1" lang="pt-BR" sz="1200">
                <a:solidFill>
                  <a:schemeClr val="dk1"/>
                </a:solidFill>
              </a:rPr>
              <a:t>)</a:t>
            </a:r>
            <a:br>
              <a:rPr b="1" lang="pt-BR" sz="1200">
                <a:solidFill>
                  <a:schemeClr val="dk1"/>
                </a:solidFill>
              </a:rPr>
            </a:b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pt-BR" sz="1200">
                <a:solidFill>
                  <a:schemeClr val="dk1"/>
                </a:solidFill>
              </a:rPr>
              <a:t>Acesso ao Banco (</a:t>
            </a:r>
            <a:r>
              <a:rPr b="1" lang="pt-BR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PedidoRepository.java</a:t>
            </a:r>
            <a:r>
              <a:rPr b="1" lang="pt-BR" sz="1200">
                <a:solidFill>
                  <a:schemeClr val="dk1"/>
                </a:solidFill>
              </a:rPr>
              <a:t>)</a:t>
            </a:r>
            <a:br>
              <a:rPr b="1" lang="pt-BR" sz="1200">
                <a:solidFill>
                  <a:schemeClr val="dk1"/>
                </a:solidFill>
              </a:rPr>
            </a:b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pt-BR" sz="1200">
                <a:solidFill>
                  <a:schemeClr val="dk1"/>
                </a:solidFill>
              </a:rPr>
              <a:t>Regras de Negócio (</a:t>
            </a:r>
            <a:r>
              <a:rPr b="1" lang="pt-BR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PedidoService.java</a:t>
            </a:r>
            <a:r>
              <a:rPr b="1" lang="pt-BR" sz="1200">
                <a:solidFill>
                  <a:schemeClr val="dk1"/>
                </a:solidFill>
              </a:rPr>
              <a:t>)</a:t>
            </a:r>
            <a:br>
              <a:rPr b="1" lang="pt-BR" sz="1200">
                <a:solidFill>
                  <a:schemeClr val="dk1"/>
                </a:solidFill>
              </a:rPr>
            </a:b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pt-BR" sz="1200">
                <a:solidFill>
                  <a:schemeClr val="dk1"/>
                </a:solidFill>
              </a:rPr>
              <a:t>Ponto de Entrada (</a:t>
            </a:r>
            <a:r>
              <a:rPr b="1" lang="pt-BR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DeliveryTransactionsDemoApplication.java</a:t>
            </a:r>
            <a:r>
              <a:rPr b="1" lang="pt-BR" sz="1200">
                <a:solidFill>
                  <a:schemeClr val="dk1"/>
                </a:solidFill>
              </a:rPr>
              <a:t>)</a:t>
            </a:r>
            <a:br>
              <a:rPr b="1" lang="pt-BR" sz="1200">
                <a:solidFill>
                  <a:schemeClr val="dk1"/>
                </a:solidFill>
              </a:rPr>
            </a:b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</a:rPr>
              <a:t>Ambiente Virtual de Aprendizagem</a:t>
            </a:r>
            <a:br>
              <a:rPr b="1" lang="pt-BR" sz="1200">
                <a:solidFill>
                  <a:schemeClr val="dk1"/>
                </a:solidFill>
              </a:rPr>
            </a:b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</a:rPr>
              <a:t>Laboratório de Prática</a:t>
            </a:r>
            <a:br>
              <a:rPr b="1" lang="pt-BR" sz="1200">
                <a:solidFill>
                  <a:schemeClr val="dk1"/>
                </a:solidFill>
              </a:rPr>
            </a:b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</a:rPr>
              <a:t>Fechamento</a:t>
            </a:r>
            <a:endParaRPr b="1" sz="1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sz="3200"/>
          </a:p>
        </p:txBody>
      </p:sp>
      <p:grpSp>
        <p:nvGrpSpPr>
          <p:cNvPr id="106" name="Google Shape;106;p2"/>
          <p:cNvGrpSpPr/>
          <p:nvPr/>
        </p:nvGrpSpPr>
        <p:grpSpPr>
          <a:xfrm>
            <a:off x="10695500" y="1057829"/>
            <a:ext cx="9529044" cy="8200671"/>
            <a:chOff x="0" y="-38100"/>
            <a:chExt cx="2842200" cy="2198100"/>
          </a:xfrm>
        </p:grpSpPr>
        <p:sp>
          <p:nvSpPr>
            <p:cNvPr id="107" name="Google Shape;107;p2"/>
            <p:cNvSpPr/>
            <p:nvPr/>
          </p:nvSpPr>
          <p:spPr>
            <a:xfrm>
              <a:off x="0" y="0"/>
              <a:ext cx="2842104" cy="2159964"/>
            </a:xfrm>
            <a:custGeom>
              <a:rect b="b" l="l" r="r" t="t"/>
              <a:pathLst>
                <a:path extrusionOk="0" h="2159964" w="2842104">
                  <a:moveTo>
                    <a:pt x="0" y="0"/>
                  </a:moveTo>
                  <a:lnTo>
                    <a:pt x="2842104" y="0"/>
                  </a:lnTo>
                  <a:lnTo>
                    <a:pt x="2842104" y="2159964"/>
                  </a:lnTo>
                  <a:lnTo>
                    <a:pt x="0" y="21599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 txBox="1"/>
            <p:nvPr/>
          </p:nvSpPr>
          <p:spPr>
            <a:xfrm>
              <a:off x="0" y="-38100"/>
              <a:ext cx="2842200" cy="219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" name="Google Shape;109;p2"/>
          <p:cNvSpPr/>
          <p:nvPr/>
        </p:nvSpPr>
        <p:spPr>
          <a:xfrm rot="569151">
            <a:off x="12771655" y="3056232"/>
            <a:ext cx="5379423" cy="5379423"/>
          </a:xfrm>
          <a:custGeom>
            <a:rect b="b" l="l" r="r" t="t"/>
            <a:pathLst>
              <a:path extrusionOk="0" h="5373030" w="5373030">
                <a:moveTo>
                  <a:pt x="0" y="0"/>
                </a:moveTo>
                <a:lnTo>
                  <a:pt x="5373029" y="0"/>
                </a:lnTo>
                <a:lnTo>
                  <a:pt x="5373029" y="5373030"/>
                </a:lnTo>
                <a:lnTo>
                  <a:pt x="0" y="53730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4" name="Google Shape;114;p3"/>
          <p:cNvCxnSpPr/>
          <p:nvPr/>
        </p:nvCxnSpPr>
        <p:spPr>
          <a:xfrm>
            <a:off x="3001685" y="1057186"/>
            <a:ext cx="5237960" cy="0"/>
          </a:xfrm>
          <a:prstGeom prst="straightConnector1">
            <a:avLst/>
          </a:prstGeom>
          <a:noFill/>
          <a:ln cap="flat" cmpd="sng" w="38100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" name="Google Shape;115;p3"/>
          <p:cNvSpPr txBox="1"/>
          <p:nvPr/>
        </p:nvSpPr>
        <p:spPr>
          <a:xfrm>
            <a:off x="3352800" y="1258215"/>
            <a:ext cx="11910089" cy="7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pt-BR" sz="5600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Boas Vindas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86432" y="2791145"/>
            <a:ext cx="8316853" cy="6237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1" name="Google Shape;121;p4"/>
          <p:cNvCxnSpPr/>
          <p:nvPr/>
        </p:nvCxnSpPr>
        <p:spPr>
          <a:xfrm>
            <a:off x="3001685" y="1057186"/>
            <a:ext cx="5237960" cy="0"/>
          </a:xfrm>
          <a:prstGeom prst="straightConnector1">
            <a:avLst/>
          </a:prstGeom>
          <a:noFill/>
          <a:ln cap="flat" cmpd="sng" w="38100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" name="Google Shape;122;p4"/>
          <p:cNvSpPr txBox="1"/>
          <p:nvPr/>
        </p:nvSpPr>
        <p:spPr>
          <a:xfrm>
            <a:off x="1828800" y="1714500"/>
            <a:ext cx="11910000" cy="26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lang="pt-BR" sz="3200">
                <a:solidFill>
                  <a:srgbClr val="E30613"/>
                </a:solidFill>
              </a:rPr>
              <a:t>Tema da Aula: Modelagem de Dados e Transações com Spring Boot e JPA</a:t>
            </a:r>
            <a:endParaRPr b="1" sz="3200">
              <a:solidFill>
                <a:srgbClr val="E30613"/>
              </a:solidFill>
            </a:endParaRPr>
          </a:p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t/>
            </a:r>
            <a:endParaRPr b="1" sz="5600">
              <a:solidFill>
                <a:srgbClr val="E30613"/>
              </a:solidFill>
            </a:endParaRPr>
          </a:p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t/>
            </a:r>
            <a:endParaRPr b="1" sz="5500">
              <a:solidFill>
                <a:srgbClr val="E30613"/>
              </a:solidFill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512497" y="2905807"/>
            <a:ext cx="8815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Estruturando dados de forma relacional, segura e eficiente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58038" y="2236876"/>
            <a:ext cx="6758911" cy="6758911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4"/>
          <p:cNvSpPr txBox="1"/>
          <p:nvPr/>
        </p:nvSpPr>
        <p:spPr>
          <a:xfrm>
            <a:off x="512500" y="4211125"/>
            <a:ext cx="6717900" cy="51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Conceitos de modelagem de dados</a:t>
            </a:r>
            <a:br>
              <a:rPr lang="pt-BR" sz="2400">
                <a:solidFill>
                  <a:schemeClr val="dk1"/>
                </a:solidFill>
              </a:rPr>
            </a:b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Tipos de relacionamentos (1:N, N:1, N:N)</a:t>
            </a:r>
            <a:br>
              <a:rPr lang="pt-BR" sz="2400">
                <a:solidFill>
                  <a:schemeClr val="dk1"/>
                </a:solidFill>
              </a:rPr>
            </a:b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Mapeamento de entidades com </a:t>
            </a:r>
            <a:r>
              <a:rPr b="1" lang="pt-BR" sz="2400">
                <a:solidFill>
                  <a:schemeClr val="dk1"/>
                </a:solidFill>
              </a:rPr>
              <a:t>Spring Data JPA</a:t>
            </a:r>
            <a:br>
              <a:rPr b="1" lang="pt-BR" sz="2400">
                <a:solidFill>
                  <a:schemeClr val="dk1"/>
                </a:solidFill>
              </a:rPr>
            </a:b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Operações básicas com </a:t>
            </a:r>
            <a:r>
              <a:rPr b="1" lang="pt-BR" sz="2400">
                <a:solidFill>
                  <a:schemeClr val="dk1"/>
                </a:solidFill>
              </a:rPr>
              <a:t>JpaRepository</a:t>
            </a:r>
            <a:br>
              <a:rPr b="1" lang="pt-BR" sz="2400">
                <a:solidFill>
                  <a:schemeClr val="dk1"/>
                </a:solidFill>
              </a:rPr>
            </a:b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Conceito de transações e princípios </a:t>
            </a:r>
            <a:r>
              <a:rPr b="1" lang="pt-BR" sz="2400">
                <a:solidFill>
                  <a:schemeClr val="dk1"/>
                </a:solidFill>
              </a:rPr>
              <a:t>ACID</a:t>
            </a:r>
            <a:br>
              <a:rPr b="1" lang="pt-BR" sz="2400">
                <a:solidFill>
                  <a:schemeClr val="dk1"/>
                </a:solidFill>
              </a:rPr>
            </a:b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Uso de </a:t>
            </a:r>
            <a:r>
              <a:rPr b="1" lang="pt-BR" sz="2400">
                <a:solidFill>
                  <a:schemeClr val="dk1"/>
                </a:solidFill>
              </a:rPr>
              <a:t>@Transactional</a:t>
            </a:r>
            <a:r>
              <a:rPr lang="pt-BR" sz="2400">
                <a:solidFill>
                  <a:schemeClr val="dk1"/>
                </a:solidFill>
              </a:rPr>
              <a:t> no Spring Boot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95665" y="377016"/>
            <a:ext cx="2781299" cy="2781299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5"/>
          <p:cNvSpPr txBox="1"/>
          <p:nvPr/>
        </p:nvSpPr>
        <p:spPr>
          <a:xfrm>
            <a:off x="491360" y="1230075"/>
            <a:ext cx="12284700" cy="64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i="0" lang="pt-BR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da Aula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t/>
            </a:r>
            <a:endParaRPr b="1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800">
                <a:solidFill>
                  <a:schemeClr val="dk1"/>
                </a:solidFill>
              </a:rPr>
              <a:t>Entender o conceito de </a:t>
            </a:r>
            <a:r>
              <a:rPr b="1" lang="pt-BR" sz="2800">
                <a:solidFill>
                  <a:schemeClr val="dk1"/>
                </a:solidFill>
              </a:rPr>
              <a:t>modelagem de dados</a:t>
            </a:r>
            <a:br>
              <a:rPr b="1" lang="pt-BR" sz="2800">
                <a:solidFill>
                  <a:schemeClr val="dk1"/>
                </a:solidFill>
              </a:rPr>
            </a:br>
            <a:endParaRPr b="1"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800">
                <a:solidFill>
                  <a:schemeClr val="dk1"/>
                </a:solidFill>
              </a:rPr>
              <a:t>Conhecer os principais </a:t>
            </a:r>
            <a:r>
              <a:rPr b="1" lang="pt-BR" sz="2800">
                <a:solidFill>
                  <a:schemeClr val="dk1"/>
                </a:solidFill>
              </a:rPr>
              <a:t>tipos de relacionamentos</a:t>
            </a:r>
            <a:br>
              <a:rPr b="1" lang="pt-BR" sz="2800">
                <a:solidFill>
                  <a:schemeClr val="dk1"/>
                </a:solidFill>
              </a:rPr>
            </a:br>
            <a:endParaRPr b="1"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800">
                <a:solidFill>
                  <a:schemeClr val="dk1"/>
                </a:solidFill>
              </a:rPr>
              <a:t>Aprender a mapear </a:t>
            </a:r>
            <a:r>
              <a:rPr b="1" lang="pt-BR" sz="2800">
                <a:solidFill>
                  <a:schemeClr val="dk1"/>
                </a:solidFill>
              </a:rPr>
              <a:t>entidades</a:t>
            </a:r>
            <a:r>
              <a:rPr lang="pt-BR" sz="2800">
                <a:solidFill>
                  <a:schemeClr val="dk1"/>
                </a:solidFill>
              </a:rPr>
              <a:t> no Spring Data JPA</a:t>
            </a:r>
            <a:br>
              <a:rPr lang="pt-BR" sz="2800">
                <a:solidFill>
                  <a:schemeClr val="dk1"/>
                </a:solidFill>
              </a:rPr>
            </a:b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800">
                <a:solidFill>
                  <a:schemeClr val="dk1"/>
                </a:solidFill>
              </a:rPr>
              <a:t>Realizar </a:t>
            </a:r>
            <a:r>
              <a:rPr b="1" lang="pt-BR" sz="2800">
                <a:solidFill>
                  <a:schemeClr val="dk1"/>
                </a:solidFill>
              </a:rPr>
              <a:t>operações de persistência</a:t>
            </a:r>
            <a:r>
              <a:rPr lang="pt-BR" sz="2800">
                <a:solidFill>
                  <a:schemeClr val="dk1"/>
                </a:solidFill>
              </a:rPr>
              <a:t> usando </a:t>
            </a:r>
            <a:r>
              <a:rPr lang="pt-BR" sz="2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JpaRepository</a:t>
            </a:r>
            <a:br>
              <a:rPr lang="pt-BR" sz="2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28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800">
                <a:solidFill>
                  <a:schemeClr val="dk1"/>
                </a:solidFill>
              </a:rPr>
              <a:t>Compreender </a:t>
            </a:r>
            <a:r>
              <a:rPr b="1" lang="pt-BR" sz="2800">
                <a:solidFill>
                  <a:schemeClr val="dk1"/>
                </a:solidFill>
              </a:rPr>
              <a:t>transações</a:t>
            </a:r>
            <a:r>
              <a:rPr lang="pt-BR" sz="2800">
                <a:solidFill>
                  <a:schemeClr val="dk1"/>
                </a:solidFill>
              </a:rPr>
              <a:t> e os princípios ACID</a:t>
            </a:r>
            <a:br>
              <a:rPr lang="pt-BR" sz="2800">
                <a:solidFill>
                  <a:schemeClr val="dk1"/>
                </a:solidFill>
              </a:rPr>
            </a:b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800">
                <a:solidFill>
                  <a:schemeClr val="dk1"/>
                </a:solidFill>
              </a:rPr>
              <a:t>Implementar transações com </a:t>
            </a:r>
            <a:r>
              <a:rPr b="1" lang="pt-BR" sz="2800">
                <a:solidFill>
                  <a:schemeClr val="dk1"/>
                </a:solidFill>
              </a:rPr>
              <a:t>@Transactional</a:t>
            </a:r>
            <a:r>
              <a:rPr lang="pt-BR" sz="2800">
                <a:solidFill>
                  <a:schemeClr val="dk1"/>
                </a:solidFill>
              </a:rPr>
              <a:t> no Spring Boot</a:t>
            </a:r>
            <a:endParaRPr sz="2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61990" y="551966"/>
            <a:ext cx="2781299" cy="2781299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6"/>
          <p:cNvSpPr txBox="1"/>
          <p:nvPr/>
        </p:nvSpPr>
        <p:spPr>
          <a:xfrm>
            <a:off x="990600" y="1766163"/>
            <a:ext cx="13650600" cy="67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i="0" lang="pt-BR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Introdução à Modelagem de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t/>
            </a:r>
            <a:endParaRPr b="1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</a:pPr>
            <a:r>
              <a:rPr b="1" lang="pt-BR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Definição:</a:t>
            </a:r>
            <a:r>
              <a:rPr b="1" lang="pt-BR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1800">
                <a:solidFill>
                  <a:schemeClr val="dk1"/>
                </a:solidFill>
              </a:rPr>
              <a:t>Processo de representar elementos do mundo real (clientes, produtos, pedidos, etc.) em </a:t>
            </a:r>
            <a:r>
              <a:rPr i="1" lang="pt-BR" sz="1800">
                <a:solidFill>
                  <a:schemeClr val="dk1"/>
                </a:solidFill>
              </a:rPr>
              <a:t>entidades Java</a:t>
            </a:r>
            <a:r>
              <a:rPr lang="pt-BR" sz="1800">
                <a:solidFill>
                  <a:schemeClr val="dk1"/>
                </a:solidFill>
              </a:rPr>
              <a:t> mapeadas para tabelas no banco de dados.</a:t>
            </a:r>
            <a:br>
              <a:rPr b="1" lang="pt-BR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 que é importante?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Clareza na estrutura da aplicação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Eficiência no armazenamento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Relacionamentos corretos entre os dados</a:t>
            </a:r>
            <a:br>
              <a:rPr b="1" lang="pt-BR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63e56811c7_0_12"/>
          <p:cNvSpPr txBox="1"/>
          <p:nvPr/>
        </p:nvSpPr>
        <p:spPr>
          <a:xfrm>
            <a:off x="839825" y="280625"/>
            <a:ext cx="6717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Etapas da Modelagem de Dados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63e56811c7_0_12"/>
          <p:cNvSpPr txBox="1"/>
          <p:nvPr/>
        </p:nvSpPr>
        <p:spPr>
          <a:xfrm>
            <a:off x="160475" y="863750"/>
            <a:ext cx="17180100" cy="99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300">
                <a:solidFill>
                  <a:schemeClr val="dk1"/>
                </a:solidFill>
              </a:rPr>
              <a:t>1.</a:t>
            </a:r>
            <a:r>
              <a:rPr b="1" lang="pt-BR" sz="1500">
                <a:solidFill>
                  <a:schemeClr val="dk1"/>
                </a:solidFill>
              </a:rPr>
              <a:t> Levantamento de requisitos</a:t>
            </a:r>
            <a:endParaRPr b="1" sz="13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pt-BR" sz="1500">
                <a:solidFill>
                  <a:schemeClr val="dk1"/>
                </a:solidFill>
              </a:rPr>
              <a:t>Coleta de informações com usuários e stakeholders para entender </a:t>
            </a:r>
            <a:r>
              <a:rPr b="1" lang="pt-BR" sz="1500">
                <a:solidFill>
                  <a:schemeClr val="dk1"/>
                </a:solidFill>
              </a:rPr>
              <a:t>o que o sistema precisa armazenar</a:t>
            </a:r>
            <a:r>
              <a:rPr lang="pt-BR" sz="1500">
                <a:solidFill>
                  <a:schemeClr val="dk1"/>
                </a:solidFill>
              </a:rPr>
              <a:t> e </a:t>
            </a:r>
            <a:r>
              <a:rPr b="1" lang="pt-BR" sz="1500">
                <a:solidFill>
                  <a:schemeClr val="dk1"/>
                </a:solidFill>
              </a:rPr>
              <a:t>como os dados serão usados</a:t>
            </a:r>
            <a:r>
              <a:rPr lang="pt-BR" sz="1500">
                <a:solidFill>
                  <a:schemeClr val="dk1"/>
                </a:solidFill>
              </a:rPr>
              <a:t>.</a:t>
            </a:r>
            <a:br>
              <a:rPr lang="pt-BR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pt-BR" sz="1500">
                <a:solidFill>
                  <a:schemeClr val="dk1"/>
                </a:solidFill>
              </a:rPr>
              <a:t>O foco é no domínio do problema, sem ainda pensar em tabelas ou tecnologia.</a:t>
            </a:r>
            <a:br>
              <a:rPr lang="pt-BR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500">
                <a:solidFill>
                  <a:schemeClr val="dk1"/>
                </a:solidFill>
              </a:rPr>
              <a:t>2. Identificação das entidades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pt-BR" sz="1500">
                <a:solidFill>
                  <a:schemeClr val="dk1"/>
                </a:solidFill>
              </a:rPr>
              <a:t>Descobrir </a:t>
            </a:r>
            <a:r>
              <a:rPr b="1" lang="pt-BR" sz="1500">
                <a:solidFill>
                  <a:schemeClr val="dk1"/>
                </a:solidFill>
              </a:rPr>
              <a:t>quais objetos ou conceitos do mundo real</a:t>
            </a:r>
            <a:r>
              <a:rPr lang="pt-BR" sz="1500">
                <a:solidFill>
                  <a:schemeClr val="dk1"/>
                </a:solidFill>
              </a:rPr>
              <a:t> precisam ser representados no banco (ex.: Cliente, Produto, Pedido).</a:t>
            </a:r>
            <a:br>
              <a:rPr lang="pt-BR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pt-BR" sz="1500">
                <a:solidFill>
                  <a:schemeClr val="dk1"/>
                </a:solidFill>
              </a:rPr>
              <a:t>Cada entidade será mapeada para uma tabela no modelo lógico/físico.</a:t>
            </a:r>
            <a:br>
              <a:rPr lang="pt-BR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500">
                <a:solidFill>
                  <a:schemeClr val="dk1"/>
                </a:solidFill>
              </a:rPr>
              <a:t>3. Definição de atributos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pt-BR" sz="1500">
                <a:solidFill>
                  <a:schemeClr val="dk1"/>
                </a:solidFill>
              </a:rPr>
              <a:t>Determinar </a:t>
            </a:r>
            <a:r>
              <a:rPr b="1" lang="pt-BR" sz="1500">
                <a:solidFill>
                  <a:schemeClr val="dk1"/>
                </a:solidFill>
              </a:rPr>
              <a:t>quais informações</a:t>
            </a:r>
            <a:r>
              <a:rPr lang="pt-BR" sz="1500">
                <a:solidFill>
                  <a:schemeClr val="dk1"/>
                </a:solidFill>
              </a:rPr>
              <a:t> cada entidade deve guardar.</a:t>
            </a:r>
            <a:br>
              <a:rPr lang="pt-BR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pt-BR" sz="1500">
                <a:solidFill>
                  <a:schemeClr val="dk1"/>
                </a:solidFill>
              </a:rPr>
              <a:t>Ex.: a entidade </a:t>
            </a:r>
            <a:r>
              <a:rPr i="1" lang="pt-BR" sz="1500">
                <a:solidFill>
                  <a:schemeClr val="dk1"/>
                </a:solidFill>
              </a:rPr>
              <a:t>Cliente</a:t>
            </a:r>
            <a:r>
              <a:rPr lang="pt-BR" sz="1500">
                <a:solidFill>
                  <a:schemeClr val="dk1"/>
                </a:solidFill>
              </a:rPr>
              <a:t> pode ter nome, CPF, e-mail, telefone.</a:t>
            </a:r>
            <a:br>
              <a:rPr lang="pt-BR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pt-BR" sz="1500">
                <a:solidFill>
                  <a:schemeClr val="dk1"/>
                </a:solidFill>
              </a:rPr>
              <a:t>Também se define quais atributos são obrigatórios e quais são opcionais.</a:t>
            </a:r>
            <a:br>
              <a:rPr lang="pt-BR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500">
                <a:solidFill>
                  <a:schemeClr val="dk1"/>
                </a:solidFill>
              </a:rPr>
              <a:t>4. Definição dos relacionamentos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pt-BR" sz="1500">
                <a:solidFill>
                  <a:schemeClr val="dk1"/>
                </a:solidFill>
              </a:rPr>
              <a:t>Especificar como as entidades se conectam e interagem.</a:t>
            </a:r>
            <a:br>
              <a:rPr lang="pt-BR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pt-BR" sz="1500">
                <a:solidFill>
                  <a:schemeClr val="dk1"/>
                </a:solidFill>
              </a:rPr>
              <a:t>Ex.: um Cliente faz muitos Pedidos (1:N).</a:t>
            </a:r>
            <a:br>
              <a:rPr lang="pt-BR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pt-BR" sz="1500">
                <a:solidFill>
                  <a:schemeClr val="dk1"/>
                </a:solidFill>
              </a:rPr>
              <a:t>Essa etapa também define a </a:t>
            </a:r>
            <a:r>
              <a:rPr b="1" lang="pt-BR" sz="1500">
                <a:solidFill>
                  <a:schemeClr val="dk1"/>
                </a:solidFill>
              </a:rPr>
              <a:t>cardinalidade</a:t>
            </a:r>
            <a:r>
              <a:rPr lang="pt-BR" sz="1500">
                <a:solidFill>
                  <a:schemeClr val="dk1"/>
                </a:solidFill>
              </a:rPr>
              <a:t> (quantidade mínima e máxima de ocorrências em cada lado).</a:t>
            </a:r>
            <a:br>
              <a:rPr lang="pt-BR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500">
                <a:solidFill>
                  <a:schemeClr val="dk1"/>
                </a:solidFill>
              </a:rPr>
              <a:t>5. Normalização do modelo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pt-BR" sz="1500">
                <a:solidFill>
                  <a:schemeClr val="dk1"/>
                </a:solidFill>
              </a:rPr>
              <a:t>Processo de organizar os dados para reduzir redundância e melhorar integridade.</a:t>
            </a:r>
            <a:br>
              <a:rPr lang="pt-BR" sz="1500">
                <a:solidFill>
                  <a:schemeClr val="dk1"/>
                </a:solidFill>
              </a:rPr>
            </a:br>
            <a:br>
              <a:rPr lang="pt-BR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pt-BR" sz="1500">
                <a:solidFill>
                  <a:schemeClr val="dk1"/>
                </a:solidFill>
              </a:rPr>
              <a:t>Ex.: separar endereço em uma tabela própria se ele for usado por várias entidades.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63e56811c7_0_21"/>
          <p:cNvSpPr txBox="1"/>
          <p:nvPr/>
        </p:nvSpPr>
        <p:spPr>
          <a:xfrm>
            <a:off x="839825" y="280625"/>
            <a:ext cx="6717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Tipos de Modelagem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363e56811c7_0_21"/>
          <p:cNvSpPr txBox="1"/>
          <p:nvPr/>
        </p:nvSpPr>
        <p:spPr>
          <a:xfrm>
            <a:off x="1035250" y="1890125"/>
            <a:ext cx="6717900" cy="71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300">
                <a:solidFill>
                  <a:schemeClr val="dk1"/>
                </a:solidFill>
              </a:rPr>
              <a:t>1. Modelagem Conceitual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pt-BR" sz="1300">
                <a:solidFill>
                  <a:schemeClr val="dk1"/>
                </a:solidFill>
              </a:rPr>
              <a:t>Objetivo:</a:t>
            </a:r>
            <a:r>
              <a:rPr lang="pt-BR" sz="1300">
                <a:solidFill>
                  <a:schemeClr val="dk1"/>
                </a:solidFill>
              </a:rPr>
              <a:t> Representar a visão de alto nível do sistema, focada no negócio, sem detalhes técnicos.</a:t>
            </a:r>
            <a:br>
              <a:rPr lang="pt-BR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pt-BR" sz="1300">
                <a:solidFill>
                  <a:schemeClr val="dk1"/>
                </a:solidFill>
              </a:rPr>
              <a:t>Ferramenta comum:</a:t>
            </a:r>
            <a:r>
              <a:rPr lang="pt-BR" sz="1300">
                <a:solidFill>
                  <a:schemeClr val="dk1"/>
                </a:solidFill>
              </a:rPr>
              <a:t> Diagramas ER (</a:t>
            </a:r>
            <a:r>
              <a:rPr i="1" lang="pt-BR" sz="1300">
                <a:solidFill>
                  <a:schemeClr val="dk1"/>
                </a:solidFill>
              </a:rPr>
              <a:t>Entity-Relationship</a:t>
            </a:r>
            <a:r>
              <a:rPr lang="pt-BR" sz="1300">
                <a:solidFill>
                  <a:schemeClr val="dk1"/>
                </a:solidFill>
              </a:rPr>
              <a:t>).</a:t>
            </a:r>
            <a:br>
              <a:rPr lang="pt-BR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pt-BR" sz="1300">
                <a:solidFill>
                  <a:schemeClr val="dk1"/>
                </a:solidFill>
              </a:rPr>
              <a:t>Características:</a:t>
            </a:r>
            <a:r>
              <a:rPr lang="pt-BR" sz="1300">
                <a:solidFill>
                  <a:schemeClr val="dk1"/>
                </a:solidFill>
              </a:rPr>
              <a:t> Define entidades, relacionamentos e cardinalidades, mas não especifica tipos de dados ou nomes de tabelas.</a:t>
            </a:r>
            <a:br>
              <a:rPr lang="pt-BR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pt-BR" sz="1300">
                <a:solidFill>
                  <a:schemeClr val="dk1"/>
                </a:solidFill>
              </a:rPr>
              <a:t>Exemplo:</a:t>
            </a:r>
            <a:r>
              <a:rPr lang="pt-BR" sz="1300">
                <a:solidFill>
                  <a:schemeClr val="dk1"/>
                </a:solidFill>
              </a:rPr>
              <a:t> Um diagrama mostrando </a:t>
            </a:r>
            <a:r>
              <a:rPr b="1" i="1" lang="pt-BR" sz="1300">
                <a:solidFill>
                  <a:srgbClr val="FF0000"/>
                </a:solidFill>
              </a:rPr>
              <a:t>Cliente</a:t>
            </a:r>
            <a:r>
              <a:rPr b="1" lang="pt-BR" sz="1300">
                <a:solidFill>
                  <a:srgbClr val="FF0000"/>
                </a:solidFill>
              </a:rPr>
              <a:t> </a:t>
            </a:r>
            <a:r>
              <a:rPr lang="pt-BR" sz="1300">
                <a:solidFill>
                  <a:schemeClr val="dk1"/>
                </a:solidFill>
              </a:rPr>
              <a:t>ligado a </a:t>
            </a:r>
            <a:r>
              <a:rPr b="1" i="1" lang="pt-BR" sz="1300">
                <a:solidFill>
                  <a:srgbClr val="FF0000"/>
                </a:solidFill>
              </a:rPr>
              <a:t>Pedido</a:t>
            </a:r>
            <a:r>
              <a:rPr b="1" lang="pt-BR" sz="1300">
                <a:solidFill>
                  <a:srgbClr val="FF0000"/>
                </a:solidFill>
              </a:rPr>
              <a:t> </a:t>
            </a:r>
            <a:r>
              <a:rPr lang="pt-BR" sz="1300">
                <a:solidFill>
                  <a:schemeClr val="dk1"/>
                </a:solidFill>
              </a:rPr>
              <a:t>e </a:t>
            </a:r>
            <a:r>
              <a:rPr b="1" i="1" lang="pt-BR" sz="1300">
                <a:solidFill>
                  <a:srgbClr val="FF0000"/>
                </a:solidFill>
              </a:rPr>
              <a:t>Produto</a:t>
            </a:r>
            <a:r>
              <a:rPr lang="pt-BR" sz="1300">
                <a:solidFill>
                  <a:schemeClr val="dk1"/>
                </a:solidFill>
              </a:rPr>
              <a:t>.</a:t>
            </a:r>
            <a:br>
              <a:rPr lang="pt-BR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300">
                <a:solidFill>
                  <a:schemeClr val="dk1"/>
                </a:solidFill>
              </a:rPr>
              <a:t>2. Modelagem Lógica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pt-BR" sz="1300">
                <a:solidFill>
                  <a:schemeClr val="dk1"/>
                </a:solidFill>
              </a:rPr>
              <a:t>Objetivo:</a:t>
            </a:r>
            <a:r>
              <a:rPr lang="pt-BR" sz="1300">
                <a:solidFill>
                  <a:schemeClr val="dk1"/>
                </a:solidFill>
              </a:rPr>
              <a:t> Traduzir o modelo conceitual para um formato que já considere restrições de banco de dados, mas ainda independente de um SGBD específico.</a:t>
            </a:r>
            <a:br>
              <a:rPr lang="pt-BR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pt-BR" sz="1300">
                <a:solidFill>
                  <a:schemeClr val="dk1"/>
                </a:solidFill>
              </a:rPr>
              <a:t>Características:</a:t>
            </a:r>
            <a:br>
              <a:rPr b="1" lang="pt-BR" sz="1300">
                <a:solidFill>
                  <a:schemeClr val="dk1"/>
                </a:solidFill>
              </a:rPr>
            </a:br>
            <a:endParaRPr b="1"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pt-BR" sz="1300">
                <a:solidFill>
                  <a:schemeClr val="dk1"/>
                </a:solidFill>
              </a:rPr>
              <a:t>Definição de chaves primárias e estrangeiras.</a:t>
            </a:r>
            <a:br>
              <a:rPr lang="pt-BR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pt-BR" sz="1300">
                <a:solidFill>
                  <a:schemeClr val="dk1"/>
                </a:solidFill>
              </a:rPr>
              <a:t>Especificação de tipos de dados genéricos (ex.: String, Integer, Date).</a:t>
            </a:r>
            <a:br>
              <a:rPr lang="pt-BR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pt-BR" sz="1300">
                <a:solidFill>
                  <a:schemeClr val="dk1"/>
                </a:solidFill>
              </a:rPr>
              <a:t>Detalhamento das colunas e relacionamentos.</a:t>
            </a:r>
            <a:br>
              <a:rPr lang="pt-BR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pt-BR" sz="1300">
                <a:solidFill>
                  <a:schemeClr val="dk1"/>
                </a:solidFill>
              </a:rPr>
              <a:t>Exemplo:</a:t>
            </a:r>
            <a:r>
              <a:rPr lang="pt-BR" sz="1300">
                <a:solidFill>
                  <a:schemeClr val="dk1"/>
                </a:solidFill>
              </a:rPr>
              <a:t> Tabela </a:t>
            </a:r>
            <a:r>
              <a:rPr i="1" lang="pt-BR" sz="1300">
                <a:solidFill>
                  <a:schemeClr val="dk1"/>
                </a:solidFill>
              </a:rPr>
              <a:t>Cliente</a:t>
            </a:r>
            <a:r>
              <a:rPr lang="pt-BR" sz="1300">
                <a:solidFill>
                  <a:schemeClr val="dk1"/>
                </a:solidFill>
              </a:rPr>
              <a:t> com colunas </a:t>
            </a:r>
            <a:r>
              <a:rPr lang="pt-BR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lang="pt-BR" sz="1300">
                <a:solidFill>
                  <a:schemeClr val="dk1"/>
                </a:solidFill>
              </a:rPr>
              <a:t>, </a:t>
            </a:r>
            <a:r>
              <a:rPr lang="pt-BR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nome</a:t>
            </a:r>
            <a:r>
              <a:rPr lang="pt-BR" sz="1300">
                <a:solidFill>
                  <a:schemeClr val="dk1"/>
                </a:solidFill>
              </a:rPr>
              <a:t>, </a:t>
            </a:r>
            <a:r>
              <a:rPr lang="pt-BR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email</a:t>
            </a:r>
            <a:r>
              <a:rPr lang="pt-BR" sz="1300">
                <a:solidFill>
                  <a:schemeClr val="dk1"/>
                </a:solidFill>
              </a:rPr>
              <a:t> e chave primária </a:t>
            </a:r>
            <a:r>
              <a:rPr lang="pt-BR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lang="pt-BR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63e56811c7_0_21"/>
          <p:cNvSpPr txBox="1"/>
          <p:nvPr/>
        </p:nvSpPr>
        <p:spPr>
          <a:xfrm>
            <a:off x="9724400" y="2216700"/>
            <a:ext cx="6370800" cy="36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dk1"/>
                </a:solidFill>
                <a:highlight>
                  <a:srgbClr val="FF0000"/>
                </a:highlight>
              </a:rPr>
              <a:t>MAIS UTILIZADO </a:t>
            </a:r>
            <a:endParaRPr b="1" sz="1700">
              <a:solidFill>
                <a:schemeClr val="dk1"/>
              </a:solidFill>
              <a:highlight>
                <a:srgbClr val="FF00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dk1"/>
                </a:solidFill>
              </a:rPr>
              <a:t>Modelagem Lógica: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600">
                <a:solidFill>
                  <a:schemeClr val="dk1"/>
                </a:solidFill>
              </a:rPr>
              <a:t>É a </a:t>
            </a:r>
            <a:r>
              <a:rPr b="1" lang="pt-BR" sz="1600">
                <a:solidFill>
                  <a:schemeClr val="dk1"/>
                </a:solidFill>
              </a:rPr>
              <a:t>mais usada no dia a dia</a:t>
            </a:r>
            <a:r>
              <a:rPr lang="pt-BR" sz="1600">
                <a:solidFill>
                  <a:schemeClr val="dk1"/>
                </a:solidFill>
              </a:rPr>
              <a:t> por desenvolvedores, porque traduz o modelo para algo próximo da implementação.</a:t>
            </a:r>
            <a:br>
              <a:rPr lang="pt-BR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600">
                <a:solidFill>
                  <a:schemeClr val="dk1"/>
                </a:solidFill>
              </a:rPr>
              <a:t>Serve de referência para gerar scripts e para o desenvolvimento de APIs, JPA Entities, etc.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95665" y="377016"/>
            <a:ext cx="2781299" cy="2781299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7"/>
          <p:cNvSpPr txBox="1"/>
          <p:nvPr/>
        </p:nvSpPr>
        <p:spPr>
          <a:xfrm>
            <a:off x="674416" y="99559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tipos de relacionamento: 1:N, N:1, N:N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4413" y="747538"/>
            <a:ext cx="10382250" cy="172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7"/>
          <p:cNvSpPr txBox="1"/>
          <p:nvPr/>
        </p:nvSpPr>
        <p:spPr>
          <a:xfrm>
            <a:off x="674500" y="2624925"/>
            <a:ext cx="10382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Este diagrama representa um exemplo prático de como entidades de um sistema podem se relacionar em um banco de dados relacional, usando anotações do </a:t>
            </a:r>
            <a:r>
              <a:rPr b="1" lang="pt-BR" sz="1800">
                <a:solidFill>
                  <a:schemeClr val="dk1"/>
                </a:solidFill>
              </a:rPr>
              <a:t>Spring Data JPA</a:t>
            </a:r>
            <a:r>
              <a:rPr lang="pt-BR" sz="1800">
                <a:solidFill>
                  <a:schemeClr val="dk1"/>
                </a:solidFill>
              </a:rPr>
              <a:t>.</a:t>
            </a:r>
            <a:endParaRPr sz="3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 txBox="1"/>
          <p:nvPr/>
        </p:nvSpPr>
        <p:spPr>
          <a:xfrm>
            <a:off x="674425" y="3517175"/>
            <a:ext cx="7965300" cy="6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Entidades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1"/>
                </a:solidFill>
              </a:rPr>
              <a:t>Cliente</a:t>
            </a:r>
            <a:r>
              <a:rPr lang="pt-BR">
                <a:solidFill>
                  <a:schemeClr val="dk1"/>
                </a:solidFill>
              </a:rPr>
              <a:t> </a:t>
            </a:r>
            <a:br>
              <a:rPr lang="pt-BR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Armazena informações básicas como </a:t>
            </a: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lang="pt-BR">
                <a:solidFill>
                  <a:schemeClr val="dk1"/>
                </a:solidFill>
              </a:rPr>
              <a:t>, </a:t>
            </a: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nome</a:t>
            </a:r>
            <a:r>
              <a:rPr lang="pt-BR">
                <a:solidFill>
                  <a:schemeClr val="dk1"/>
                </a:solidFill>
              </a:rPr>
              <a:t> e </a:t>
            </a: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email</a:t>
            </a:r>
            <a:r>
              <a:rPr lang="pt-BR">
                <a:solidFill>
                  <a:schemeClr val="dk1"/>
                </a:solidFill>
              </a:rPr>
              <a:t>.</a:t>
            </a:r>
            <a:br>
              <a:rPr lang="pt-BR">
                <a:solidFill>
                  <a:schemeClr val="dk1"/>
                </a:solidFill>
              </a:rPr>
            </a:br>
            <a:r>
              <a:rPr lang="pt-BR">
                <a:solidFill>
                  <a:schemeClr val="dk1"/>
                </a:solidFill>
              </a:rPr>
              <a:t>Cada cliente pode gerar vários pedidos (</a:t>
            </a:r>
            <a:r>
              <a:rPr b="1" lang="pt-BR">
                <a:solidFill>
                  <a:schemeClr val="dk1"/>
                </a:solidFill>
              </a:rPr>
              <a:t>1:N</a:t>
            </a:r>
            <a:r>
              <a:rPr lang="pt-BR">
                <a:solidFill>
                  <a:schemeClr val="dk1"/>
                </a:solidFill>
              </a:rPr>
              <a:t>).</a:t>
            </a:r>
            <a:br>
              <a:rPr lang="pt-BR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1"/>
                </a:solidFill>
              </a:rPr>
              <a:t>Restaurante</a:t>
            </a:r>
            <a:r>
              <a:rPr lang="pt-BR">
                <a:solidFill>
                  <a:schemeClr val="dk1"/>
                </a:solidFill>
              </a:rPr>
              <a:t> </a:t>
            </a:r>
            <a:br>
              <a:rPr lang="pt-BR">
                <a:solidFill>
                  <a:schemeClr val="dk1"/>
                </a:solidFill>
              </a:rPr>
            </a:br>
            <a:r>
              <a:rPr lang="pt-BR">
                <a:solidFill>
                  <a:schemeClr val="dk1"/>
                </a:solidFill>
              </a:rPr>
              <a:t>Contém </a:t>
            </a: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lang="pt-BR">
                <a:solidFill>
                  <a:schemeClr val="dk1"/>
                </a:solidFill>
              </a:rPr>
              <a:t>, </a:t>
            </a: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nome</a:t>
            </a:r>
            <a:r>
              <a:rPr lang="pt-BR">
                <a:solidFill>
                  <a:schemeClr val="dk1"/>
                </a:solidFill>
              </a:rPr>
              <a:t> e </a:t>
            </a: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categoria</a:t>
            </a:r>
            <a:r>
              <a:rPr lang="pt-BR">
                <a:solidFill>
                  <a:schemeClr val="dk1"/>
                </a:solidFill>
              </a:rPr>
              <a:t> (ex.: pizzaria, lanchonete).</a:t>
            </a:r>
            <a:br>
              <a:rPr lang="pt-BR">
                <a:solidFill>
                  <a:schemeClr val="dk1"/>
                </a:solidFill>
              </a:rPr>
            </a:br>
            <a:r>
              <a:rPr lang="pt-BR">
                <a:solidFill>
                  <a:schemeClr val="dk1"/>
                </a:solidFill>
              </a:rPr>
              <a:t>Cada restaurante pode oferecer vários produtos (</a:t>
            </a:r>
            <a:r>
              <a:rPr b="1" lang="pt-BR">
                <a:solidFill>
                  <a:schemeClr val="dk1"/>
                </a:solidFill>
              </a:rPr>
              <a:t>1:N</a:t>
            </a:r>
            <a:r>
              <a:rPr lang="pt-BR">
                <a:solidFill>
                  <a:schemeClr val="dk1"/>
                </a:solidFill>
              </a:rPr>
              <a:t>).</a:t>
            </a:r>
            <a:br>
              <a:rPr lang="pt-BR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1"/>
                </a:solidFill>
              </a:rPr>
              <a:t>Pedido</a:t>
            </a:r>
            <a:r>
              <a:rPr lang="pt-BR">
                <a:solidFill>
                  <a:schemeClr val="dk1"/>
                </a:solidFill>
              </a:rPr>
              <a:t> </a:t>
            </a:r>
            <a:br>
              <a:rPr lang="pt-BR">
                <a:solidFill>
                  <a:schemeClr val="dk1"/>
                </a:solidFill>
              </a:rPr>
            </a:br>
            <a:r>
              <a:rPr lang="pt-BR">
                <a:solidFill>
                  <a:schemeClr val="dk1"/>
                </a:solidFill>
              </a:rPr>
              <a:t>Representa uma compra feita por um cliente.</a:t>
            </a:r>
            <a:br>
              <a:rPr lang="pt-BR">
                <a:solidFill>
                  <a:schemeClr val="dk1"/>
                </a:solidFill>
              </a:rPr>
            </a:br>
            <a:r>
              <a:rPr lang="pt-BR">
                <a:solidFill>
                  <a:schemeClr val="dk1"/>
                </a:solidFill>
              </a:rPr>
              <a:t>Atributos: </a:t>
            </a: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lang="pt-BR">
                <a:solidFill>
                  <a:schemeClr val="dk1"/>
                </a:solidFill>
              </a:rPr>
              <a:t>, </a:t>
            </a: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data</a:t>
            </a:r>
            <a:r>
              <a:rPr lang="pt-BR">
                <a:solidFill>
                  <a:schemeClr val="dk1"/>
                </a:solidFill>
              </a:rPr>
              <a:t>, </a:t>
            </a: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status</a:t>
            </a:r>
            <a:r>
              <a:rPr lang="pt-BR">
                <a:solidFill>
                  <a:schemeClr val="dk1"/>
                </a:solidFill>
              </a:rPr>
              <a:t>.</a:t>
            </a:r>
            <a:br>
              <a:rPr lang="pt-BR">
                <a:solidFill>
                  <a:schemeClr val="dk1"/>
                </a:solidFill>
              </a:rPr>
            </a:br>
            <a:r>
              <a:rPr lang="pt-BR">
                <a:solidFill>
                  <a:schemeClr val="dk1"/>
                </a:solidFill>
              </a:rPr>
              <a:t>Um cliente pode ter vários pedidos (</a:t>
            </a:r>
            <a:r>
              <a:rPr b="1" lang="pt-BR">
                <a:solidFill>
                  <a:schemeClr val="dk1"/>
                </a:solidFill>
              </a:rPr>
              <a:t>1:N</a:t>
            </a:r>
            <a:r>
              <a:rPr lang="pt-BR">
                <a:solidFill>
                  <a:schemeClr val="dk1"/>
                </a:solidFill>
              </a:rPr>
              <a:t>), mas cada pedido pertence a </a:t>
            </a:r>
            <a:r>
              <a:rPr b="1" lang="pt-BR">
                <a:solidFill>
                  <a:schemeClr val="dk1"/>
                </a:solidFill>
              </a:rPr>
              <a:t>apenas um cliente</a:t>
            </a:r>
            <a:r>
              <a:rPr lang="pt-BR">
                <a:solidFill>
                  <a:schemeClr val="dk1"/>
                </a:solidFill>
              </a:rPr>
              <a:t> (</a:t>
            </a:r>
            <a:r>
              <a:rPr b="1" lang="pt-BR">
                <a:solidFill>
                  <a:schemeClr val="dk1"/>
                </a:solidFill>
              </a:rPr>
              <a:t>N:1</a:t>
            </a:r>
            <a:r>
              <a:rPr lang="pt-BR">
                <a:solidFill>
                  <a:schemeClr val="dk1"/>
                </a:solidFill>
              </a:rPr>
              <a:t>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Um pedido pode conter vários itens de pedido (</a:t>
            </a:r>
            <a:r>
              <a:rPr b="1" lang="pt-BR">
                <a:solidFill>
                  <a:schemeClr val="dk1"/>
                </a:solidFill>
              </a:rPr>
              <a:t>1:N</a:t>
            </a:r>
            <a:r>
              <a:rPr lang="pt-BR">
                <a:solidFill>
                  <a:schemeClr val="dk1"/>
                </a:solidFill>
              </a:rPr>
              <a:t>).</a:t>
            </a:r>
            <a:br>
              <a:rPr lang="pt-BR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1"/>
                </a:solidFill>
              </a:rPr>
              <a:t>Produto</a:t>
            </a:r>
            <a:r>
              <a:rPr lang="pt-BR">
                <a:solidFill>
                  <a:schemeClr val="dk1"/>
                </a:solidFill>
              </a:rPr>
              <a:t> </a:t>
            </a:r>
            <a:br>
              <a:rPr lang="pt-BR">
                <a:solidFill>
                  <a:schemeClr val="dk1"/>
                </a:solidFill>
              </a:rPr>
            </a:br>
            <a:r>
              <a:rPr lang="pt-BR">
                <a:solidFill>
                  <a:schemeClr val="dk1"/>
                </a:solidFill>
              </a:rPr>
              <a:t>Atributos: </a:t>
            </a: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lang="pt-BR">
                <a:solidFill>
                  <a:schemeClr val="dk1"/>
                </a:solidFill>
              </a:rPr>
              <a:t>, </a:t>
            </a: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nome</a:t>
            </a:r>
            <a:r>
              <a:rPr lang="pt-BR">
                <a:solidFill>
                  <a:schemeClr val="dk1"/>
                </a:solidFill>
              </a:rPr>
              <a:t>, </a:t>
            </a: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preço</a:t>
            </a:r>
            <a:r>
              <a:rPr lang="pt-BR">
                <a:solidFill>
                  <a:schemeClr val="dk1"/>
                </a:solidFill>
              </a:rPr>
              <a:t>.</a:t>
            </a:r>
            <a:br>
              <a:rPr lang="pt-BR">
                <a:solidFill>
                  <a:schemeClr val="dk1"/>
                </a:solidFill>
              </a:rPr>
            </a:br>
            <a:r>
              <a:rPr lang="pt-BR">
                <a:solidFill>
                  <a:schemeClr val="dk1"/>
                </a:solidFill>
              </a:rPr>
              <a:t>Ligado a um restaurante (</a:t>
            </a:r>
            <a:r>
              <a:rPr b="1" lang="pt-BR">
                <a:solidFill>
                  <a:schemeClr val="dk1"/>
                </a:solidFill>
              </a:rPr>
              <a:t>N:1</a:t>
            </a:r>
            <a:r>
              <a:rPr lang="pt-BR">
                <a:solidFill>
                  <a:schemeClr val="dk1"/>
                </a:solidFill>
              </a:rPr>
              <a:t>).</a:t>
            </a:r>
            <a:br>
              <a:rPr lang="pt-BR">
                <a:solidFill>
                  <a:schemeClr val="dk1"/>
                </a:solidFill>
              </a:rPr>
            </a:br>
            <a:r>
              <a:rPr lang="pt-BR">
                <a:solidFill>
                  <a:schemeClr val="dk1"/>
                </a:solidFill>
              </a:rPr>
              <a:t>Pode aparecer em vários itens de pedido (</a:t>
            </a:r>
            <a:r>
              <a:rPr b="1" lang="pt-BR">
                <a:solidFill>
                  <a:schemeClr val="dk1"/>
                </a:solidFill>
              </a:rPr>
              <a:t>N:1</a:t>
            </a:r>
            <a:r>
              <a:rPr lang="pt-BR">
                <a:solidFill>
                  <a:schemeClr val="dk1"/>
                </a:solidFill>
              </a:rPr>
              <a:t>).</a:t>
            </a:r>
            <a:br>
              <a:rPr lang="pt-BR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1"/>
                </a:solidFill>
              </a:rPr>
              <a:t>ItemPedido</a:t>
            </a:r>
            <a:r>
              <a:rPr lang="pt-BR">
                <a:solidFill>
                  <a:schemeClr val="dk1"/>
                </a:solidFill>
              </a:rPr>
              <a:t> 📋 </a:t>
            </a:r>
            <a:r>
              <a:rPr i="1" lang="pt-BR">
                <a:solidFill>
                  <a:schemeClr val="dk1"/>
                </a:solidFill>
              </a:rPr>
              <a:t>(tabela intermediária)</a:t>
            </a:r>
            <a:br>
              <a:rPr i="1" lang="pt-BR">
                <a:solidFill>
                  <a:schemeClr val="dk1"/>
                </a:solidFill>
              </a:rPr>
            </a:br>
            <a:r>
              <a:rPr lang="pt-BR">
                <a:solidFill>
                  <a:schemeClr val="dk1"/>
                </a:solidFill>
              </a:rPr>
              <a:t>Guarda a quantidade de cada produto em um pedido.</a:t>
            </a:r>
            <a:br>
              <a:rPr lang="pt-BR">
                <a:solidFill>
                  <a:schemeClr val="dk1"/>
                </a:solidFill>
              </a:rPr>
            </a:br>
            <a:r>
              <a:rPr lang="pt-BR">
                <a:solidFill>
                  <a:schemeClr val="dk1"/>
                </a:solidFill>
              </a:rPr>
              <a:t>Relaciona </a:t>
            </a: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Pedido</a:t>
            </a:r>
            <a:r>
              <a:rPr lang="pt-BR">
                <a:solidFill>
                  <a:schemeClr val="dk1"/>
                </a:solidFill>
              </a:rPr>
              <a:t> e </a:t>
            </a: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Produto</a:t>
            </a:r>
            <a:r>
              <a:rPr lang="pt-BR">
                <a:solidFill>
                  <a:schemeClr val="dk1"/>
                </a:solidFill>
              </a:rPr>
              <a:t> em um </a:t>
            </a:r>
            <a:r>
              <a:rPr b="1" lang="pt-BR">
                <a:solidFill>
                  <a:schemeClr val="dk1"/>
                </a:solidFill>
              </a:rPr>
              <a:t>N:N</a:t>
            </a:r>
            <a:r>
              <a:rPr lang="pt-BR">
                <a:solidFill>
                  <a:schemeClr val="dk1"/>
                </a:solidFill>
              </a:rPr>
              <a:t> através de dois relacionamentos </a:t>
            </a:r>
            <a:r>
              <a:rPr b="1" lang="pt-BR">
                <a:solidFill>
                  <a:schemeClr val="dk1"/>
                </a:solidFill>
              </a:rPr>
              <a:t>1:N</a:t>
            </a:r>
            <a:r>
              <a:rPr lang="pt-BR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 txBox="1"/>
          <p:nvPr/>
        </p:nvSpPr>
        <p:spPr>
          <a:xfrm>
            <a:off x="10727425" y="3951750"/>
            <a:ext cx="5589600" cy="3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900">
                <a:solidFill>
                  <a:schemeClr val="dk1"/>
                </a:solidFill>
              </a:rPr>
              <a:t>Como interpretar os relacionamentos</a:t>
            </a:r>
            <a:endParaRPr b="1" sz="19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pt-BR" sz="1700">
                <a:solidFill>
                  <a:schemeClr val="dk1"/>
                </a:solidFill>
              </a:rPr>
              <a:t>1:N</a:t>
            </a:r>
            <a:r>
              <a:rPr lang="pt-BR" sz="1700">
                <a:solidFill>
                  <a:schemeClr val="dk1"/>
                </a:solidFill>
              </a:rPr>
              <a:t> → Um registro em uma tabela está ligado a vários na outra.</a:t>
            </a:r>
            <a:br>
              <a:rPr lang="pt-BR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pt-BR" sz="1700">
                <a:solidFill>
                  <a:schemeClr val="dk1"/>
                </a:solidFill>
              </a:rPr>
              <a:t>N:1</a:t>
            </a:r>
            <a:r>
              <a:rPr lang="pt-BR" sz="1700">
                <a:solidFill>
                  <a:schemeClr val="dk1"/>
                </a:solidFill>
              </a:rPr>
              <a:t> → Muitos registros apontam para apenas um.</a:t>
            </a:r>
            <a:br>
              <a:rPr lang="pt-BR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pt-BR" sz="1700">
                <a:solidFill>
                  <a:schemeClr val="dk1"/>
                </a:solidFill>
              </a:rPr>
              <a:t>N:N</a:t>
            </a:r>
            <a:r>
              <a:rPr lang="pt-BR" sz="1700">
                <a:solidFill>
                  <a:schemeClr val="dk1"/>
                </a:solidFill>
              </a:rPr>
              <a:t> → Ambos os lados têm múltiplos registros relacionados; implementado com tabela intermediária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631187f71f_0_0"/>
          <p:cNvSpPr txBox="1"/>
          <p:nvPr/>
        </p:nvSpPr>
        <p:spPr>
          <a:xfrm>
            <a:off x="2048641" y="1580784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b="1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que são relacionamentos?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631187f71f_0_0"/>
          <p:cNvSpPr txBox="1"/>
          <p:nvPr/>
        </p:nvSpPr>
        <p:spPr>
          <a:xfrm>
            <a:off x="1931441" y="2562259"/>
            <a:ext cx="91440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Relacionamentos indicam como entidades (tabelas/classes) se conectam entre si em um banco de dados ou modelo de sistema.</a:t>
            </a:r>
            <a:b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Eles são essenciais para representar situações do mundo real em sistemas de informação.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g3631187f71f_0_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95665" y="377016"/>
            <a:ext cx="2781299" cy="2781299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g3631187f71f_0_11"/>
          <p:cNvSpPr txBox="1"/>
          <p:nvPr/>
        </p:nvSpPr>
        <p:spPr>
          <a:xfrm>
            <a:off x="2048641" y="1580784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Tipos de Relacionamento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631187f71f_0_11"/>
          <p:cNvSpPr txBox="1"/>
          <p:nvPr/>
        </p:nvSpPr>
        <p:spPr>
          <a:xfrm>
            <a:off x="1510566" y="2165784"/>
            <a:ext cx="914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pt-BR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2.1.</a:t>
            </a:r>
            <a:r>
              <a:rPr b="0" i="0" lang="pt-BR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Relacionamento 1:N (Um para Muitos)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631187f71f_0_11"/>
          <p:cNvSpPr txBox="1"/>
          <p:nvPr/>
        </p:nvSpPr>
        <p:spPr>
          <a:xfrm>
            <a:off x="2666991" y="2750784"/>
            <a:ext cx="91440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●"/>
            </a:pPr>
            <a:r>
              <a:rPr b="1" i="0" lang="pt-BR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Definição:</a:t>
            </a:r>
            <a:endParaRPr b="1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pt-BR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 entidade “A” pode se relacionar com muitas entidades “B”, mas cada entidade “B” só pode se relacionar com uma entidade “A”.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631187f71f_0_11"/>
          <p:cNvSpPr txBox="1"/>
          <p:nvPr/>
        </p:nvSpPr>
        <p:spPr>
          <a:xfrm>
            <a:off x="2666991" y="4454547"/>
            <a:ext cx="91440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●"/>
            </a:pPr>
            <a:r>
              <a:rPr b="1" i="0" lang="pt-BR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 Simples:</a:t>
            </a:r>
            <a:endParaRPr b="1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○"/>
            </a:pPr>
            <a:r>
              <a:rPr b="1" i="0" lang="pt-BR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Aluno e Turma:</a:t>
            </a:r>
            <a:r>
              <a:rPr b="0" i="0" lang="pt-BR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Uma turma tem muitos alunos, mas cada aluno pertence a uma única turma.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○"/>
            </a:pPr>
            <a:r>
              <a:rPr b="1" i="0" lang="pt-BR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Cliente e Pedido:</a:t>
            </a:r>
            <a:r>
              <a:rPr b="0" i="0" lang="pt-BR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Um cliente pode fazer vários pedidos, mas cada pedido é de um cliente só.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3631187f71f_0_11"/>
          <p:cNvSpPr txBox="1"/>
          <p:nvPr/>
        </p:nvSpPr>
        <p:spPr>
          <a:xfrm>
            <a:off x="2762551" y="6542925"/>
            <a:ext cx="10272000" cy="27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●"/>
            </a:pPr>
            <a:r>
              <a:rPr b="1" i="0" lang="pt-BR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 Prático:</a:t>
            </a:r>
            <a:br>
              <a:rPr b="0" i="0" lang="pt-BR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Pense em uma sala de aula: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○"/>
            </a:pPr>
            <a:r>
              <a:rPr b="1" i="0" lang="pt-BR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Sala (Turma) = </a:t>
            </a:r>
            <a:r>
              <a:rPr b="0" i="0" lang="pt-BR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○"/>
            </a:pPr>
            <a:r>
              <a:rPr b="1" i="0" lang="pt-BR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Alunos = </a:t>
            </a:r>
            <a:r>
              <a:rPr b="0" i="0" lang="pt-BR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Muitos</a:t>
            </a:r>
            <a:br>
              <a:rPr b="0" i="0" lang="pt-BR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pt-BR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1" lang="pt-BR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Todos os alunos daquela sala</a:t>
            </a:r>
            <a:r>
              <a:rPr b="0" i="1" lang="pt-BR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estão ligados à mesma turma.</a:t>
            </a:r>
            <a:endParaRPr b="0" i="1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g3631187f71f_0_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95665" y="377016"/>
            <a:ext cx="2781299" cy="2781299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g3631187f71f_0_24"/>
          <p:cNvSpPr txBox="1"/>
          <p:nvPr/>
        </p:nvSpPr>
        <p:spPr>
          <a:xfrm>
            <a:off x="2048641" y="1580784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Tipos de Relacionamento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3631187f71f_0_24"/>
          <p:cNvSpPr txBox="1"/>
          <p:nvPr/>
        </p:nvSpPr>
        <p:spPr>
          <a:xfrm>
            <a:off x="1510566" y="2165784"/>
            <a:ext cx="914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pt-BR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2.2. Relacionamento N:1 (Muitos para Um)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3631187f71f_0_24"/>
          <p:cNvSpPr txBox="1"/>
          <p:nvPr/>
        </p:nvSpPr>
        <p:spPr>
          <a:xfrm>
            <a:off x="2666991" y="2750784"/>
            <a:ext cx="91440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●"/>
            </a:pPr>
            <a:r>
              <a:rPr b="1" i="0" lang="pt-BR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Definição:</a:t>
            </a:r>
            <a:endParaRPr b="1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pt-BR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Muitos registros de uma entidade “A” se relacionam com um único registro de outra entidade “B”.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3631187f71f_0_24"/>
          <p:cNvSpPr txBox="1"/>
          <p:nvPr/>
        </p:nvSpPr>
        <p:spPr>
          <a:xfrm>
            <a:off x="2666991" y="3997347"/>
            <a:ext cx="91440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●"/>
            </a:pPr>
            <a:r>
              <a:rPr b="1" i="0" lang="pt-BR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 Simples:</a:t>
            </a:r>
            <a:endParaRPr b="1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○"/>
            </a:pPr>
            <a:r>
              <a:rPr b="1" i="0" lang="pt-BR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Pedido e Cliente: </a:t>
            </a:r>
            <a:r>
              <a:rPr b="0" i="0" lang="pt-BR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Muitos pedidos podem pertencer ao mesmo cliente, mas cada pedido é de apenas um cliente.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g3631187f71f_0_24"/>
          <p:cNvSpPr txBox="1"/>
          <p:nvPr/>
        </p:nvSpPr>
        <p:spPr>
          <a:xfrm>
            <a:off x="2781651" y="5244150"/>
            <a:ext cx="102720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●"/>
            </a:pPr>
            <a:r>
              <a:rPr b="1" i="0" lang="pt-BR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 Prático:</a:t>
            </a:r>
            <a:br>
              <a:rPr b="0" i="0" lang="pt-BR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 o inverso do 1:N, só mudando o ponto de vista.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1" lang="pt-BR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Muitos pedidos → </a:t>
            </a:r>
            <a:r>
              <a:rPr b="0" i="1" lang="pt-BR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 cliente</a:t>
            </a:r>
            <a:endParaRPr b="0" i="1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g3631187f71f_0_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95665" y="377016"/>
            <a:ext cx="2781299" cy="2781299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g3631187f71f_0_35"/>
          <p:cNvSpPr txBox="1"/>
          <p:nvPr/>
        </p:nvSpPr>
        <p:spPr>
          <a:xfrm>
            <a:off x="2048641" y="1580784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Tipos de Relacionamento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631187f71f_0_35"/>
          <p:cNvSpPr txBox="1"/>
          <p:nvPr/>
        </p:nvSpPr>
        <p:spPr>
          <a:xfrm>
            <a:off x="1510566" y="2165784"/>
            <a:ext cx="914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pt-BR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2.3. Relacionamento N:N (Muitos para Muitos)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g3631187f71f_0_35"/>
          <p:cNvSpPr txBox="1"/>
          <p:nvPr/>
        </p:nvSpPr>
        <p:spPr>
          <a:xfrm>
            <a:off x="2666991" y="2750784"/>
            <a:ext cx="91440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●"/>
            </a:pPr>
            <a:r>
              <a:rPr b="1" i="0" lang="pt-BR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Definição:</a:t>
            </a:r>
            <a:endParaRPr b="1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pt-BR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 entidade “A” pode se relacionar com muitas entidades “B”, e uma entidade “B” pode se relacionar com muitas entidades “A”.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631187f71f_0_35"/>
          <p:cNvSpPr txBox="1"/>
          <p:nvPr/>
        </p:nvSpPr>
        <p:spPr>
          <a:xfrm>
            <a:off x="2666991" y="4382472"/>
            <a:ext cx="9144000" cy="27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●"/>
            </a:pPr>
            <a:r>
              <a:rPr b="1" i="0" lang="pt-BR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 Simples:</a:t>
            </a:r>
            <a:endParaRPr b="1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○"/>
            </a:pPr>
            <a:r>
              <a:rPr b="1" i="0" lang="pt-BR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Aluno e Disciplina:</a:t>
            </a:r>
            <a:endParaRPr b="1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pt-BR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 aluno pode cursar várias disciplinas e uma disciplina pode ser cursada por vários alunos.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○"/>
            </a:pPr>
            <a:r>
              <a:rPr b="1" i="0" lang="pt-BR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Professor e Turma:</a:t>
            </a:r>
            <a:endParaRPr b="1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pt-BR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 professor pode ensinar várias turmas, e uma turma pode ter vários professores.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g3631187f71f_0_35"/>
          <p:cNvSpPr txBox="1"/>
          <p:nvPr/>
        </p:nvSpPr>
        <p:spPr>
          <a:xfrm>
            <a:off x="2667000" y="7168575"/>
            <a:ext cx="14343600" cy="27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●"/>
            </a:pPr>
            <a:r>
              <a:rPr b="1" i="0" lang="pt-BR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 Prático:</a:t>
            </a:r>
            <a:br>
              <a:rPr b="0" i="0" lang="pt-BR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Pense em um grupo de WhatsApp: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1" lang="pt-BR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Vários participantes podem estar em vários grupos ao mesmo tempo.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br>
              <a:rPr b="0" i="0" lang="pt-BR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Como Implementar no Banco de Dados:</a:t>
            </a:r>
            <a:endParaRPr b="1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pt-BR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Normalmente é criada uma tabela intermediária (tabela de junção) para representar esse relacionamento.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g3631187f71f_0_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95665" y="377016"/>
            <a:ext cx="2781299" cy="278129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g3631187f71f_0_46"/>
          <p:cNvSpPr txBox="1"/>
          <p:nvPr/>
        </p:nvSpPr>
        <p:spPr>
          <a:xfrm>
            <a:off x="2048641" y="1580784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Resumo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3631187f71f_0_46"/>
          <p:cNvSpPr txBox="1"/>
          <p:nvPr/>
        </p:nvSpPr>
        <p:spPr>
          <a:xfrm>
            <a:off x="2361250" y="2689375"/>
            <a:ext cx="125079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19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</a:pPr>
            <a:r>
              <a:rPr b="1" i="0" lang="pt-BR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1:N – </a:t>
            </a:r>
            <a:r>
              <a:rPr b="0" i="0" lang="pt-BR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 registro está ligado a vários outros (Ex: Turma → Alunos)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</a:pPr>
            <a:r>
              <a:rPr b="1" i="0" lang="pt-BR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N:1 – </a:t>
            </a:r>
            <a:r>
              <a:rPr b="0" i="0" lang="pt-BR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Muitos registros ligados a um só (Ex: Pedidos → Cliente)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</a:pPr>
            <a:r>
              <a:rPr b="1" i="0" lang="pt-BR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N:N – </a:t>
            </a:r>
            <a:r>
              <a:rPr b="0" i="0" lang="pt-BR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Muitos registros ligados a muitos registros (Ex: Alunos ↔ Disciplinas)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4" name="Google Shape;204;g3631187f71f_0_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20875" y="4449125"/>
            <a:ext cx="3871775" cy="545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"/>
          <p:cNvSpPr/>
          <p:nvPr/>
        </p:nvSpPr>
        <p:spPr>
          <a:xfrm>
            <a:off x="136000" y="-76778"/>
            <a:ext cx="13318500" cy="28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i="0" lang="pt-BR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Entidades: Transformando o mundo real em código</a:t>
            </a:r>
            <a:endParaRPr b="1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t/>
            </a:r>
            <a:endParaRPr b="1" sz="4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00">
                <a:solidFill>
                  <a:schemeClr val="dk1"/>
                </a:solidFill>
              </a:rPr>
              <a:t>Uma </a:t>
            </a:r>
            <a:r>
              <a:rPr b="1" lang="pt-BR" sz="1700">
                <a:solidFill>
                  <a:schemeClr val="dk1"/>
                </a:solidFill>
              </a:rPr>
              <a:t>entidade</a:t>
            </a:r>
            <a:r>
              <a:rPr lang="pt-BR" sz="1700">
                <a:solidFill>
                  <a:schemeClr val="dk1"/>
                </a:solidFill>
              </a:rPr>
              <a:t> é uma classe Java anotada com </a:t>
            </a:r>
            <a:r>
              <a:rPr lang="pt-BR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@Entity</a:t>
            </a:r>
            <a:r>
              <a:rPr lang="pt-BR" sz="1700">
                <a:solidFill>
                  <a:schemeClr val="dk1"/>
                </a:solidFill>
              </a:rPr>
              <a:t>, representando uma </a:t>
            </a:r>
            <a:r>
              <a:rPr b="1" lang="pt-BR" sz="1700">
                <a:solidFill>
                  <a:schemeClr val="dk1"/>
                </a:solidFill>
              </a:rPr>
              <a:t>tabela</a:t>
            </a:r>
            <a:r>
              <a:rPr lang="pt-BR" sz="1700">
                <a:solidFill>
                  <a:schemeClr val="dk1"/>
                </a:solidFill>
              </a:rPr>
              <a:t> no banco de dados.</a:t>
            </a:r>
            <a:endParaRPr sz="17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pt-BR" sz="1700">
                <a:solidFill>
                  <a:schemeClr val="dk1"/>
                </a:solidFill>
              </a:rPr>
              <a:t>Cada atributo da classe corresponde a uma </a:t>
            </a:r>
            <a:r>
              <a:rPr b="1" lang="pt-BR" sz="1700">
                <a:solidFill>
                  <a:schemeClr val="dk1"/>
                </a:solidFill>
              </a:rPr>
              <a:t>coluna</a:t>
            </a:r>
            <a:r>
              <a:rPr lang="pt-BR" sz="1700">
                <a:solidFill>
                  <a:schemeClr val="dk1"/>
                </a:solidFill>
              </a:rPr>
              <a:t> da tabela.</a:t>
            </a:r>
            <a:endParaRPr sz="46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t/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0" name="Google Shape;210;p8"/>
          <p:cNvPicPr preferRelativeResize="0"/>
          <p:nvPr/>
        </p:nvPicPr>
        <p:blipFill rotWithShape="1">
          <a:blip r:embed="rId3">
            <a:alphaModFix/>
          </a:blip>
          <a:srcRect b="37500" l="30967" r="29737" t="35416"/>
          <a:stretch/>
        </p:blipFill>
        <p:spPr>
          <a:xfrm>
            <a:off x="136000" y="2406680"/>
            <a:ext cx="9318528" cy="3785652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8"/>
          <p:cNvSpPr txBox="1"/>
          <p:nvPr/>
        </p:nvSpPr>
        <p:spPr>
          <a:xfrm>
            <a:off x="136000" y="6870425"/>
            <a:ext cx="6717900" cy="24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@Entity</a:t>
            </a:r>
            <a:r>
              <a:rPr lang="pt-BR" sz="1900">
                <a:solidFill>
                  <a:schemeClr val="dk1"/>
                </a:solidFill>
              </a:rPr>
              <a:t>: define que a classe será mapeada como tabela.</a:t>
            </a:r>
            <a:br>
              <a:rPr lang="pt-BR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@Id</a:t>
            </a:r>
            <a:r>
              <a:rPr lang="pt-BR" sz="1900">
                <a:solidFill>
                  <a:schemeClr val="dk1"/>
                </a:solidFill>
              </a:rPr>
              <a:t>: identifica a chave primária.</a:t>
            </a:r>
            <a:br>
              <a:rPr lang="pt-BR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@GeneratedValue</a:t>
            </a:r>
            <a:r>
              <a:rPr lang="pt-BR" sz="1900">
                <a:solidFill>
                  <a:schemeClr val="dk1"/>
                </a:solidFill>
              </a:rPr>
              <a:t>: gera o valor da chave automaticamente.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2" name="Google Shape;21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33750" y="1208350"/>
            <a:ext cx="7688175" cy="6182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8"/>
          <p:cNvSpPr txBox="1"/>
          <p:nvPr/>
        </p:nvSpPr>
        <p:spPr>
          <a:xfrm>
            <a:off x="10433750" y="7838400"/>
            <a:ext cx="6056100" cy="26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600">
                <a:solidFill>
                  <a:schemeClr val="dk1"/>
                </a:solidFill>
              </a:rPr>
              <a:t>O </a:t>
            </a:r>
            <a:r>
              <a:rPr b="1" lang="pt-BR" sz="1600">
                <a:solidFill>
                  <a:schemeClr val="dk1"/>
                </a:solidFill>
              </a:rPr>
              <a:t>mapeamento ORM</a:t>
            </a:r>
            <a:r>
              <a:rPr lang="pt-BR" sz="1600">
                <a:solidFill>
                  <a:schemeClr val="dk1"/>
                </a:solidFill>
              </a:rPr>
              <a:t> vem de </a:t>
            </a:r>
            <a:r>
              <a:rPr b="1" lang="pt-BR" sz="1600">
                <a:solidFill>
                  <a:schemeClr val="dk1"/>
                </a:solidFill>
              </a:rPr>
              <a:t>Object-Relational Mapping</a:t>
            </a:r>
            <a:r>
              <a:rPr lang="pt-BR" sz="1600">
                <a:solidFill>
                  <a:schemeClr val="dk1"/>
                </a:solidFill>
              </a:rPr>
              <a:t> (</a:t>
            </a:r>
            <a:r>
              <a:rPr i="1" lang="pt-BR" sz="1600">
                <a:solidFill>
                  <a:schemeClr val="dk1"/>
                </a:solidFill>
              </a:rPr>
              <a:t>Mapeamento Objeto-Relacional</a:t>
            </a:r>
            <a:r>
              <a:rPr lang="pt-BR" sz="1600">
                <a:solidFill>
                  <a:schemeClr val="dk1"/>
                </a:solidFill>
              </a:rPr>
              <a:t>).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600">
                <a:solidFill>
                  <a:schemeClr val="dk1"/>
                </a:solidFill>
              </a:rPr>
              <a:t>Basicamente, é a técnica que permite que </a:t>
            </a:r>
            <a:r>
              <a:rPr b="1" lang="pt-BR" sz="1600">
                <a:solidFill>
                  <a:schemeClr val="dk1"/>
                </a:solidFill>
              </a:rPr>
              <a:t>objetos</a:t>
            </a:r>
            <a:r>
              <a:rPr lang="pt-BR" sz="1600">
                <a:solidFill>
                  <a:schemeClr val="dk1"/>
                </a:solidFill>
              </a:rPr>
              <a:t> da sua aplicação (como a classe </a:t>
            </a:r>
            <a:r>
              <a:rPr lang="pt-B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Cliente</a:t>
            </a:r>
            <a:r>
              <a:rPr lang="pt-BR" sz="1600">
                <a:solidFill>
                  <a:schemeClr val="dk1"/>
                </a:solidFill>
              </a:rPr>
              <a:t> em Java) sejam </a:t>
            </a:r>
            <a:r>
              <a:rPr b="1" lang="pt-BR" sz="1600">
                <a:solidFill>
                  <a:schemeClr val="dk1"/>
                </a:solidFill>
              </a:rPr>
              <a:t>automaticamente ligados</a:t>
            </a:r>
            <a:r>
              <a:rPr lang="pt-BR" sz="1600">
                <a:solidFill>
                  <a:schemeClr val="dk1"/>
                </a:solidFill>
              </a:rPr>
              <a:t> a </a:t>
            </a:r>
            <a:r>
              <a:rPr b="1" lang="pt-BR" sz="1600">
                <a:solidFill>
                  <a:schemeClr val="dk1"/>
                </a:solidFill>
              </a:rPr>
              <a:t>tabelas</a:t>
            </a:r>
            <a:r>
              <a:rPr lang="pt-BR" sz="1600">
                <a:solidFill>
                  <a:schemeClr val="dk1"/>
                </a:solidFill>
              </a:rPr>
              <a:t> do banco de dados relacional (como a tabela </a:t>
            </a:r>
            <a:r>
              <a:rPr lang="pt-B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cliente</a:t>
            </a:r>
            <a:r>
              <a:rPr lang="pt-BR" sz="1600">
                <a:solidFill>
                  <a:schemeClr val="dk1"/>
                </a:solidFill>
              </a:rPr>
              <a:t>).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"/>
          <p:cNvSpPr txBox="1"/>
          <p:nvPr/>
        </p:nvSpPr>
        <p:spPr>
          <a:xfrm>
            <a:off x="587050" y="300989"/>
            <a:ext cx="102108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pt-BR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Relacionamentos entre Entidades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34025" y="1155744"/>
            <a:ext cx="5688100" cy="797552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0"/>
          <p:cNvSpPr txBox="1"/>
          <p:nvPr/>
        </p:nvSpPr>
        <p:spPr>
          <a:xfrm>
            <a:off x="638700" y="1540225"/>
            <a:ext cx="6717900" cy="79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00">
                <a:solidFill>
                  <a:schemeClr val="dk1"/>
                </a:solidFill>
              </a:rPr>
              <a:t>No </a:t>
            </a:r>
            <a:r>
              <a:rPr b="1" lang="pt-BR" sz="1700">
                <a:solidFill>
                  <a:schemeClr val="dk1"/>
                </a:solidFill>
              </a:rPr>
              <a:t>JPA</a:t>
            </a:r>
            <a:r>
              <a:rPr lang="pt-BR" sz="1700">
                <a:solidFill>
                  <a:schemeClr val="dk1"/>
                </a:solidFill>
              </a:rPr>
              <a:t> (Java Persistence API), usamos </a:t>
            </a:r>
            <a:r>
              <a:rPr b="1" lang="pt-BR" sz="1700">
                <a:solidFill>
                  <a:schemeClr val="dk1"/>
                </a:solidFill>
              </a:rPr>
              <a:t>anotações</a:t>
            </a:r>
            <a:r>
              <a:rPr lang="pt-BR" sz="1700">
                <a:solidFill>
                  <a:schemeClr val="dk1"/>
                </a:solidFill>
              </a:rPr>
              <a:t> para definir como as entidades se relacionam no banco de dados.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pt-BR" sz="1700">
                <a:solidFill>
                  <a:schemeClr val="dk1"/>
                </a:solidFill>
              </a:rPr>
              <a:t>1 para 1 — </a:t>
            </a:r>
            <a:r>
              <a:rPr b="1" lang="pt-BR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@OneToOne</a:t>
            </a:r>
            <a:br>
              <a:rPr b="1" lang="pt-BR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pt-BR" sz="1700">
                <a:solidFill>
                  <a:schemeClr val="dk1"/>
                </a:solidFill>
              </a:rPr>
              <a:t> Um registro está vinculado a exatamente um outro.</a:t>
            </a:r>
            <a:br>
              <a:rPr lang="pt-BR" sz="1700">
                <a:solidFill>
                  <a:schemeClr val="dk1"/>
                </a:solidFill>
              </a:rPr>
            </a:br>
            <a:r>
              <a:rPr lang="pt-BR" sz="1700">
                <a:solidFill>
                  <a:schemeClr val="dk1"/>
                </a:solidFill>
              </a:rPr>
              <a:t> </a:t>
            </a:r>
            <a:r>
              <a:rPr i="1" lang="pt-BR" sz="1700">
                <a:solidFill>
                  <a:schemeClr val="dk1"/>
                </a:solidFill>
              </a:rPr>
              <a:t>Exemplo:</a:t>
            </a:r>
            <a:r>
              <a:rPr lang="pt-BR" sz="1700">
                <a:solidFill>
                  <a:schemeClr val="dk1"/>
                </a:solidFill>
              </a:rPr>
              <a:t> Cliente ↔ CPF.</a:t>
            </a:r>
            <a:br>
              <a:rPr lang="pt-BR" sz="1700">
                <a:solidFill>
                  <a:schemeClr val="dk1"/>
                </a:solidFill>
              </a:rPr>
            </a:br>
            <a:r>
              <a:rPr lang="pt-BR" sz="1700">
                <a:solidFill>
                  <a:schemeClr val="dk1"/>
                </a:solidFill>
              </a:rPr>
              <a:t> Usar quando a relação é exclusiva em ambos os lados.</a:t>
            </a:r>
            <a:br>
              <a:rPr lang="pt-BR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pt-BR" sz="1700">
                <a:solidFill>
                  <a:schemeClr val="dk1"/>
                </a:solidFill>
              </a:rPr>
              <a:t>1 para Muitos — </a:t>
            </a:r>
            <a:r>
              <a:rPr b="1" lang="pt-BR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@OneToMany</a:t>
            </a:r>
            <a:br>
              <a:rPr b="1" lang="pt-BR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pt-BR" sz="1700">
                <a:solidFill>
                  <a:schemeClr val="dk1"/>
                </a:solidFill>
              </a:rPr>
              <a:t> Um registro se relaciona com vários de outra entidade.</a:t>
            </a:r>
            <a:br>
              <a:rPr lang="pt-BR" sz="1700">
                <a:solidFill>
                  <a:schemeClr val="dk1"/>
                </a:solidFill>
              </a:rPr>
            </a:br>
            <a:r>
              <a:rPr lang="pt-BR" sz="1700">
                <a:solidFill>
                  <a:schemeClr val="dk1"/>
                </a:solidFill>
              </a:rPr>
              <a:t> </a:t>
            </a:r>
            <a:r>
              <a:rPr i="1" lang="pt-BR" sz="1700">
                <a:solidFill>
                  <a:schemeClr val="dk1"/>
                </a:solidFill>
              </a:rPr>
              <a:t>Exemplo:</a:t>
            </a:r>
            <a:r>
              <a:rPr lang="pt-BR" sz="1700">
                <a:solidFill>
                  <a:schemeClr val="dk1"/>
                </a:solidFill>
              </a:rPr>
              <a:t> Restaurante → Produtos.</a:t>
            </a:r>
            <a:br>
              <a:rPr lang="pt-BR" sz="1700">
                <a:solidFill>
                  <a:schemeClr val="dk1"/>
                </a:solidFill>
              </a:rPr>
            </a:br>
            <a:r>
              <a:rPr lang="pt-BR" sz="1700">
                <a:solidFill>
                  <a:schemeClr val="dk1"/>
                </a:solidFill>
              </a:rPr>
              <a:t> Usar no lado "1" do relacionamento.</a:t>
            </a:r>
            <a:br>
              <a:rPr lang="pt-BR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pt-BR" sz="1700">
                <a:solidFill>
                  <a:schemeClr val="dk1"/>
                </a:solidFill>
              </a:rPr>
              <a:t>Muitos para 1 — </a:t>
            </a:r>
            <a:r>
              <a:rPr b="1" lang="pt-BR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@ManyToOne</a:t>
            </a:r>
            <a:br>
              <a:rPr b="1" lang="pt-BR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pt-BR" sz="1700">
                <a:solidFill>
                  <a:schemeClr val="dk1"/>
                </a:solidFill>
              </a:rPr>
              <a:t> Vários registros apontam para um único registro de outra entidade.</a:t>
            </a:r>
            <a:br>
              <a:rPr lang="pt-BR" sz="1700">
                <a:solidFill>
                  <a:schemeClr val="dk1"/>
                </a:solidFill>
              </a:rPr>
            </a:br>
            <a:r>
              <a:rPr lang="pt-BR" sz="1700">
                <a:solidFill>
                  <a:schemeClr val="dk1"/>
                </a:solidFill>
              </a:rPr>
              <a:t> </a:t>
            </a:r>
            <a:r>
              <a:rPr i="1" lang="pt-BR" sz="1700">
                <a:solidFill>
                  <a:schemeClr val="dk1"/>
                </a:solidFill>
              </a:rPr>
              <a:t>Exemplo:</a:t>
            </a:r>
            <a:r>
              <a:rPr lang="pt-BR" sz="1700">
                <a:solidFill>
                  <a:schemeClr val="dk1"/>
                </a:solidFill>
              </a:rPr>
              <a:t> Produto → Restaurante.</a:t>
            </a:r>
            <a:br>
              <a:rPr lang="pt-BR" sz="1700">
                <a:solidFill>
                  <a:schemeClr val="dk1"/>
                </a:solidFill>
              </a:rPr>
            </a:br>
            <a:r>
              <a:rPr lang="pt-BR" sz="1700">
                <a:solidFill>
                  <a:schemeClr val="dk1"/>
                </a:solidFill>
              </a:rPr>
              <a:t> Usar no lado "N" do relacionamento.</a:t>
            </a:r>
            <a:br>
              <a:rPr lang="pt-BR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pt-BR" sz="1700">
                <a:solidFill>
                  <a:schemeClr val="dk1"/>
                </a:solidFill>
              </a:rPr>
              <a:t>Muitos para Muitos — </a:t>
            </a:r>
            <a:r>
              <a:rPr b="1" lang="pt-BR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@ManyToMany</a:t>
            </a:r>
            <a:br>
              <a:rPr b="1" lang="pt-BR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pt-BR" sz="1700">
                <a:solidFill>
                  <a:schemeClr val="dk1"/>
                </a:solidFill>
              </a:rPr>
              <a:t> Vários registros de uma entidade estão ligados a vários da outra.</a:t>
            </a:r>
            <a:br>
              <a:rPr lang="pt-BR" sz="1700">
                <a:solidFill>
                  <a:schemeClr val="dk1"/>
                </a:solidFill>
              </a:rPr>
            </a:br>
            <a:r>
              <a:rPr lang="pt-BR" sz="1700">
                <a:solidFill>
                  <a:schemeClr val="dk1"/>
                </a:solidFill>
              </a:rPr>
              <a:t> </a:t>
            </a:r>
            <a:r>
              <a:rPr i="1" lang="pt-BR" sz="1700">
                <a:solidFill>
                  <a:schemeClr val="dk1"/>
                </a:solidFill>
              </a:rPr>
              <a:t>Exemplo:</a:t>
            </a:r>
            <a:r>
              <a:rPr lang="pt-BR" sz="1700">
                <a:solidFill>
                  <a:schemeClr val="dk1"/>
                </a:solidFill>
              </a:rPr>
              <a:t> Pedido ↔ Produto (via ItemPedido).</a:t>
            </a:r>
            <a:br>
              <a:rPr lang="pt-BR" sz="1700">
                <a:solidFill>
                  <a:schemeClr val="dk1"/>
                </a:solidFill>
              </a:rPr>
            </a:br>
            <a:r>
              <a:rPr lang="pt-BR" sz="1700">
                <a:solidFill>
                  <a:schemeClr val="dk1"/>
                </a:solidFill>
              </a:rPr>
              <a:t> 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925" y="409000"/>
            <a:ext cx="6400375" cy="759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1"/>
          <p:cNvSpPr txBox="1"/>
          <p:nvPr/>
        </p:nvSpPr>
        <p:spPr>
          <a:xfrm>
            <a:off x="9082900" y="741450"/>
            <a:ext cx="8724000" cy="81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400">
                <a:solidFill>
                  <a:schemeClr val="dk1"/>
                </a:solidFill>
              </a:rPr>
              <a:t>Relacionamento Restaurante → Produto (1:N)</a:t>
            </a:r>
            <a:endParaRPr b="1" sz="24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pt-BR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@OneToMany(mappedBy = "restaurante")</a:t>
            </a:r>
            <a:br>
              <a:rPr b="1" lang="pt-BR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b="1" sz="18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 sz="1800">
                <a:solidFill>
                  <a:schemeClr val="dk1"/>
                </a:solidFill>
              </a:rPr>
              <a:t>Usado no lado </a:t>
            </a:r>
            <a:r>
              <a:rPr b="1" lang="pt-BR" sz="1800">
                <a:solidFill>
                  <a:schemeClr val="dk1"/>
                </a:solidFill>
              </a:rPr>
              <a:t>"1"</a:t>
            </a:r>
            <a:r>
              <a:rPr lang="pt-BR" sz="1800">
                <a:solidFill>
                  <a:schemeClr val="dk1"/>
                </a:solidFill>
              </a:rPr>
              <a:t> do relacionamento.</a:t>
            </a:r>
            <a:br>
              <a:rPr lang="pt-BR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 sz="1800">
                <a:solidFill>
                  <a:schemeClr val="dk1"/>
                </a:solidFill>
              </a:rPr>
              <a:t>Indica que um restaurante pode ter </a:t>
            </a:r>
            <a:r>
              <a:rPr b="1" lang="pt-BR" sz="1800">
                <a:solidFill>
                  <a:schemeClr val="dk1"/>
                </a:solidFill>
              </a:rPr>
              <a:t>vários produtos</a:t>
            </a:r>
            <a:r>
              <a:rPr lang="pt-BR" sz="1800">
                <a:solidFill>
                  <a:schemeClr val="dk1"/>
                </a:solidFill>
              </a:rPr>
              <a:t>.</a:t>
            </a:r>
            <a:br>
              <a:rPr lang="pt-BR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 sz="1800">
                <a:solidFill>
                  <a:schemeClr val="dk1"/>
                </a:solidFill>
              </a:rPr>
              <a:t>O </a:t>
            </a:r>
            <a:r>
              <a:rPr lang="pt-BR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mappedBy</a:t>
            </a:r>
            <a:r>
              <a:rPr lang="pt-BR" sz="1800">
                <a:solidFill>
                  <a:schemeClr val="dk1"/>
                </a:solidFill>
              </a:rPr>
              <a:t> aponta para o nome do atributo que representa o restaurante na outra entidade (</a:t>
            </a:r>
            <a:r>
              <a:rPr lang="pt-BR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Produto</a:t>
            </a:r>
            <a:r>
              <a:rPr lang="pt-BR" sz="1800">
                <a:solidFill>
                  <a:schemeClr val="dk1"/>
                </a:solidFill>
              </a:rPr>
              <a:t>).</a:t>
            </a:r>
            <a:br>
              <a:rPr lang="pt-BR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pt-BR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@ManyToOne</a:t>
            </a:r>
            <a:br>
              <a:rPr b="1" lang="pt-BR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b="1" sz="18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 sz="1800">
                <a:solidFill>
                  <a:schemeClr val="dk1"/>
                </a:solidFill>
              </a:rPr>
              <a:t>Usado no lado </a:t>
            </a:r>
            <a:r>
              <a:rPr b="1" lang="pt-BR" sz="1800">
                <a:solidFill>
                  <a:schemeClr val="dk1"/>
                </a:solidFill>
              </a:rPr>
              <a:t>"N"</a:t>
            </a:r>
            <a:r>
              <a:rPr lang="pt-BR" sz="1800">
                <a:solidFill>
                  <a:schemeClr val="dk1"/>
                </a:solidFill>
              </a:rPr>
              <a:t> do relacionamento.</a:t>
            </a:r>
            <a:br>
              <a:rPr lang="pt-BR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 sz="1800">
                <a:solidFill>
                  <a:schemeClr val="dk1"/>
                </a:solidFill>
              </a:rPr>
              <a:t>Indica que vários produtos pertencem a </a:t>
            </a:r>
            <a:r>
              <a:rPr b="1" lang="pt-BR" sz="1800">
                <a:solidFill>
                  <a:schemeClr val="dk1"/>
                </a:solidFill>
              </a:rPr>
              <a:t>um único restaurante</a:t>
            </a:r>
            <a:r>
              <a:rPr lang="pt-BR" sz="1800">
                <a:solidFill>
                  <a:schemeClr val="dk1"/>
                </a:solidFill>
              </a:rPr>
              <a:t>.</a:t>
            </a:r>
            <a:br>
              <a:rPr lang="pt-BR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pt-BR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@JoinColumn(name = "restaurante_id")</a:t>
            </a:r>
            <a:br>
              <a:rPr b="1" lang="pt-BR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b="1" sz="18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 sz="1800">
                <a:solidFill>
                  <a:schemeClr val="dk1"/>
                </a:solidFill>
              </a:rPr>
              <a:t>Define o nome da coluna no banco que armazenará a chave estrangeira (</a:t>
            </a:r>
            <a:r>
              <a:rPr lang="pt-BR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FK</a:t>
            </a:r>
            <a:r>
              <a:rPr lang="pt-BR" sz="1800">
                <a:solidFill>
                  <a:schemeClr val="dk1"/>
                </a:solidFill>
              </a:rPr>
              <a:t>) ligando o produto ao restaurante.</a:t>
            </a:r>
            <a:br>
              <a:rPr lang="pt-BR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 sz="1800">
                <a:solidFill>
                  <a:schemeClr val="dk1"/>
                </a:solidFill>
              </a:rPr>
              <a:t>Garante o vínculo entre as tabelas no banco de dados.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 txBox="1"/>
          <p:nvPr/>
        </p:nvSpPr>
        <p:spPr>
          <a:xfrm>
            <a:off x="3344575" y="8934750"/>
            <a:ext cx="115932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dk1"/>
                </a:solidFill>
                <a:highlight>
                  <a:srgbClr val="FFFF00"/>
                </a:highlight>
              </a:rPr>
              <a:t>Cada restaurante possui uma lista de produtos, e cada produto sabe a qual restaurante pertence. O JPA cuida de criar e gerenciar essa relação no banco automaticamente.</a:t>
            </a:r>
            <a:endParaRPr b="1" sz="3800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000" y="1412025"/>
            <a:ext cx="8239325" cy="6359299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2"/>
          <p:cNvSpPr txBox="1"/>
          <p:nvPr/>
        </p:nvSpPr>
        <p:spPr>
          <a:xfrm>
            <a:off x="627025" y="467200"/>
            <a:ext cx="10018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Spring Data JPA: Como o Repository se conecta ao Banco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/>
          <p:cNvSpPr txBox="1"/>
          <p:nvPr/>
        </p:nvSpPr>
        <p:spPr>
          <a:xfrm>
            <a:off x="9934325" y="1225325"/>
            <a:ext cx="6717900" cy="94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000">
                <a:solidFill>
                  <a:schemeClr val="dk1"/>
                </a:solidFill>
              </a:rPr>
              <a:t>Fluxo do Spring Data JPA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O </a:t>
            </a:r>
            <a:r>
              <a:rPr b="1" lang="pt-BR">
                <a:solidFill>
                  <a:schemeClr val="dk1"/>
                </a:solidFill>
              </a:rPr>
              <a:t>Spring Data JPA</a:t>
            </a:r>
            <a:r>
              <a:rPr lang="pt-BR">
                <a:solidFill>
                  <a:schemeClr val="dk1"/>
                </a:solidFill>
              </a:rPr>
              <a:t> simplifica o acesso ao banco de dados criando uma </a:t>
            </a:r>
            <a:r>
              <a:rPr b="1" lang="pt-BR">
                <a:solidFill>
                  <a:schemeClr val="dk1"/>
                </a:solidFill>
              </a:rPr>
              <a:t>camada de abstração</a:t>
            </a:r>
            <a:r>
              <a:rPr lang="pt-BR">
                <a:solidFill>
                  <a:schemeClr val="dk1"/>
                </a:solidFill>
              </a:rPr>
              <a:t> sobre o </a:t>
            </a:r>
            <a:r>
              <a:rPr b="1" lang="pt-BR">
                <a:solidFill>
                  <a:schemeClr val="dk1"/>
                </a:solidFill>
              </a:rPr>
              <a:t>JPA</a:t>
            </a:r>
            <a:r>
              <a:rPr lang="pt-BR">
                <a:solidFill>
                  <a:schemeClr val="dk1"/>
                </a:solidFill>
              </a:rPr>
              <a:t> e o </a:t>
            </a:r>
            <a:r>
              <a:rPr b="1" lang="pt-BR">
                <a:solidFill>
                  <a:schemeClr val="dk1"/>
                </a:solidFill>
              </a:rPr>
              <a:t>Hibernate</a:t>
            </a:r>
            <a:r>
              <a:rPr lang="pt-BR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pt-BR">
                <a:solidFill>
                  <a:schemeClr val="dk1"/>
                </a:solidFill>
              </a:rPr>
              <a:t>Repository</a:t>
            </a:r>
            <a:br>
              <a:rPr b="1" lang="pt-BR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pt-BR">
                <a:solidFill>
                  <a:schemeClr val="dk1"/>
                </a:solidFill>
              </a:rPr>
              <a:t>Interface Java que estende </a:t>
            </a: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JpaRepository</a:t>
            </a:r>
            <a:r>
              <a:rPr lang="pt-BR">
                <a:solidFill>
                  <a:schemeClr val="dk1"/>
                </a:solidFill>
              </a:rPr>
              <a:t>.</a:t>
            </a:r>
            <a:br>
              <a:rPr lang="pt-BR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pt-BR">
                <a:solidFill>
                  <a:schemeClr val="dk1"/>
                </a:solidFill>
              </a:rPr>
              <a:t>Você define apenas o método (</a:t>
            </a: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findByNomeContainingIgnoreCase</a:t>
            </a:r>
            <a:r>
              <a:rPr lang="pt-BR">
                <a:solidFill>
                  <a:schemeClr val="dk1"/>
                </a:solidFill>
              </a:rPr>
              <a:t>) e o Spring cria a implementação automaticamente.</a:t>
            </a:r>
            <a:br>
              <a:rPr lang="pt-BR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pt-BR">
                <a:solidFill>
                  <a:schemeClr val="dk1"/>
                </a:solidFill>
              </a:rPr>
              <a:t>Spring Data JPA</a:t>
            </a:r>
            <a:br>
              <a:rPr b="1" lang="pt-BR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pt-BR">
                <a:solidFill>
                  <a:schemeClr val="dk1"/>
                </a:solidFill>
              </a:rPr>
              <a:t>Recebe a chamada do método.</a:t>
            </a:r>
            <a:br>
              <a:rPr lang="pt-BR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pt-BR">
                <a:solidFill>
                  <a:schemeClr val="dk1"/>
                </a:solidFill>
              </a:rPr>
              <a:t>Converte o nome do método em uma consulta SQL ou usa consultas pré-definidas.</a:t>
            </a:r>
            <a:br>
              <a:rPr lang="pt-BR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pt-BR">
                <a:solidFill>
                  <a:schemeClr val="dk1"/>
                </a:solidFill>
              </a:rPr>
              <a:t>Executa operações CRUD sem necessidade de escrever SQL manual.</a:t>
            </a:r>
            <a:br>
              <a:rPr lang="pt-BR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pt-BR">
                <a:solidFill>
                  <a:schemeClr val="dk1"/>
                </a:solidFill>
              </a:rPr>
              <a:t>Banco de Dados</a:t>
            </a:r>
            <a:br>
              <a:rPr b="1" lang="pt-BR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pt-BR">
                <a:solidFill>
                  <a:schemeClr val="dk1"/>
                </a:solidFill>
              </a:rPr>
              <a:t>Recebe a query gerada e retorna os dados para o JPA.</a:t>
            </a:r>
            <a:br>
              <a:rPr lang="pt-BR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pt-BR">
                <a:solidFill>
                  <a:schemeClr val="dk1"/>
                </a:solidFill>
              </a:rPr>
              <a:t>O resultado é convertido em objetos Java prontos para uso.</a:t>
            </a:r>
            <a:br>
              <a:rPr lang="pt-BR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>
                <a:solidFill>
                  <a:schemeClr val="dk1"/>
                </a:solidFill>
              </a:rPr>
              <a:t>Benefícios principais: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>
                <a:solidFill>
                  <a:schemeClr val="dk1"/>
                </a:solidFill>
              </a:rPr>
              <a:t>Menos código repetitivo.</a:t>
            </a:r>
            <a:br>
              <a:rPr lang="pt-BR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>
                <a:solidFill>
                  <a:schemeClr val="dk1"/>
                </a:solidFill>
              </a:rPr>
              <a:t>Consultas automáticas baseadas no nome do método.</a:t>
            </a:r>
            <a:br>
              <a:rPr lang="pt-BR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>
                <a:solidFill>
                  <a:schemeClr val="dk1"/>
                </a:solidFill>
              </a:rPr>
              <a:t>Integração direta com o Hibernate e outras implementações JPA.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91025" y="821062"/>
            <a:ext cx="3635375" cy="905337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3"/>
          <p:cNvSpPr txBox="1"/>
          <p:nvPr/>
        </p:nvSpPr>
        <p:spPr>
          <a:xfrm>
            <a:off x="2073275" y="642175"/>
            <a:ext cx="6717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 que usar Spring Data JPA?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3"/>
          <p:cNvSpPr txBox="1"/>
          <p:nvPr/>
        </p:nvSpPr>
        <p:spPr>
          <a:xfrm>
            <a:off x="452075" y="1836400"/>
            <a:ext cx="6717900" cy="70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>
                <a:solidFill>
                  <a:schemeClr val="dk1"/>
                </a:solidFill>
              </a:rPr>
              <a:t>Antes do </a:t>
            </a:r>
            <a:r>
              <a:rPr b="1" lang="pt-BR" sz="1500">
                <a:solidFill>
                  <a:schemeClr val="dk1"/>
                </a:solidFill>
              </a:rPr>
              <a:t>Spring Data JPA</a:t>
            </a:r>
            <a:r>
              <a:rPr lang="pt-BR" sz="1500">
                <a:solidFill>
                  <a:schemeClr val="dk1"/>
                </a:solidFill>
              </a:rPr>
              <a:t>, era necessário escrever muito </a:t>
            </a:r>
            <a:r>
              <a:rPr b="1" lang="pt-BR" sz="1500">
                <a:solidFill>
                  <a:schemeClr val="dk1"/>
                </a:solidFill>
              </a:rPr>
              <a:t>código repetitivo</a:t>
            </a:r>
            <a:r>
              <a:rPr lang="pt-BR" sz="1500">
                <a:solidFill>
                  <a:schemeClr val="dk1"/>
                </a:solidFill>
              </a:rPr>
              <a:t> para conectar, consultar, salvar e remover dados do banco.</a:t>
            </a:r>
            <a:br>
              <a:rPr lang="pt-BR" sz="1500">
                <a:solidFill>
                  <a:schemeClr val="dk1"/>
                </a:solidFill>
              </a:rPr>
            </a:br>
            <a:r>
              <a:rPr lang="pt-BR" sz="1500">
                <a:solidFill>
                  <a:schemeClr val="dk1"/>
                </a:solidFill>
              </a:rPr>
              <a:t> Isso exigia SQL manual e várias linhas de código “boilerplate” (estruturas padrão repetidas).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>
                <a:solidFill>
                  <a:schemeClr val="dk1"/>
                </a:solidFill>
              </a:rPr>
              <a:t>Com o </a:t>
            </a:r>
            <a:r>
              <a:rPr b="1" lang="pt-BR" sz="1500">
                <a:solidFill>
                  <a:schemeClr val="dk1"/>
                </a:solidFill>
              </a:rPr>
              <a:t>Spring Data JPA</a:t>
            </a:r>
            <a:r>
              <a:rPr lang="pt-BR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pt-BR" sz="1500">
                <a:solidFill>
                  <a:schemeClr val="dk1"/>
                </a:solidFill>
              </a:rPr>
              <a:t>Você cria </a:t>
            </a:r>
            <a:r>
              <a:rPr b="1" lang="pt-BR" sz="1500">
                <a:solidFill>
                  <a:schemeClr val="dk1"/>
                </a:solidFill>
              </a:rPr>
              <a:t>interfaces simples</a:t>
            </a:r>
            <a:r>
              <a:rPr lang="pt-BR" sz="1500">
                <a:solidFill>
                  <a:schemeClr val="dk1"/>
                </a:solidFill>
              </a:rPr>
              <a:t> que estendem </a:t>
            </a:r>
            <a:r>
              <a:rPr lang="pt-BR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JpaRepository</a:t>
            </a:r>
            <a:r>
              <a:rPr lang="pt-BR" sz="1500">
                <a:solidFill>
                  <a:schemeClr val="dk1"/>
                </a:solidFill>
              </a:rPr>
              <a:t>.</a:t>
            </a:r>
            <a:br>
              <a:rPr lang="pt-BR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pt-BR" sz="1500">
                <a:solidFill>
                  <a:schemeClr val="dk1"/>
                </a:solidFill>
              </a:rPr>
              <a:t>Os métodos são </a:t>
            </a:r>
            <a:r>
              <a:rPr b="1" lang="pt-BR" sz="1500">
                <a:solidFill>
                  <a:schemeClr val="dk1"/>
                </a:solidFill>
              </a:rPr>
              <a:t>gerados automaticamente</a:t>
            </a:r>
            <a:r>
              <a:rPr lang="pt-BR" sz="1500">
                <a:solidFill>
                  <a:schemeClr val="dk1"/>
                </a:solidFill>
              </a:rPr>
              <a:t> pelo Spring em tempo de execução.</a:t>
            </a:r>
            <a:br>
              <a:rPr lang="pt-BR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pt-BR" sz="1500">
                <a:solidFill>
                  <a:schemeClr val="dk1"/>
                </a:solidFill>
              </a:rPr>
              <a:t>A comunicação com o banco é feita </a:t>
            </a:r>
            <a:r>
              <a:rPr b="1" lang="pt-BR" sz="1500">
                <a:solidFill>
                  <a:schemeClr val="dk1"/>
                </a:solidFill>
              </a:rPr>
              <a:t>sem SQL explícito</a:t>
            </a:r>
            <a:r>
              <a:rPr lang="pt-BR" sz="1500">
                <a:solidFill>
                  <a:schemeClr val="dk1"/>
                </a:solidFill>
              </a:rPr>
              <a:t> na maior parte dos casos.</a:t>
            </a:r>
            <a:br>
              <a:rPr lang="pt-BR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500">
                <a:solidFill>
                  <a:schemeClr val="dk1"/>
                </a:solidFill>
              </a:rPr>
              <a:t>Benefícios diretos</a:t>
            </a:r>
            <a:r>
              <a:rPr lang="pt-BR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pt-BR" sz="1500">
                <a:solidFill>
                  <a:schemeClr val="dk1"/>
                </a:solidFill>
              </a:rPr>
              <a:t> </a:t>
            </a:r>
            <a:r>
              <a:rPr b="1" lang="pt-BR" sz="1500">
                <a:solidFill>
                  <a:schemeClr val="dk1"/>
                </a:solidFill>
              </a:rPr>
              <a:t>Redução de código</a:t>
            </a:r>
            <a:r>
              <a:rPr lang="pt-BR" sz="1500">
                <a:solidFill>
                  <a:schemeClr val="dk1"/>
                </a:solidFill>
              </a:rPr>
              <a:t> — menos linhas para fazer mais.</a:t>
            </a:r>
            <a:br>
              <a:rPr lang="pt-BR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pt-BR" sz="1500">
                <a:solidFill>
                  <a:schemeClr val="dk1"/>
                </a:solidFill>
              </a:rPr>
              <a:t> </a:t>
            </a:r>
            <a:r>
              <a:rPr b="1" lang="pt-BR" sz="1500">
                <a:solidFill>
                  <a:schemeClr val="dk1"/>
                </a:solidFill>
              </a:rPr>
              <a:t>Clareza</a:t>
            </a:r>
            <a:r>
              <a:rPr lang="pt-BR" sz="1500">
                <a:solidFill>
                  <a:schemeClr val="dk1"/>
                </a:solidFill>
              </a:rPr>
              <a:t> — código mais limpo e fácil de entender.</a:t>
            </a:r>
            <a:br>
              <a:rPr lang="pt-BR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pt-BR" sz="1500">
                <a:solidFill>
                  <a:schemeClr val="dk1"/>
                </a:solidFill>
              </a:rPr>
              <a:t> </a:t>
            </a:r>
            <a:r>
              <a:rPr b="1" lang="pt-BR" sz="1500">
                <a:solidFill>
                  <a:schemeClr val="dk1"/>
                </a:solidFill>
              </a:rPr>
              <a:t>Padronização</a:t>
            </a:r>
            <a:r>
              <a:rPr lang="pt-BR" sz="1500">
                <a:solidFill>
                  <a:schemeClr val="dk1"/>
                </a:solidFill>
              </a:rPr>
              <a:t> — segue convenções claras de nomenclatura.</a:t>
            </a:r>
            <a:br>
              <a:rPr lang="pt-BR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pt-BR" sz="1500">
                <a:solidFill>
                  <a:schemeClr val="dk1"/>
                </a:solidFill>
              </a:rPr>
              <a:t> </a:t>
            </a:r>
            <a:r>
              <a:rPr b="1" lang="pt-BR" sz="1500">
                <a:solidFill>
                  <a:schemeClr val="dk1"/>
                </a:solidFill>
              </a:rPr>
              <a:t>Agilidade</a:t>
            </a:r>
            <a:r>
              <a:rPr lang="pt-BR" sz="1500">
                <a:solidFill>
                  <a:schemeClr val="dk1"/>
                </a:solidFill>
              </a:rPr>
              <a:t> — desenvolvimento mais rápido e com menos erros.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68300" y="1486675"/>
            <a:ext cx="4802425" cy="6960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4"/>
          <p:cNvSpPr txBox="1"/>
          <p:nvPr/>
        </p:nvSpPr>
        <p:spPr>
          <a:xfrm>
            <a:off x="4350475" y="292275"/>
            <a:ext cx="6717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</a:rPr>
              <a:t>Métodos Automáticos do </a:t>
            </a:r>
            <a:r>
              <a:rPr b="1" lang="pt-BR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JpaRepository</a:t>
            </a:r>
            <a:endParaRPr b="1"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4"/>
          <p:cNvSpPr txBox="1"/>
          <p:nvPr/>
        </p:nvSpPr>
        <p:spPr>
          <a:xfrm>
            <a:off x="650375" y="2310000"/>
            <a:ext cx="67179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900">
                <a:solidFill>
                  <a:schemeClr val="dk1"/>
                </a:solidFill>
              </a:rPr>
              <a:t>O </a:t>
            </a:r>
            <a:r>
              <a:rPr b="1" lang="pt-BR" sz="1900">
                <a:solidFill>
                  <a:schemeClr val="dk1"/>
                </a:solidFill>
              </a:rPr>
              <a:t>Spring Data JPA</a:t>
            </a:r>
            <a:r>
              <a:rPr lang="pt-BR" sz="1900">
                <a:solidFill>
                  <a:schemeClr val="dk1"/>
                </a:solidFill>
              </a:rPr>
              <a:t> oferece diversos métodos prontos para operações comuns no banco de dados. Isso elimina a necessidade de escrever SQL manual para tarefas repetitivas.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900">
                <a:solidFill>
                  <a:schemeClr val="dk1"/>
                </a:solidFill>
              </a:rPr>
              <a:t>Principais métodos:</a:t>
            </a:r>
            <a:endParaRPr b="1"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pt-BR" sz="1900">
                <a:solidFill>
                  <a:schemeClr val="dk1"/>
                </a:solidFill>
              </a:rPr>
              <a:t> </a:t>
            </a:r>
            <a:r>
              <a:rPr b="1" lang="pt-BR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findAll()</a:t>
            </a:r>
            <a:r>
              <a:rPr lang="pt-BR" sz="1900">
                <a:solidFill>
                  <a:schemeClr val="dk1"/>
                </a:solidFill>
              </a:rPr>
              <a:t> — Retorna todos os registros da entidade.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pt-BR" sz="1900">
                <a:solidFill>
                  <a:schemeClr val="dk1"/>
                </a:solidFill>
              </a:rPr>
              <a:t> </a:t>
            </a:r>
            <a:r>
              <a:rPr b="1" lang="pt-BR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save(obj)</a:t>
            </a:r>
            <a:r>
              <a:rPr b="1" lang="pt-BR" sz="1900">
                <a:solidFill>
                  <a:schemeClr val="dk1"/>
                </a:solidFill>
              </a:rPr>
              <a:t> — Insere ou atualiza um registro.</a:t>
            </a:r>
            <a:endParaRPr b="1"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pt-BR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deleteById(id)</a:t>
            </a:r>
            <a:r>
              <a:rPr b="1" lang="pt-BR" sz="1900">
                <a:solidFill>
                  <a:schemeClr val="dk1"/>
                </a:solidFill>
              </a:rPr>
              <a:t> — Remove o registro com o ID informado.</a:t>
            </a:r>
            <a:endParaRPr b="1"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pt-BR" sz="1900">
                <a:solidFill>
                  <a:schemeClr val="dk1"/>
                </a:solidFill>
              </a:rPr>
              <a:t> </a:t>
            </a:r>
            <a:r>
              <a:rPr b="1" lang="pt-BR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existsByCampo(</a:t>
            </a:r>
            <a:r>
              <a:rPr b="1" lang="pt-BR" sz="1900">
                <a:solidFill>
                  <a:schemeClr val="dk1"/>
                </a:solidFill>
              </a:rPr>
              <a:t>) — Verifica se existe um registro com determinado valor de campo.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5"/>
          <p:cNvSpPr/>
          <p:nvPr/>
        </p:nvSpPr>
        <p:spPr>
          <a:xfrm>
            <a:off x="1183424" y="225475"/>
            <a:ext cx="11685900" cy="14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i="0" lang="pt-BR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Comparando SQL com JpaRepository</a:t>
            </a:r>
            <a:endParaRPr b="1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4" name="Google Shape;25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54500" y="1999450"/>
            <a:ext cx="7709850" cy="6713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5"/>
          <p:cNvSpPr txBox="1"/>
          <p:nvPr/>
        </p:nvSpPr>
        <p:spPr>
          <a:xfrm>
            <a:off x="1183425" y="2088400"/>
            <a:ext cx="6717900" cy="79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chemeClr val="dk1"/>
                </a:solidFill>
              </a:rPr>
              <a:t>No </a:t>
            </a:r>
            <a:r>
              <a:rPr b="1" lang="pt-BR" sz="1800">
                <a:solidFill>
                  <a:schemeClr val="dk1"/>
                </a:solidFill>
              </a:rPr>
              <a:t>SQL tradicional</a:t>
            </a:r>
            <a:r>
              <a:rPr lang="pt-BR" sz="1800">
                <a:solidFill>
                  <a:schemeClr val="dk1"/>
                </a:solidFill>
              </a:rPr>
              <a:t>, precisamos escrever manualmente cada comando para buscar, inserir, atualizar ou remover dados.</a:t>
            </a:r>
            <a:br>
              <a:rPr lang="pt-BR" sz="1800">
                <a:solidFill>
                  <a:schemeClr val="dk1"/>
                </a:solidFill>
              </a:rPr>
            </a:br>
            <a:r>
              <a:rPr lang="pt-BR" sz="1800">
                <a:solidFill>
                  <a:schemeClr val="dk1"/>
                </a:solidFill>
              </a:rPr>
              <a:t> Com o </a:t>
            </a:r>
            <a:r>
              <a:rPr b="1" lang="pt-BR" sz="1800">
                <a:solidFill>
                  <a:schemeClr val="dk1"/>
                </a:solidFill>
              </a:rPr>
              <a:t>Spring Data JPA</a:t>
            </a:r>
            <a:r>
              <a:rPr lang="pt-BR" sz="1800">
                <a:solidFill>
                  <a:schemeClr val="dk1"/>
                </a:solidFill>
              </a:rPr>
              <a:t>, usamos métodos prontos do </a:t>
            </a:r>
            <a:r>
              <a:rPr lang="pt-BR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JpaRepository</a:t>
            </a:r>
            <a:r>
              <a:rPr lang="pt-BR" sz="1800">
                <a:solidFill>
                  <a:schemeClr val="dk1"/>
                </a:solidFill>
              </a:rPr>
              <a:t>, que geram e executam automaticamente as consultas equivalentes.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</a:rPr>
              <a:t>Exemplos: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SELECT * FROM cliente</a:t>
            </a:r>
            <a:r>
              <a:rPr lang="pt-BR" sz="1800">
                <a:solidFill>
                  <a:schemeClr val="dk1"/>
                </a:solidFill>
              </a:rPr>
              <a:t> → </a:t>
            </a:r>
            <a:r>
              <a:rPr lang="pt-BR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findAll()</a:t>
            </a:r>
            <a:br>
              <a:rPr lang="pt-BR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8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SELECT * FROM cliente WHERE id = 1</a:t>
            </a:r>
            <a:r>
              <a:rPr lang="pt-BR" sz="1800">
                <a:solidFill>
                  <a:schemeClr val="dk1"/>
                </a:solidFill>
              </a:rPr>
              <a:t> → </a:t>
            </a:r>
            <a:r>
              <a:rPr lang="pt-BR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findById(1)</a:t>
            </a:r>
            <a:br>
              <a:rPr lang="pt-BR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8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INSERT INTO cliente VALUES (...)</a:t>
            </a:r>
            <a:r>
              <a:rPr lang="pt-BR" sz="1800">
                <a:solidFill>
                  <a:schemeClr val="dk1"/>
                </a:solidFill>
              </a:rPr>
              <a:t> → </a:t>
            </a:r>
            <a:r>
              <a:rPr lang="pt-BR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save(cliente)</a:t>
            </a:r>
            <a:br>
              <a:rPr lang="pt-BR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8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DELETE FROM cliente WHERE id = 1</a:t>
            </a:r>
            <a:r>
              <a:rPr lang="pt-BR" sz="1800">
                <a:solidFill>
                  <a:schemeClr val="dk1"/>
                </a:solidFill>
              </a:rPr>
              <a:t> → </a:t>
            </a:r>
            <a:r>
              <a:rPr lang="pt-BR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deleteById(1)</a:t>
            </a:r>
            <a:br>
              <a:rPr lang="pt-BR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8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chemeClr val="dk1"/>
                </a:solidFill>
              </a:rPr>
              <a:t> </a:t>
            </a:r>
            <a:r>
              <a:rPr b="1" lang="pt-BR" sz="1800">
                <a:solidFill>
                  <a:schemeClr val="dk1"/>
                </a:solidFill>
              </a:rPr>
              <a:t>Vantagem:</a:t>
            </a:r>
            <a:br>
              <a:rPr b="1" lang="pt-BR" sz="1800">
                <a:solidFill>
                  <a:schemeClr val="dk1"/>
                </a:solidFill>
              </a:rPr>
            </a:br>
            <a:r>
              <a:rPr lang="pt-BR" sz="1800">
                <a:solidFill>
                  <a:schemeClr val="dk1"/>
                </a:solidFill>
              </a:rPr>
              <a:t> O Spring gera o SQL por trás dos panos, reduzindo a quantidade de código manual, aumentando a clareza e mantendo padronização no acesso ao banco.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3150" y="2531700"/>
            <a:ext cx="9537351" cy="466522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6"/>
          <p:cNvSpPr txBox="1"/>
          <p:nvPr/>
        </p:nvSpPr>
        <p:spPr>
          <a:xfrm>
            <a:off x="4219325" y="735475"/>
            <a:ext cx="8759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que é uma transação no banco de dados?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6"/>
          <p:cNvSpPr txBox="1"/>
          <p:nvPr/>
        </p:nvSpPr>
        <p:spPr>
          <a:xfrm>
            <a:off x="463725" y="2123425"/>
            <a:ext cx="6717900" cy="67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00">
                <a:solidFill>
                  <a:schemeClr val="dk1"/>
                </a:solidFill>
              </a:rPr>
              <a:t>Uma </a:t>
            </a:r>
            <a:r>
              <a:rPr b="1" lang="pt-BR" sz="1700">
                <a:solidFill>
                  <a:schemeClr val="dk1"/>
                </a:solidFill>
              </a:rPr>
              <a:t>transação</a:t>
            </a:r>
            <a:r>
              <a:rPr lang="pt-BR" sz="1700">
                <a:solidFill>
                  <a:schemeClr val="dk1"/>
                </a:solidFill>
              </a:rPr>
              <a:t> é um conjunto de operações que deve ser executado de forma </a:t>
            </a:r>
            <a:r>
              <a:rPr b="1" lang="pt-BR" sz="1700">
                <a:solidFill>
                  <a:schemeClr val="dk1"/>
                </a:solidFill>
              </a:rPr>
              <a:t>indivisível</a:t>
            </a:r>
            <a:r>
              <a:rPr lang="pt-BR" sz="1700">
                <a:solidFill>
                  <a:schemeClr val="dk1"/>
                </a:solidFill>
              </a:rPr>
              <a:t> e </a:t>
            </a:r>
            <a:r>
              <a:rPr b="1" lang="pt-BR" sz="1700">
                <a:solidFill>
                  <a:schemeClr val="dk1"/>
                </a:solidFill>
              </a:rPr>
              <a:t>consistente</a:t>
            </a:r>
            <a:r>
              <a:rPr lang="pt-BR" sz="1700">
                <a:solidFill>
                  <a:schemeClr val="dk1"/>
                </a:solidFill>
              </a:rPr>
              <a:t>.</a:t>
            </a:r>
            <a:br>
              <a:rPr lang="pt-BR" sz="1700">
                <a:solidFill>
                  <a:schemeClr val="dk1"/>
                </a:solidFill>
              </a:rPr>
            </a:br>
            <a:r>
              <a:rPr lang="pt-BR" sz="1700">
                <a:solidFill>
                  <a:schemeClr val="dk1"/>
                </a:solidFill>
              </a:rPr>
              <a:t> O banco garante que: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pt-BR" sz="1700">
                <a:solidFill>
                  <a:schemeClr val="dk1"/>
                </a:solidFill>
              </a:rPr>
              <a:t>Todas as operações sejam aplicadas </a:t>
            </a:r>
            <a:r>
              <a:rPr b="1" lang="pt-BR" sz="1700">
                <a:solidFill>
                  <a:schemeClr val="dk1"/>
                </a:solidFill>
              </a:rPr>
              <a:t>juntas</a:t>
            </a:r>
            <a:r>
              <a:rPr lang="pt-BR" sz="1700">
                <a:solidFill>
                  <a:schemeClr val="dk1"/>
                </a:solidFill>
              </a:rPr>
              <a:t> (commit) ou </a:t>
            </a:r>
            <a:r>
              <a:rPr b="1" lang="pt-BR" sz="1700">
                <a:solidFill>
                  <a:schemeClr val="dk1"/>
                </a:solidFill>
              </a:rPr>
              <a:t>nenhuma</a:t>
            </a:r>
            <a:r>
              <a:rPr lang="pt-BR" sz="1700">
                <a:solidFill>
                  <a:schemeClr val="dk1"/>
                </a:solidFill>
              </a:rPr>
              <a:t> (rollback).</a:t>
            </a:r>
            <a:br>
              <a:rPr lang="pt-BR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pt-BR" sz="1700">
                <a:solidFill>
                  <a:schemeClr val="dk1"/>
                </a:solidFill>
              </a:rPr>
              <a:t>Em caso de erro, tudo seja </a:t>
            </a:r>
            <a:r>
              <a:rPr b="1" lang="pt-BR" sz="1700">
                <a:solidFill>
                  <a:schemeClr val="dk1"/>
                </a:solidFill>
              </a:rPr>
              <a:t>desfeito automaticamente</a:t>
            </a:r>
            <a:r>
              <a:rPr lang="pt-BR" sz="1700">
                <a:solidFill>
                  <a:schemeClr val="dk1"/>
                </a:solidFill>
              </a:rPr>
              <a:t> para manter a integridade dos dados.</a:t>
            </a:r>
            <a:br>
              <a:rPr lang="pt-BR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700">
                <a:solidFill>
                  <a:schemeClr val="dk1"/>
                </a:solidFill>
              </a:rPr>
              <a:t>Fluxo básico: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b="1" lang="pt-BR" sz="1700">
                <a:solidFill>
                  <a:schemeClr val="dk1"/>
                </a:solidFill>
              </a:rPr>
              <a:t>Início da transação</a:t>
            </a:r>
            <a:r>
              <a:rPr lang="pt-BR" sz="1700">
                <a:solidFill>
                  <a:schemeClr val="dk1"/>
                </a:solidFill>
              </a:rPr>
              <a:t> — abre o contexto no banco.</a:t>
            </a:r>
            <a:br>
              <a:rPr lang="pt-BR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b="1" lang="pt-BR" sz="1700">
                <a:solidFill>
                  <a:schemeClr val="dk1"/>
                </a:solidFill>
              </a:rPr>
              <a:t>Execução das operações</a:t>
            </a:r>
            <a:r>
              <a:rPr lang="pt-BR" sz="1700">
                <a:solidFill>
                  <a:schemeClr val="dk1"/>
                </a:solidFill>
              </a:rPr>
              <a:t> — inserções, atualizações, exclusões.</a:t>
            </a:r>
            <a:br>
              <a:rPr lang="pt-BR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b="1" lang="pt-BR" sz="1700">
                <a:solidFill>
                  <a:schemeClr val="dk1"/>
                </a:solidFill>
              </a:rPr>
              <a:t>Sucesso</a:t>
            </a:r>
            <a:r>
              <a:rPr lang="pt-BR" sz="1700">
                <a:solidFill>
                  <a:schemeClr val="dk1"/>
                </a:solidFill>
              </a:rPr>
              <a:t> → </a:t>
            </a:r>
            <a:r>
              <a:rPr i="1" lang="pt-BR" sz="1700">
                <a:solidFill>
                  <a:schemeClr val="dk1"/>
                </a:solidFill>
              </a:rPr>
              <a:t>Commit</a:t>
            </a:r>
            <a:r>
              <a:rPr lang="pt-BR" sz="1700">
                <a:solidFill>
                  <a:schemeClr val="dk1"/>
                </a:solidFill>
              </a:rPr>
              <a:t>: grava alterações de forma permanente.</a:t>
            </a:r>
            <a:br>
              <a:rPr lang="pt-BR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b="1" lang="pt-BR" sz="1700">
                <a:solidFill>
                  <a:schemeClr val="dk1"/>
                </a:solidFill>
              </a:rPr>
              <a:t>Falha</a:t>
            </a:r>
            <a:r>
              <a:rPr lang="pt-BR" sz="1700">
                <a:solidFill>
                  <a:schemeClr val="dk1"/>
                </a:solidFill>
              </a:rPr>
              <a:t> → </a:t>
            </a:r>
            <a:r>
              <a:rPr i="1" lang="pt-BR" sz="1700">
                <a:solidFill>
                  <a:schemeClr val="dk1"/>
                </a:solidFill>
              </a:rPr>
              <a:t>Rollback</a:t>
            </a:r>
            <a:r>
              <a:rPr lang="pt-BR" sz="1700">
                <a:solidFill>
                  <a:schemeClr val="dk1"/>
                </a:solidFill>
              </a:rPr>
              <a:t>: reverte tudo para o estado inicial.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35750" y="2834975"/>
            <a:ext cx="4991100" cy="5362575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7"/>
          <p:cNvSpPr txBox="1"/>
          <p:nvPr/>
        </p:nvSpPr>
        <p:spPr>
          <a:xfrm>
            <a:off x="545375" y="1283650"/>
            <a:ext cx="9260700" cy="74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600">
                <a:solidFill>
                  <a:schemeClr val="dk1"/>
                </a:solidFill>
              </a:rPr>
              <a:t>No fluxo de um pedido: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pt-BR" sz="1600">
                <a:solidFill>
                  <a:schemeClr val="dk1"/>
                </a:solidFill>
              </a:rPr>
              <a:t>Cliente faz pedido</a:t>
            </a:r>
            <a:br>
              <a:rPr b="1" lang="pt-BR" sz="1600">
                <a:solidFill>
                  <a:schemeClr val="dk1"/>
                </a:solidFill>
              </a:rPr>
            </a:b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pt-BR" sz="1600">
                <a:solidFill>
                  <a:schemeClr val="dk1"/>
                </a:solidFill>
              </a:rPr>
              <a:t>Pedido é salvo no banco</a:t>
            </a:r>
            <a:br>
              <a:rPr b="1" lang="pt-BR" sz="1600">
                <a:solidFill>
                  <a:schemeClr val="dk1"/>
                </a:solidFill>
              </a:rPr>
            </a:b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pt-BR" sz="1600">
                <a:solidFill>
                  <a:schemeClr val="dk1"/>
                </a:solidFill>
              </a:rPr>
              <a:t>Estoque é atualizado</a:t>
            </a:r>
            <a:br>
              <a:rPr b="1" lang="pt-BR" sz="1600">
                <a:solidFill>
                  <a:schemeClr val="dk1"/>
                </a:solidFill>
              </a:rPr>
            </a:b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pt-BR" sz="1600">
                <a:solidFill>
                  <a:schemeClr val="dk1"/>
                </a:solidFill>
              </a:rPr>
              <a:t>Cliente é cobrado</a:t>
            </a:r>
            <a:br>
              <a:rPr b="1" lang="pt-BR" sz="1600">
                <a:solidFill>
                  <a:schemeClr val="dk1"/>
                </a:solidFill>
              </a:rPr>
            </a:b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600">
                <a:solidFill>
                  <a:schemeClr val="dk1"/>
                </a:solidFill>
              </a:rPr>
              <a:t>Problema:</a:t>
            </a:r>
            <a:br>
              <a:rPr b="1" lang="pt-BR" sz="1600">
                <a:solidFill>
                  <a:schemeClr val="dk1"/>
                </a:solidFill>
              </a:rPr>
            </a:br>
            <a:r>
              <a:rPr lang="pt-BR" sz="1600">
                <a:solidFill>
                  <a:schemeClr val="dk1"/>
                </a:solidFill>
              </a:rPr>
              <a:t> Se a cobrança falhar depois que o pedido e o estoque já foram alterados, o sistema ficará </a:t>
            </a:r>
            <a:r>
              <a:rPr b="1" lang="pt-BR" sz="1600">
                <a:solidFill>
                  <a:schemeClr val="dk1"/>
                </a:solidFill>
              </a:rPr>
              <a:t>inconsistente</a:t>
            </a:r>
            <a:r>
              <a:rPr lang="pt-BR" sz="1600">
                <a:solidFill>
                  <a:schemeClr val="dk1"/>
                </a:solidFill>
              </a:rPr>
              <a:t> — o pedido existirá sem pagamento, e o estoque estará incorreto.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1"/>
                </a:solidFill>
              </a:rPr>
              <a:t>Solução: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1" lang="pt-BR" sz="1600">
                <a:solidFill>
                  <a:schemeClr val="dk1"/>
                </a:solidFill>
              </a:rPr>
            </a:br>
            <a:r>
              <a:rPr lang="pt-BR" sz="1600">
                <a:solidFill>
                  <a:schemeClr val="dk1"/>
                </a:solidFill>
              </a:rPr>
              <a:t> Usar </a:t>
            </a:r>
            <a:r>
              <a:rPr b="1" lang="pt-BR" sz="1600">
                <a:solidFill>
                  <a:schemeClr val="dk1"/>
                </a:solidFill>
              </a:rPr>
              <a:t>transações</a:t>
            </a:r>
            <a:r>
              <a:rPr lang="pt-BR" sz="1600">
                <a:solidFill>
                  <a:schemeClr val="dk1"/>
                </a:solidFill>
              </a:rPr>
              <a:t> para garantir que: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pt-BR" sz="1600">
                <a:solidFill>
                  <a:schemeClr val="dk1"/>
                </a:solidFill>
              </a:rPr>
              <a:t>Todas as etapas sejam concluídas com sucesso (</a:t>
            </a:r>
            <a:r>
              <a:rPr b="1" lang="pt-BR" sz="1600">
                <a:solidFill>
                  <a:schemeClr val="dk1"/>
                </a:solidFill>
              </a:rPr>
              <a:t>commit</a:t>
            </a:r>
            <a:r>
              <a:rPr lang="pt-BR" sz="1600">
                <a:solidFill>
                  <a:schemeClr val="dk1"/>
                </a:solidFill>
              </a:rPr>
              <a:t>), ou</a:t>
            </a:r>
            <a:br>
              <a:rPr lang="pt-BR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pt-BR" sz="1600">
                <a:solidFill>
                  <a:schemeClr val="dk1"/>
                </a:solidFill>
              </a:rPr>
              <a:t>Nenhuma alteração seja mantida (</a:t>
            </a:r>
            <a:r>
              <a:rPr b="1" lang="pt-BR" sz="1600">
                <a:solidFill>
                  <a:schemeClr val="dk1"/>
                </a:solidFill>
              </a:rPr>
              <a:t>rollback</a:t>
            </a:r>
            <a:r>
              <a:rPr lang="pt-BR" sz="1600">
                <a:solidFill>
                  <a:schemeClr val="dk1"/>
                </a:solidFill>
              </a:rPr>
              <a:t>) em caso de falha.</a:t>
            </a:r>
            <a:br>
              <a:rPr lang="pt-BR" sz="1600">
                <a:solidFill>
                  <a:schemeClr val="dk1"/>
                </a:solidFill>
              </a:rPr>
            </a:b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600">
                <a:solidFill>
                  <a:schemeClr val="dk1"/>
                </a:solidFill>
              </a:rPr>
              <a:t>Assim, evitamos dados corrompidos e garantimos a integridade do sistema.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7"/>
          <p:cNvSpPr txBox="1"/>
          <p:nvPr/>
        </p:nvSpPr>
        <p:spPr>
          <a:xfrm>
            <a:off x="4872475" y="408900"/>
            <a:ext cx="6717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 que transações são importantes?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78050" y="3301500"/>
            <a:ext cx="8434299" cy="4758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8"/>
          <p:cNvSpPr txBox="1"/>
          <p:nvPr/>
        </p:nvSpPr>
        <p:spPr>
          <a:xfrm>
            <a:off x="4373725" y="909725"/>
            <a:ext cx="7881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00"/>
              <a:t>Princípios ACID — A base das transações seguras</a:t>
            </a:r>
            <a:endParaRPr b="1" sz="2100"/>
          </a:p>
        </p:txBody>
      </p:sp>
      <p:sp>
        <p:nvSpPr>
          <p:cNvPr id="276" name="Google Shape;276;p18"/>
          <p:cNvSpPr txBox="1"/>
          <p:nvPr/>
        </p:nvSpPr>
        <p:spPr>
          <a:xfrm>
            <a:off x="1213050" y="2193375"/>
            <a:ext cx="6717900" cy="6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600">
                <a:solidFill>
                  <a:schemeClr val="dk1"/>
                </a:solidFill>
              </a:rPr>
              <a:t>As transações no banco de dados seguem quatro princípios fundamentais para garantir integridade e confiabilidade: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pt-BR" sz="1600">
                <a:solidFill>
                  <a:schemeClr val="dk1"/>
                </a:solidFill>
              </a:rPr>
              <a:t>A — Atomicidade</a:t>
            </a:r>
            <a:br>
              <a:rPr b="1" lang="pt-BR" sz="1600">
                <a:solidFill>
                  <a:schemeClr val="dk1"/>
                </a:solidFill>
              </a:rPr>
            </a:br>
            <a:r>
              <a:rPr lang="pt-BR" sz="1600">
                <a:solidFill>
                  <a:schemeClr val="dk1"/>
                </a:solidFill>
              </a:rPr>
              <a:t> </a:t>
            </a:r>
            <a:r>
              <a:rPr i="1" lang="pt-BR" sz="1600">
                <a:solidFill>
                  <a:schemeClr val="dk1"/>
                </a:solidFill>
              </a:rPr>
              <a:t>Tudo ou nada</a:t>
            </a:r>
            <a:r>
              <a:rPr lang="pt-BR" sz="1600">
                <a:solidFill>
                  <a:schemeClr val="dk1"/>
                </a:solidFill>
              </a:rPr>
              <a:t>: todas as operações são concluídas com sucesso ou nenhuma é aplicada.</a:t>
            </a:r>
            <a:br>
              <a:rPr lang="pt-BR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pt-BR" sz="1600">
                <a:solidFill>
                  <a:schemeClr val="dk1"/>
                </a:solidFill>
              </a:rPr>
              <a:t>C — Consistência</a:t>
            </a:r>
            <a:br>
              <a:rPr b="1" lang="pt-BR" sz="1600">
                <a:solidFill>
                  <a:schemeClr val="dk1"/>
                </a:solidFill>
              </a:rPr>
            </a:br>
            <a:r>
              <a:rPr lang="pt-BR" sz="1600">
                <a:solidFill>
                  <a:schemeClr val="dk1"/>
                </a:solidFill>
              </a:rPr>
              <a:t> O banco de dados sempre passa de um estado válido para outro válido.</a:t>
            </a:r>
            <a:br>
              <a:rPr lang="pt-BR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pt-BR" sz="1600">
                <a:solidFill>
                  <a:schemeClr val="dk1"/>
                </a:solidFill>
              </a:rPr>
              <a:t>I — Isolamento</a:t>
            </a:r>
            <a:br>
              <a:rPr b="1" lang="pt-BR" sz="1600">
                <a:solidFill>
                  <a:schemeClr val="dk1"/>
                </a:solidFill>
              </a:rPr>
            </a:br>
            <a:r>
              <a:rPr lang="pt-BR" sz="1600">
                <a:solidFill>
                  <a:schemeClr val="dk1"/>
                </a:solidFill>
              </a:rPr>
              <a:t> Transações simultâneas não interferem umas nas outras.</a:t>
            </a:r>
            <a:br>
              <a:rPr lang="pt-BR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pt-BR" sz="1600">
                <a:solidFill>
                  <a:schemeClr val="dk1"/>
                </a:solidFill>
              </a:rPr>
              <a:t>D — Durabilidade</a:t>
            </a:r>
            <a:br>
              <a:rPr b="1" lang="pt-BR" sz="1600">
                <a:solidFill>
                  <a:schemeClr val="dk1"/>
                </a:solidFill>
              </a:rPr>
            </a:br>
            <a:r>
              <a:rPr lang="pt-BR" sz="1600">
                <a:solidFill>
                  <a:schemeClr val="dk1"/>
                </a:solidFill>
              </a:rPr>
              <a:t> Após o </a:t>
            </a:r>
            <a:r>
              <a:rPr i="1" lang="pt-BR" sz="1600">
                <a:solidFill>
                  <a:schemeClr val="dk1"/>
                </a:solidFill>
              </a:rPr>
              <a:t>commit</a:t>
            </a:r>
            <a:r>
              <a:rPr lang="pt-BR" sz="1600">
                <a:solidFill>
                  <a:schemeClr val="dk1"/>
                </a:solidFill>
              </a:rPr>
              <a:t>, os dados permanecem gravados, mesmo em caso de falhas.</a:t>
            </a:r>
            <a:br>
              <a:rPr lang="pt-BR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600">
                <a:solidFill>
                  <a:schemeClr val="dk1"/>
                </a:solidFill>
              </a:rPr>
              <a:t> Esses princípios juntos evitam dados corrompidos e garantem segurança no processamento.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46200" y="1930325"/>
            <a:ext cx="8108100" cy="6426375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9"/>
          <p:cNvSpPr txBox="1"/>
          <p:nvPr/>
        </p:nvSpPr>
        <p:spPr>
          <a:xfrm>
            <a:off x="4755850" y="373900"/>
            <a:ext cx="10333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Princípios ACID na prática — Exemplo: Pedido Online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9"/>
          <p:cNvSpPr txBox="1"/>
          <p:nvPr/>
        </p:nvSpPr>
        <p:spPr>
          <a:xfrm>
            <a:off x="300450" y="1761825"/>
            <a:ext cx="6717900" cy="88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00">
                <a:solidFill>
                  <a:schemeClr val="dk1"/>
                </a:solidFill>
              </a:rPr>
              <a:t>Ao processar um pedido online, cada princípio ACID atua para garantir integridade e segurança: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b="1" lang="pt-BR" sz="1700">
                <a:solidFill>
                  <a:schemeClr val="dk1"/>
                </a:solidFill>
              </a:rPr>
              <a:t>Atomicidade</a:t>
            </a:r>
            <a:r>
              <a:rPr lang="pt-BR" sz="1700">
                <a:solidFill>
                  <a:schemeClr val="dk1"/>
                </a:solidFill>
              </a:rPr>
              <a:t> — </a:t>
            </a:r>
            <a:r>
              <a:rPr i="1" lang="pt-BR" sz="1700">
                <a:solidFill>
                  <a:schemeClr val="dk1"/>
                </a:solidFill>
              </a:rPr>
              <a:t>Tudo ou nada</a:t>
            </a:r>
            <a:r>
              <a:rPr lang="pt-BR" sz="1700">
                <a:solidFill>
                  <a:schemeClr val="dk1"/>
                </a:solidFill>
              </a:rPr>
              <a:t>:</a:t>
            </a:r>
            <a:br>
              <a:rPr lang="pt-BR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pt-BR" sz="1700">
                <a:solidFill>
                  <a:schemeClr val="dk1"/>
                </a:solidFill>
              </a:rPr>
              <a:t>O pedido envolve salvar informações, atualizar o estoque e processar o pagamento.</a:t>
            </a:r>
            <a:br>
              <a:rPr lang="pt-BR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pt-BR" sz="1700">
                <a:solidFill>
                  <a:schemeClr val="dk1"/>
                </a:solidFill>
              </a:rPr>
              <a:t>Se o pagamento falhar, nenhuma das outras etapas é mantida.</a:t>
            </a:r>
            <a:br>
              <a:rPr lang="pt-BR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b="1" lang="pt-BR" sz="1700">
                <a:solidFill>
                  <a:schemeClr val="dk1"/>
                </a:solidFill>
              </a:rPr>
              <a:t>Consistência</a:t>
            </a:r>
            <a:r>
              <a:rPr lang="pt-BR" sz="1700">
                <a:solidFill>
                  <a:schemeClr val="dk1"/>
                </a:solidFill>
              </a:rPr>
              <a:t> — </a:t>
            </a:r>
            <a:r>
              <a:rPr i="1" lang="pt-BR" sz="1700">
                <a:solidFill>
                  <a:schemeClr val="dk1"/>
                </a:solidFill>
              </a:rPr>
              <a:t>Sempre estado válido</a:t>
            </a:r>
            <a:r>
              <a:rPr lang="pt-BR" sz="1700">
                <a:solidFill>
                  <a:schemeClr val="dk1"/>
                </a:solidFill>
              </a:rPr>
              <a:t>:</a:t>
            </a:r>
            <a:br>
              <a:rPr lang="pt-BR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pt-BR" sz="1700">
                <a:solidFill>
                  <a:schemeClr val="dk1"/>
                </a:solidFill>
              </a:rPr>
              <a:t>O estoque só é reduzido se o pedido for válido e todas as regras forem cumpridas (ex.: produto disponível).</a:t>
            </a:r>
            <a:br>
              <a:rPr lang="pt-BR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b="1" lang="pt-BR" sz="1700">
                <a:solidFill>
                  <a:schemeClr val="dk1"/>
                </a:solidFill>
              </a:rPr>
              <a:t>Isolamento</a:t>
            </a:r>
            <a:r>
              <a:rPr lang="pt-BR" sz="1700">
                <a:solidFill>
                  <a:schemeClr val="dk1"/>
                </a:solidFill>
              </a:rPr>
              <a:t> — </a:t>
            </a:r>
            <a:r>
              <a:rPr i="1" lang="pt-BR" sz="1700">
                <a:solidFill>
                  <a:schemeClr val="dk1"/>
                </a:solidFill>
              </a:rPr>
              <a:t>Sem interferência</a:t>
            </a:r>
            <a:r>
              <a:rPr lang="pt-BR" sz="1700">
                <a:solidFill>
                  <a:schemeClr val="dk1"/>
                </a:solidFill>
              </a:rPr>
              <a:t>:</a:t>
            </a:r>
            <a:br>
              <a:rPr lang="pt-BR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pt-BR" sz="1700">
                <a:solidFill>
                  <a:schemeClr val="dk1"/>
                </a:solidFill>
              </a:rPr>
              <a:t>Vários clientes podem fazer compras ao mesmo tempo, sem que as transações se misturem ou causem inconsistências.</a:t>
            </a:r>
            <a:br>
              <a:rPr lang="pt-BR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b="1" lang="pt-BR" sz="1700">
                <a:solidFill>
                  <a:schemeClr val="dk1"/>
                </a:solidFill>
              </a:rPr>
              <a:t>Durabilidade</a:t>
            </a:r>
            <a:r>
              <a:rPr lang="pt-BR" sz="1700">
                <a:solidFill>
                  <a:schemeClr val="dk1"/>
                </a:solidFill>
              </a:rPr>
              <a:t> — </a:t>
            </a:r>
            <a:r>
              <a:rPr i="1" lang="pt-BR" sz="1700">
                <a:solidFill>
                  <a:schemeClr val="dk1"/>
                </a:solidFill>
              </a:rPr>
              <a:t>Dados permanentes</a:t>
            </a:r>
            <a:r>
              <a:rPr lang="pt-BR" sz="1700">
                <a:solidFill>
                  <a:schemeClr val="dk1"/>
                </a:solidFill>
              </a:rPr>
              <a:t>:</a:t>
            </a:r>
            <a:br>
              <a:rPr lang="pt-BR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pt-BR" sz="1700">
                <a:solidFill>
                  <a:schemeClr val="dk1"/>
                </a:solidFill>
              </a:rPr>
              <a:t>Após a confirmação (</a:t>
            </a:r>
            <a:r>
              <a:rPr i="1" lang="pt-BR" sz="1700">
                <a:solidFill>
                  <a:schemeClr val="dk1"/>
                </a:solidFill>
              </a:rPr>
              <a:t>commit</a:t>
            </a:r>
            <a:r>
              <a:rPr lang="pt-BR" sz="1700">
                <a:solidFill>
                  <a:schemeClr val="dk1"/>
                </a:solidFill>
              </a:rPr>
              <a:t>), o pedido permanece salvo no banco, mesmo que haja queda de energia ou falha no sistema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0"/>
          <p:cNvSpPr txBox="1"/>
          <p:nvPr/>
        </p:nvSpPr>
        <p:spPr>
          <a:xfrm>
            <a:off x="291575" y="2157700"/>
            <a:ext cx="9362700" cy="81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pt-BR">
                <a:solidFill>
                  <a:schemeClr val="dk1"/>
                </a:solidFill>
              </a:rPr>
              <a:t>Salvar pedido</a:t>
            </a:r>
            <a:br>
              <a:rPr b="1" lang="pt-BR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pt-BR">
                <a:solidFill>
                  <a:schemeClr val="dk1"/>
                </a:solidFill>
              </a:rPr>
              <a:t>O sistema cria um registro do pedido com dados do cliente, produtos e valores.</a:t>
            </a:r>
            <a:br>
              <a:rPr lang="pt-BR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pt-BR">
                <a:solidFill>
                  <a:schemeClr val="dk1"/>
                </a:solidFill>
              </a:rPr>
              <a:t>Esta informação ainda não é confirmada no banco — está em contexto transacional.</a:t>
            </a:r>
            <a:br>
              <a:rPr lang="pt-BR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pt-BR">
                <a:solidFill>
                  <a:schemeClr val="dk1"/>
                </a:solidFill>
              </a:rPr>
              <a:t>Deduzir estoque</a:t>
            </a:r>
            <a:br>
              <a:rPr b="1" lang="pt-BR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pt-BR">
                <a:solidFill>
                  <a:schemeClr val="dk1"/>
                </a:solidFill>
              </a:rPr>
              <a:t>A quantidade de cada produto é atualizada no banco, garantindo que outros clientes vejam a disponibilidade correta.</a:t>
            </a:r>
            <a:br>
              <a:rPr lang="pt-BR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pt-BR">
                <a:solidFill>
                  <a:schemeClr val="dk1"/>
                </a:solidFill>
              </a:rPr>
              <a:t>Se não houver estoque suficiente, a transação deve ser interrompida.</a:t>
            </a:r>
            <a:br>
              <a:rPr lang="pt-BR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pt-BR">
                <a:solidFill>
                  <a:schemeClr val="dk1"/>
                </a:solidFill>
              </a:rPr>
              <a:t>Cobrar cliente</a:t>
            </a:r>
            <a:br>
              <a:rPr b="1" lang="pt-BR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pt-BR">
                <a:solidFill>
                  <a:schemeClr val="dk1"/>
                </a:solidFill>
              </a:rPr>
              <a:t>Integração com o sistema de pagamento para processar a cobrança.</a:t>
            </a:r>
            <a:br>
              <a:rPr lang="pt-BR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pt-BR">
                <a:solidFill>
                  <a:schemeClr val="dk1"/>
                </a:solidFill>
              </a:rPr>
              <a:t>Se o pagamento for recusado, não faz sentido manter o pedido ou alterar o estoque.</a:t>
            </a:r>
            <a:br>
              <a:rPr lang="pt-BR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1"/>
                </a:solidFill>
              </a:rPr>
              <a:t>Decisão final: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pt-BR">
                <a:solidFill>
                  <a:schemeClr val="dk1"/>
                </a:solidFill>
              </a:rPr>
              <a:t>Commit</a:t>
            </a:r>
            <a:br>
              <a:rPr b="1" lang="pt-BR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pt-BR">
                <a:solidFill>
                  <a:schemeClr val="dk1"/>
                </a:solidFill>
              </a:rPr>
              <a:t>Todas as operações foram executadas com sucesso.</a:t>
            </a:r>
            <a:br>
              <a:rPr lang="pt-BR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pt-BR">
                <a:solidFill>
                  <a:schemeClr val="dk1"/>
                </a:solidFill>
              </a:rPr>
              <a:t>O banco grava definitivamente as alterações, tornando-as visíveis para todos os usuários.</a:t>
            </a:r>
            <a:br>
              <a:rPr lang="pt-BR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pt-BR">
                <a:solidFill>
                  <a:schemeClr val="dk1"/>
                </a:solidFill>
              </a:rPr>
              <a:t>Rollback</a:t>
            </a:r>
            <a:br>
              <a:rPr b="1" lang="pt-BR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pt-BR">
                <a:solidFill>
                  <a:schemeClr val="dk1"/>
                </a:solidFill>
              </a:rPr>
              <a:t>Alguma operação falhou.</a:t>
            </a:r>
            <a:br>
              <a:rPr lang="pt-BR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pt-BR">
                <a:solidFill>
                  <a:schemeClr val="dk1"/>
                </a:solidFill>
              </a:rPr>
              <a:t>O banco desfaz todas as alterações, retornando ao estado anterior como se nada tivesse acontecido.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89" name="Google Shape;289;p20"/>
          <p:cNvSpPr txBox="1"/>
          <p:nvPr/>
        </p:nvSpPr>
        <p:spPr>
          <a:xfrm>
            <a:off x="291575" y="70675"/>
            <a:ext cx="9106200" cy="22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400">
                <a:solidFill>
                  <a:schemeClr val="dk1"/>
                </a:solidFill>
              </a:rPr>
              <a:t>Fluxo de execução de uma transação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>
                <a:solidFill>
                  <a:schemeClr val="dk1"/>
                </a:solidFill>
              </a:rPr>
              <a:t>Uma transação é um conjunto de operações que precisam ser executadas de forma </a:t>
            </a:r>
            <a:r>
              <a:rPr b="1" lang="pt-BR" sz="1500">
                <a:solidFill>
                  <a:schemeClr val="dk1"/>
                </a:solidFill>
              </a:rPr>
              <a:t>integrada</a:t>
            </a:r>
            <a:r>
              <a:rPr lang="pt-BR" sz="1500">
                <a:solidFill>
                  <a:schemeClr val="dk1"/>
                </a:solidFill>
              </a:rPr>
              <a:t> e </a:t>
            </a:r>
            <a:r>
              <a:rPr b="1" lang="pt-BR" sz="1500">
                <a:solidFill>
                  <a:schemeClr val="dk1"/>
                </a:solidFill>
              </a:rPr>
              <a:t>indivisível</a:t>
            </a:r>
            <a:r>
              <a:rPr lang="pt-BR" sz="1500">
                <a:solidFill>
                  <a:schemeClr val="dk1"/>
                </a:solidFill>
              </a:rPr>
              <a:t>. Isso garante que o banco de dados permaneça consistente, independentemente de falhas no processo.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0" name="Google Shape;29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54575" y="1855225"/>
            <a:ext cx="9249000" cy="549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1"/>
          <p:cNvSpPr txBox="1"/>
          <p:nvPr/>
        </p:nvSpPr>
        <p:spPr>
          <a:xfrm>
            <a:off x="9117925" y="4642650"/>
            <a:ext cx="8829000" cy="288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0" i="0" lang="pt-BR" sz="1750" u="none" cap="none" strike="noStrike">
                <a:solidFill>
                  <a:srgbClr val="CCCCCC"/>
                </a:solidFill>
                <a:latin typeface="Verdana"/>
                <a:ea typeface="Verdana"/>
                <a:cs typeface="Verdana"/>
                <a:sym typeface="Verdana"/>
              </a:rPr>
              <a:t>@Service</a:t>
            </a:r>
            <a:endParaRPr b="0" i="0" sz="1750" u="none" cap="none" strike="noStrike">
              <a:solidFill>
                <a:srgbClr val="CCCCCC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0" i="0" lang="pt-BR" sz="1750" u="none" cap="none" strike="noStrike">
                <a:solidFill>
                  <a:srgbClr val="CC99CD"/>
                </a:solidFill>
                <a:latin typeface="Verdana"/>
                <a:ea typeface="Verdana"/>
                <a:cs typeface="Verdana"/>
                <a:sym typeface="Verdana"/>
              </a:rPr>
              <a:t>public</a:t>
            </a:r>
            <a:r>
              <a:rPr b="0" i="0" lang="pt-BR" sz="1750" u="none" cap="none" strike="noStrike">
                <a:solidFill>
                  <a:srgbClr val="FFFFFF"/>
                </a:solidFill>
                <a:highlight>
                  <a:srgbClr val="2D2D2D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pt-BR" sz="1750" u="none" cap="none" strike="noStrike">
                <a:solidFill>
                  <a:srgbClr val="CC99CD"/>
                </a:solidFill>
                <a:latin typeface="Verdana"/>
                <a:ea typeface="Verdana"/>
                <a:cs typeface="Verdana"/>
                <a:sym typeface="Verdana"/>
              </a:rPr>
              <a:t>class</a:t>
            </a:r>
            <a:r>
              <a:rPr b="0" i="0" lang="pt-BR" sz="1750" u="none" cap="none" strike="noStrike">
                <a:solidFill>
                  <a:srgbClr val="FFFFFF"/>
                </a:solidFill>
                <a:highlight>
                  <a:srgbClr val="2D2D2D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pt-BR" sz="1750" u="none" cap="none" strike="noStrike">
                <a:solidFill>
                  <a:srgbClr val="F8C555"/>
                </a:solidFill>
                <a:latin typeface="Verdana"/>
                <a:ea typeface="Verdana"/>
                <a:cs typeface="Verdana"/>
                <a:sym typeface="Verdana"/>
              </a:rPr>
              <a:t>PedidoService</a:t>
            </a:r>
            <a:r>
              <a:rPr b="0" i="0" lang="pt-BR" sz="1750" u="none" cap="none" strike="noStrike">
                <a:solidFill>
                  <a:srgbClr val="FFFFFF"/>
                </a:solidFill>
                <a:highlight>
                  <a:srgbClr val="2D2D2D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pt-BR" sz="1750" u="none" cap="none" strike="noStrike">
                <a:solidFill>
                  <a:srgbClr val="CCCCCC"/>
                </a:solidFill>
                <a:latin typeface="Verdana"/>
                <a:ea typeface="Verdana"/>
                <a:cs typeface="Verdana"/>
                <a:sym typeface="Verdana"/>
              </a:rPr>
              <a:t>{</a:t>
            </a:r>
            <a:endParaRPr b="0" i="0" sz="1750" u="none" cap="none" strike="noStrike">
              <a:solidFill>
                <a:srgbClr val="CCCCCC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0" i="0" lang="pt-BR" sz="1750" u="none" cap="none" strike="noStrike">
                <a:solidFill>
                  <a:srgbClr val="FFFFFF"/>
                </a:solidFill>
                <a:highlight>
                  <a:srgbClr val="2D2D2D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pt-BR" sz="1750" u="none" cap="none" strike="noStrike">
                <a:solidFill>
                  <a:srgbClr val="CCCCCC"/>
                </a:solidFill>
                <a:latin typeface="Verdana"/>
                <a:ea typeface="Verdana"/>
                <a:cs typeface="Verdana"/>
                <a:sym typeface="Verdana"/>
              </a:rPr>
              <a:t>@Transactional</a:t>
            </a:r>
            <a:endParaRPr b="0" i="0" sz="1750" u="none" cap="none" strike="noStrike">
              <a:solidFill>
                <a:srgbClr val="CCCCCC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0" i="0" lang="pt-BR" sz="1750" u="none" cap="none" strike="noStrike">
                <a:solidFill>
                  <a:srgbClr val="FFFFFF"/>
                </a:solidFill>
                <a:highlight>
                  <a:srgbClr val="2D2D2D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pt-BR" sz="1750" u="none" cap="none" strike="noStrike">
                <a:solidFill>
                  <a:srgbClr val="CC99CD"/>
                </a:solidFill>
                <a:latin typeface="Verdana"/>
                <a:ea typeface="Verdana"/>
                <a:cs typeface="Verdana"/>
                <a:sym typeface="Verdana"/>
              </a:rPr>
              <a:t>public</a:t>
            </a:r>
            <a:r>
              <a:rPr b="0" i="0" lang="pt-BR" sz="1750" u="none" cap="none" strike="noStrike">
                <a:solidFill>
                  <a:srgbClr val="FFFFFF"/>
                </a:solidFill>
                <a:highlight>
                  <a:srgbClr val="2D2D2D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pt-BR" sz="1750" u="none" cap="none" strike="noStrike">
                <a:solidFill>
                  <a:srgbClr val="CC99CD"/>
                </a:solidFill>
                <a:latin typeface="Verdana"/>
                <a:ea typeface="Verdana"/>
                <a:cs typeface="Verdana"/>
                <a:sym typeface="Verdana"/>
              </a:rPr>
              <a:t>void</a:t>
            </a:r>
            <a:r>
              <a:rPr b="0" i="0" lang="pt-BR" sz="1750" u="none" cap="none" strike="noStrike">
                <a:solidFill>
                  <a:srgbClr val="FFFFFF"/>
                </a:solidFill>
                <a:highlight>
                  <a:srgbClr val="2D2D2D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pt-BR" sz="1750" u="none" cap="none" strike="noStrike">
                <a:solidFill>
                  <a:srgbClr val="F08D49"/>
                </a:solidFill>
                <a:latin typeface="Verdana"/>
                <a:ea typeface="Verdana"/>
                <a:cs typeface="Verdana"/>
                <a:sym typeface="Verdana"/>
              </a:rPr>
              <a:t>processarPedido</a:t>
            </a:r>
            <a:r>
              <a:rPr b="0" i="0" lang="pt-BR" sz="1750" u="none" cap="none" strike="noStrike">
                <a:solidFill>
                  <a:srgbClr val="CCCCCC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b="0" i="0" lang="pt-BR" sz="1750" u="none" cap="none" strike="noStrike">
                <a:solidFill>
                  <a:srgbClr val="F8C555"/>
                </a:solidFill>
                <a:latin typeface="Verdana"/>
                <a:ea typeface="Verdana"/>
                <a:cs typeface="Verdana"/>
                <a:sym typeface="Verdana"/>
              </a:rPr>
              <a:t>Pedido</a:t>
            </a:r>
            <a:r>
              <a:rPr b="0" i="0" lang="pt-BR" sz="1750" u="none" cap="none" strike="noStrike">
                <a:solidFill>
                  <a:srgbClr val="FFFFFF"/>
                </a:solidFill>
                <a:highlight>
                  <a:srgbClr val="2D2D2D"/>
                </a:highlight>
                <a:latin typeface="Courier New"/>
                <a:ea typeface="Courier New"/>
                <a:cs typeface="Courier New"/>
                <a:sym typeface="Courier New"/>
              </a:rPr>
              <a:t> pedido</a:t>
            </a:r>
            <a:r>
              <a:rPr b="0" i="0" lang="pt-BR" sz="1750" u="none" cap="none" strike="noStrike">
                <a:solidFill>
                  <a:srgbClr val="CCCCCC"/>
                </a:solidFill>
                <a:latin typeface="Verdana"/>
                <a:ea typeface="Verdana"/>
                <a:cs typeface="Verdana"/>
                <a:sym typeface="Verdana"/>
              </a:rPr>
              <a:t>)</a:t>
            </a:r>
            <a:r>
              <a:rPr b="0" i="0" lang="pt-BR" sz="1750" u="none" cap="none" strike="noStrike">
                <a:solidFill>
                  <a:srgbClr val="FFFFFF"/>
                </a:solidFill>
                <a:highlight>
                  <a:srgbClr val="2D2D2D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pt-BR" sz="1750" u="none" cap="none" strike="noStrike">
                <a:solidFill>
                  <a:srgbClr val="CCCCCC"/>
                </a:solidFill>
                <a:latin typeface="Verdana"/>
                <a:ea typeface="Verdana"/>
                <a:cs typeface="Verdana"/>
                <a:sym typeface="Verdana"/>
              </a:rPr>
              <a:t>{</a:t>
            </a:r>
            <a:endParaRPr b="0" i="0" sz="1750" u="none" cap="none" strike="noStrike">
              <a:solidFill>
                <a:srgbClr val="CCCCCC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0" i="0" lang="pt-BR" sz="1750" u="none" cap="none" strike="noStrike">
                <a:solidFill>
                  <a:srgbClr val="FFFFFF"/>
                </a:solidFill>
                <a:highlight>
                  <a:srgbClr val="2D2D2D"/>
                </a:highlight>
                <a:latin typeface="Courier New"/>
                <a:ea typeface="Courier New"/>
                <a:cs typeface="Courier New"/>
                <a:sym typeface="Courier New"/>
              </a:rPr>
              <a:t>   	pedidoRepository</a:t>
            </a:r>
            <a:r>
              <a:rPr b="0" i="0" lang="pt-BR" sz="1750" u="none" cap="none" strike="noStrike">
                <a:solidFill>
                  <a:srgbClr val="CCCCCC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r>
              <a:rPr b="0" i="0" lang="pt-BR" sz="1750" u="none" cap="none" strike="noStrike">
                <a:solidFill>
                  <a:srgbClr val="F08D49"/>
                </a:solidFill>
                <a:latin typeface="Verdana"/>
                <a:ea typeface="Verdana"/>
                <a:cs typeface="Verdana"/>
                <a:sym typeface="Verdana"/>
              </a:rPr>
              <a:t>save</a:t>
            </a:r>
            <a:r>
              <a:rPr b="0" i="0" lang="pt-BR" sz="1750" u="none" cap="none" strike="noStrike">
                <a:solidFill>
                  <a:srgbClr val="CCCCCC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b="0" i="0" lang="pt-BR" sz="1750" u="none" cap="none" strike="noStrike">
                <a:solidFill>
                  <a:srgbClr val="FFFFFF"/>
                </a:solidFill>
                <a:highlight>
                  <a:srgbClr val="2D2D2D"/>
                </a:highlight>
                <a:latin typeface="Courier New"/>
                <a:ea typeface="Courier New"/>
                <a:cs typeface="Courier New"/>
                <a:sym typeface="Courier New"/>
              </a:rPr>
              <a:t>pedido</a:t>
            </a:r>
            <a:r>
              <a:rPr b="0" i="0" lang="pt-BR" sz="1750" u="none" cap="none" strike="noStrike">
                <a:solidFill>
                  <a:srgbClr val="CCCCCC"/>
                </a:solidFill>
                <a:latin typeface="Verdana"/>
                <a:ea typeface="Verdana"/>
                <a:cs typeface="Verdana"/>
                <a:sym typeface="Verdana"/>
              </a:rPr>
              <a:t>);</a:t>
            </a:r>
            <a:endParaRPr b="0" i="0" sz="1750" u="none" cap="none" strike="noStrike">
              <a:solidFill>
                <a:srgbClr val="CCCCCC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0" i="0" lang="pt-BR" sz="1750" u="none" cap="none" strike="noStrike">
                <a:solidFill>
                  <a:srgbClr val="FFFFFF"/>
                </a:solidFill>
                <a:highlight>
                  <a:srgbClr val="2D2D2D"/>
                </a:highlight>
                <a:latin typeface="Courier New"/>
                <a:ea typeface="Courier New"/>
                <a:cs typeface="Courier New"/>
                <a:sym typeface="Courier New"/>
              </a:rPr>
              <a:t>   	pagamentoService</a:t>
            </a:r>
            <a:r>
              <a:rPr b="0" i="0" lang="pt-BR" sz="1750" u="none" cap="none" strike="noStrike">
                <a:solidFill>
                  <a:srgbClr val="CCCCCC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r>
              <a:rPr b="0" i="0" lang="pt-BR" sz="1750" u="none" cap="none" strike="noStrike">
                <a:solidFill>
                  <a:srgbClr val="F08D49"/>
                </a:solidFill>
                <a:latin typeface="Verdana"/>
                <a:ea typeface="Verdana"/>
                <a:cs typeface="Verdana"/>
                <a:sym typeface="Verdana"/>
              </a:rPr>
              <a:t>cobrar</a:t>
            </a:r>
            <a:r>
              <a:rPr b="0" i="0" lang="pt-BR" sz="1750" u="none" cap="none" strike="noStrike">
                <a:solidFill>
                  <a:srgbClr val="CCCCCC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b="0" i="0" lang="pt-BR" sz="1750" u="none" cap="none" strike="noStrike">
                <a:solidFill>
                  <a:srgbClr val="FFFFFF"/>
                </a:solidFill>
                <a:highlight>
                  <a:srgbClr val="2D2D2D"/>
                </a:highlight>
                <a:latin typeface="Courier New"/>
                <a:ea typeface="Courier New"/>
                <a:cs typeface="Courier New"/>
                <a:sym typeface="Courier New"/>
              </a:rPr>
              <a:t>pedido</a:t>
            </a:r>
            <a:r>
              <a:rPr b="0" i="0" lang="pt-BR" sz="1750" u="none" cap="none" strike="noStrike">
                <a:solidFill>
                  <a:srgbClr val="CCCCCC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r>
              <a:rPr b="0" i="0" lang="pt-BR" sz="1750" u="none" cap="none" strike="noStrike">
                <a:solidFill>
                  <a:srgbClr val="F08D49"/>
                </a:solidFill>
                <a:latin typeface="Verdana"/>
                <a:ea typeface="Verdana"/>
                <a:cs typeface="Verdana"/>
                <a:sym typeface="Verdana"/>
              </a:rPr>
              <a:t>getCliente</a:t>
            </a:r>
            <a:r>
              <a:rPr b="0" i="0" lang="pt-BR" sz="1750" u="none" cap="none" strike="noStrike">
                <a:solidFill>
                  <a:srgbClr val="CCCCCC"/>
                </a:solidFill>
                <a:latin typeface="Verdana"/>
                <a:ea typeface="Verdana"/>
                <a:cs typeface="Verdana"/>
                <a:sym typeface="Verdana"/>
              </a:rPr>
              <a:t>());</a:t>
            </a:r>
            <a:endParaRPr b="0" i="0" sz="1750" u="none" cap="none" strike="noStrike">
              <a:solidFill>
                <a:srgbClr val="CCCCCC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0" i="0" lang="pt-BR" sz="1750" u="none" cap="none" strike="noStrike">
                <a:solidFill>
                  <a:srgbClr val="FFFFFF"/>
                </a:solidFill>
                <a:highlight>
                  <a:srgbClr val="2D2D2D"/>
                </a:highlight>
                <a:latin typeface="Courier New"/>
                <a:ea typeface="Courier New"/>
                <a:cs typeface="Courier New"/>
                <a:sym typeface="Courier New"/>
              </a:rPr>
              <a:t>   	entregaService</a:t>
            </a:r>
            <a:r>
              <a:rPr b="0" i="0" lang="pt-BR" sz="1750" u="none" cap="none" strike="noStrike">
                <a:solidFill>
                  <a:srgbClr val="CCCCCC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r>
              <a:rPr b="0" i="0" lang="pt-BR" sz="1750" u="none" cap="none" strike="noStrike">
                <a:solidFill>
                  <a:srgbClr val="F08D49"/>
                </a:solidFill>
                <a:latin typeface="Verdana"/>
                <a:ea typeface="Verdana"/>
                <a:cs typeface="Verdana"/>
                <a:sym typeface="Verdana"/>
              </a:rPr>
              <a:t>agendarEntrega</a:t>
            </a:r>
            <a:r>
              <a:rPr b="0" i="0" lang="pt-BR" sz="1750" u="none" cap="none" strike="noStrike">
                <a:solidFill>
                  <a:srgbClr val="CCCCCC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b="0" i="0" lang="pt-BR" sz="1750" u="none" cap="none" strike="noStrike">
                <a:solidFill>
                  <a:srgbClr val="FFFFFF"/>
                </a:solidFill>
                <a:highlight>
                  <a:srgbClr val="2D2D2D"/>
                </a:highlight>
                <a:latin typeface="Courier New"/>
                <a:ea typeface="Courier New"/>
                <a:cs typeface="Courier New"/>
                <a:sym typeface="Courier New"/>
              </a:rPr>
              <a:t>pedido</a:t>
            </a:r>
            <a:r>
              <a:rPr b="0" i="0" lang="pt-BR" sz="1750" u="none" cap="none" strike="noStrike">
                <a:solidFill>
                  <a:srgbClr val="CCCCCC"/>
                </a:solidFill>
                <a:latin typeface="Verdana"/>
                <a:ea typeface="Verdana"/>
                <a:cs typeface="Verdana"/>
                <a:sym typeface="Verdana"/>
              </a:rPr>
              <a:t>);</a:t>
            </a:r>
            <a:endParaRPr b="0" i="0" sz="1750" u="none" cap="none" strike="noStrike">
              <a:solidFill>
                <a:srgbClr val="CCCCCC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0" i="0" lang="pt-BR" sz="1750" u="none" cap="none" strike="noStrike">
                <a:solidFill>
                  <a:srgbClr val="FFFFFF"/>
                </a:solidFill>
                <a:highlight>
                  <a:srgbClr val="2D2D2D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pt-BR" sz="1750" u="none" cap="none" strike="noStrike">
                <a:solidFill>
                  <a:srgbClr val="CCCCCC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 b="0" i="0" sz="1750" u="none" cap="none" strike="noStrike">
              <a:solidFill>
                <a:srgbClr val="CCCCCC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0" i="0" lang="pt-BR" sz="1750" u="none" cap="none" strike="noStrike">
                <a:solidFill>
                  <a:srgbClr val="CCCCCC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1"/>
          <p:cNvSpPr txBox="1"/>
          <p:nvPr/>
        </p:nvSpPr>
        <p:spPr>
          <a:xfrm>
            <a:off x="801950" y="1237000"/>
            <a:ext cx="7429500" cy="82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00">
                <a:solidFill>
                  <a:schemeClr val="dk1"/>
                </a:solidFill>
              </a:rPr>
              <a:t>O </a:t>
            </a:r>
            <a:r>
              <a:rPr lang="pt-BR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@Transactional</a:t>
            </a:r>
            <a:r>
              <a:rPr lang="pt-BR" sz="1700">
                <a:solidFill>
                  <a:schemeClr val="dk1"/>
                </a:solidFill>
              </a:rPr>
              <a:t> garante que todas as operações dentro de um método sejam executadas como </a:t>
            </a:r>
            <a:r>
              <a:rPr b="1" lang="pt-BR" sz="1700">
                <a:solidFill>
                  <a:schemeClr val="dk1"/>
                </a:solidFill>
              </a:rPr>
              <a:t>parte de uma única transação</a:t>
            </a:r>
            <a:r>
              <a:rPr lang="pt-BR" sz="1700">
                <a:solidFill>
                  <a:schemeClr val="dk1"/>
                </a:solidFill>
              </a:rPr>
              <a:t>.</a:t>
            </a:r>
            <a:br>
              <a:rPr lang="pt-BR" sz="1700">
                <a:solidFill>
                  <a:schemeClr val="dk1"/>
                </a:solidFill>
              </a:rPr>
            </a:br>
            <a:r>
              <a:rPr lang="pt-BR" sz="1700">
                <a:solidFill>
                  <a:schemeClr val="dk1"/>
                </a:solidFill>
              </a:rPr>
              <a:t> No exemplo: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b="1" lang="pt-BR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pedidoRepository.save(pedido)</a:t>
            </a:r>
            <a:br>
              <a:rPr lang="pt-BR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pt-BR" sz="1700">
                <a:solidFill>
                  <a:schemeClr val="dk1"/>
                </a:solidFill>
              </a:rPr>
              <a:t>Persiste o pedido no banco de dados, mas ainda não confirma (commit).</a:t>
            </a:r>
            <a:br>
              <a:rPr lang="pt-BR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b="1" lang="pt-BR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pagamentoService.cobrar(pedido.getCliente())</a:t>
            </a:r>
            <a:br>
              <a:rPr lang="pt-BR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pt-BR" sz="1700">
                <a:solidFill>
                  <a:schemeClr val="dk1"/>
                </a:solidFill>
              </a:rPr>
              <a:t>Realiza a cobrança usando o gateway de pagamento configurado.</a:t>
            </a:r>
            <a:br>
              <a:rPr lang="pt-BR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b="1" lang="pt-BR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entregaService.agendarEntrega(pedido)</a:t>
            </a:r>
            <a:br>
              <a:rPr lang="pt-BR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pt-BR" sz="1700">
                <a:solidFill>
                  <a:schemeClr val="dk1"/>
                </a:solidFill>
              </a:rPr>
              <a:t>Agenda a entrega do pedido confirmado.</a:t>
            </a:r>
            <a:br>
              <a:rPr lang="pt-BR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700">
                <a:solidFill>
                  <a:schemeClr val="dk1"/>
                </a:solidFill>
              </a:rPr>
              <a:t>Comportamento do </a:t>
            </a:r>
            <a:r>
              <a:rPr b="1" lang="pt-BR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@Transactional</a:t>
            </a:r>
            <a:r>
              <a:rPr b="1" lang="pt-BR" sz="1700">
                <a:solidFill>
                  <a:schemeClr val="dk1"/>
                </a:solidFill>
              </a:rPr>
              <a:t>: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pt-BR" sz="1700">
                <a:solidFill>
                  <a:schemeClr val="dk1"/>
                </a:solidFill>
              </a:rPr>
              <a:t>Se </a:t>
            </a:r>
            <a:r>
              <a:rPr b="1" lang="pt-BR" sz="1700">
                <a:solidFill>
                  <a:schemeClr val="dk1"/>
                </a:solidFill>
              </a:rPr>
              <a:t>todas</a:t>
            </a:r>
            <a:r>
              <a:rPr lang="pt-BR" sz="1700">
                <a:solidFill>
                  <a:schemeClr val="dk1"/>
                </a:solidFill>
              </a:rPr>
              <a:t> as operações forem concluídas sem erros → o Spring executa o </a:t>
            </a:r>
            <a:r>
              <a:rPr b="1" lang="pt-BR" sz="1700">
                <a:solidFill>
                  <a:schemeClr val="dk1"/>
                </a:solidFill>
              </a:rPr>
              <a:t>commit</a:t>
            </a:r>
            <a:r>
              <a:rPr lang="pt-BR" sz="1700">
                <a:solidFill>
                  <a:schemeClr val="dk1"/>
                </a:solidFill>
              </a:rPr>
              <a:t>, confirmando as alterações no banco.</a:t>
            </a:r>
            <a:br>
              <a:rPr lang="pt-BR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pt-BR" sz="1700">
                <a:solidFill>
                  <a:schemeClr val="dk1"/>
                </a:solidFill>
              </a:rPr>
              <a:t>Se </a:t>
            </a:r>
            <a:r>
              <a:rPr b="1" lang="pt-BR" sz="1700">
                <a:solidFill>
                  <a:schemeClr val="dk1"/>
                </a:solidFill>
              </a:rPr>
              <a:t>qualquer</a:t>
            </a:r>
            <a:r>
              <a:rPr lang="pt-BR" sz="1700">
                <a:solidFill>
                  <a:schemeClr val="dk1"/>
                </a:solidFill>
              </a:rPr>
              <a:t> operação lançar uma exceção → o Spring executa </a:t>
            </a:r>
            <a:r>
              <a:rPr b="1" lang="pt-BR" sz="1700">
                <a:solidFill>
                  <a:schemeClr val="dk1"/>
                </a:solidFill>
              </a:rPr>
              <a:t>rollback</a:t>
            </a:r>
            <a:r>
              <a:rPr lang="pt-BR" sz="1700">
                <a:solidFill>
                  <a:schemeClr val="dk1"/>
                </a:solidFill>
              </a:rPr>
              <a:t>, desfazendo tudo e retornando ao estado anterior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1"/>
          <p:cNvSpPr txBox="1"/>
          <p:nvPr/>
        </p:nvSpPr>
        <p:spPr>
          <a:xfrm>
            <a:off x="5082400" y="280600"/>
            <a:ext cx="10380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chemeClr val="dk1"/>
                </a:solidFill>
              </a:rPr>
              <a:t>Transações com Spring Boot usando </a:t>
            </a:r>
            <a:r>
              <a:rPr b="1" lang="pt-BR" sz="2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@Transactional</a:t>
            </a:r>
            <a:endParaRPr b="1" sz="4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2" name="Google Shape;302;p23"/>
          <p:cNvCxnSpPr/>
          <p:nvPr/>
        </p:nvCxnSpPr>
        <p:spPr>
          <a:xfrm>
            <a:off x="3001685" y="1057186"/>
            <a:ext cx="5237960" cy="0"/>
          </a:xfrm>
          <a:prstGeom prst="straightConnector1">
            <a:avLst/>
          </a:prstGeom>
          <a:noFill/>
          <a:ln cap="flat" cmpd="sng" w="38100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3" name="Google Shape;303;p23"/>
          <p:cNvSpPr txBox="1"/>
          <p:nvPr/>
        </p:nvSpPr>
        <p:spPr>
          <a:xfrm>
            <a:off x="3276600" y="348209"/>
            <a:ext cx="6280430" cy="7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pt-BR" sz="5600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Nosso Break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4" name="Google Shape;30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0200" y="4118768"/>
            <a:ext cx="8745936" cy="5820023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3"/>
          <p:cNvSpPr txBox="1"/>
          <p:nvPr/>
        </p:nvSpPr>
        <p:spPr>
          <a:xfrm>
            <a:off x="6390795" y="2933700"/>
            <a:ext cx="675891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lang="pt-BR" sz="5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r>
              <a:rPr b="1" i="0" lang="pt-BR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minutos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0" name="Google Shape;310;p24"/>
          <p:cNvCxnSpPr/>
          <p:nvPr/>
        </p:nvCxnSpPr>
        <p:spPr>
          <a:xfrm>
            <a:off x="3001685" y="1057186"/>
            <a:ext cx="5237960" cy="0"/>
          </a:xfrm>
          <a:prstGeom prst="straightConnector1">
            <a:avLst/>
          </a:prstGeom>
          <a:noFill/>
          <a:ln cap="flat" cmpd="sng" w="38100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1" name="Google Shape;311;p24"/>
          <p:cNvSpPr txBox="1"/>
          <p:nvPr/>
        </p:nvSpPr>
        <p:spPr>
          <a:xfrm>
            <a:off x="3276600" y="377016"/>
            <a:ext cx="5237959" cy="1401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pt-BR" sz="5600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Aplicação Demonstração</a:t>
            </a:r>
            <a:endParaRPr b="1" i="0" sz="5600" u="none" cap="none" strike="noStrike">
              <a:solidFill>
                <a:srgbClr val="E306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2" name="Google Shape;31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5710" y="377016"/>
            <a:ext cx="5648265" cy="2294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14600" y="3162300"/>
            <a:ext cx="12411075" cy="731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8" name="Google Shape;318;p25"/>
          <p:cNvCxnSpPr/>
          <p:nvPr/>
        </p:nvCxnSpPr>
        <p:spPr>
          <a:xfrm>
            <a:off x="3001685" y="1057186"/>
            <a:ext cx="5237960" cy="0"/>
          </a:xfrm>
          <a:prstGeom prst="straightConnector1">
            <a:avLst/>
          </a:prstGeom>
          <a:noFill/>
          <a:ln cap="flat" cmpd="sng" w="38100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9" name="Google Shape;319;p25"/>
          <p:cNvSpPr txBox="1"/>
          <p:nvPr/>
        </p:nvSpPr>
        <p:spPr>
          <a:xfrm>
            <a:off x="3276600" y="377016"/>
            <a:ext cx="5237959" cy="1401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pt-BR" sz="5600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Aplicação Demonstração</a:t>
            </a:r>
            <a:endParaRPr b="1" i="0" sz="5600" u="none" cap="none" strike="noStrike">
              <a:solidFill>
                <a:srgbClr val="E306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0" name="Google Shape;32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5710" y="377016"/>
            <a:ext cx="5648265" cy="2294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00325" y="2971800"/>
            <a:ext cx="12411075" cy="731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6" name="Google Shape;326;p26"/>
          <p:cNvCxnSpPr/>
          <p:nvPr/>
        </p:nvCxnSpPr>
        <p:spPr>
          <a:xfrm>
            <a:off x="3001685" y="1057186"/>
            <a:ext cx="5237960" cy="0"/>
          </a:xfrm>
          <a:prstGeom prst="straightConnector1">
            <a:avLst/>
          </a:prstGeom>
          <a:noFill/>
          <a:ln cap="flat" cmpd="sng" w="38100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7" name="Google Shape;327;p26"/>
          <p:cNvSpPr txBox="1"/>
          <p:nvPr/>
        </p:nvSpPr>
        <p:spPr>
          <a:xfrm>
            <a:off x="3276600" y="377016"/>
            <a:ext cx="5237959" cy="1401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pt-BR" sz="5600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Aplicação Demonstração</a:t>
            </a:r>
            <a:endParaRPr b="1" i="0" sz="5600" u="none" cap="none" strike="noStrike">
              <a:solidFill>
                <a:srgbClr val="E306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8" name="Google Shape;32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5710" y="377016"/>
            <a:ext cx="5648265" cy="2294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38462" y="2458660"/>
            <a:ext cx="12411075" cy="731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01375" y="2881625"/>
            <a:ext cx="8191500" cy="5248275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7"/>
          <p:cNvSpPr txBox="1"/>
          <p:nvPr/>
        </p:nvSpPr>
        <p:spPr>
          <a:xfrm>
            <a:off x="603700" y="1819800"/>
            <a:ext cx="6717900" cy="84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chemeClr val="dk1"/>
                </a:solidFill>
              </a:rPr>
              <a:t>Esta classe representa a </a:t>
            </a:r>
            <a:r>
              <a:rPr b="1" lang="pt-BR" sz="1800">
                <a:solidFill>
                  <a:schemeClr val="dk1"/>
                </a:solidFill>
              </a:rPr>
              <a:t>tabela </a:t>
            </a:r>
            <a:r>
              <a:rPr b="1" lang="pt-BR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pedido</a:t>
            </a:r>
            <a:r>
              <a:rPr lang="pt-BR" sz="1800">
                <a:solidFill>
                  <a:schemeClr val="dk1"/>
                </a:solidFill>
              </a:rPr>
              <a:t> no banco de dados e define seus atributos, regras e comportamentos automáticos.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</a:rPr>
              <a:t>O que cada parte faz: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pt-BR" sz="1800">
                <a:solidFill>
                  <a:schemeClr val="dk1"/>
                </a:solidFill>
              </a:rPr>
              <a:t>📄 </a:t>
            </a:r>
            <a:r>
              <a:rPr b="1" lang="pt-BR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@Entity</a:t>
            </a:r>
            <a:r>
              <a:rPr lang="pt-BR" sz="1800">
                <a:solidFill>
                  <a:schemeClr val="dk1"/>
                </a:solidFill>
              </a:rPr>
              <a:t> — Mapeia a classe para uma tabela no banco de dados.</a:t>
            </a:r>
            <a:br>
              <a:rPr lang="pt-BR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pt-BR" sz="1800">
                <a:solidFill>
                  <a:schemeClr val="dk1"/>
                </a:solidFill>
              </a:rPr>
              <a:t>🔑 </a:t>
            </a:r>
            <a:r>
              <a:rPr b="1" lang="pt-BR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@Id</a:t>
            </a:r>
            <a:r>
              <a:rPr b="1" lang="pt-BR" sz="1800">
                <a:solidFill>
                  <a:schemeClr val="dk1"/>
                </a:solidFill>
              </a:rPr>
              <a:t> + </a:t>
            </a:r>
            <a:r>
              <a:rPr b="1" lang="pt-BR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@GeneratedValue</a:t>
            </a:r>
            <a:r>
              <a:rPr lang="pt-BR" sz="1800">
                <a:solidFill>
                  <a:schemeClr val="dk1"/>
                </a:solidFill>
              </a:rPr>
              <a:t> — Define </a:t>
            </a:r>
            <a:r>
              <a:rPr lang="pt-BR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lang="pt-BR" sz="1800">
                <a:solidFill>
                  <a:schemeClr val="dk1"/>
                </a:solidFill>
              </a:rPr>
              <a:t> como chave primária gerada automaticamente pelo banco.</a:t>
            </a:r>
            <a:br>
              <a:rPr lang="pt-BR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pt-BR" sz="1800">
                <a:solidFill>
                  <a:schemeClr val="dk1"/>
                </a:solidFill>
              </a:rPr>
              <a:t>📦 Atributos principais</a:t>
            </a:r>
            <a:r>
              <a:rPr lang="pt-BR" sz="1800">
                <a:solidFill>
                  <a:schemeClr val="dk1"/>
                </a:solidFill>
              </a:rPr>
              <a:t>:</a:t>
            </a:r>
            <a:br>
              <a:rPr lang="pt-BR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cliente</a:t>
            </a:r>
            <a:r>
              <a:rPr lang="pt-BR" sz="1800">
                <a:solidFill>
                  <a:schemeClr val="dk1"/>
                </a:solidFill>
              </a:rPr>
              <a:t> — Nome do cliente que fez o pedido.</a:t>
            </a:r>
            <a:br>
              <a:rPr lang="pt-BR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valorTotal</a:t>
            </a:r>
            <a:r>
              <a:rPr lang="pt-BR" sz="1800">
                <a:solidFill>
                  <a:schemeClr val="dk1"/>
                </a:solidFill>
              </a:rPr>
              <a:t> — Valor total do pedido.</a:t>
            </a:r>
            <a:br>
              <a:rPr lang="pt-BR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dataPedido</a:t>
            </a:r>
            <a:r>
              <a:rPr lang="pt-BR" sz="1800">
                <a:solidFill>
                  <a:schemeClr val="dk1"/>
                </a:solidFill>
              </a:rPr>
              <a:t> — Data e hora em que o pedido foi criado.</a:t>
            </a:r>
            <a:br>
              <a:rPr lang="pt-BR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status</a:t>
            </a:r>
            <a:r>
              <a:rPr lang="pt-BR" sz="1800">
                <a:solidFill>
                  <a:schemeClr val="dk1"/>
                </a:solidFill>
              </a:rPr>
              <a:t> — Estado atual do pedido (ex.: </a:t>
            </a:r>
            <a:r>
              <a:rPr i="1" lang="pt-BR" sz="1800">
                <a:solidFill>
                  <a:schemeClr val="dk1"/>
                </a:solidFill>
              </a:rPr>
              <a:t>PENDENTE</a:t>
            </a:r>
            <a:r>
              <a:rPr lang="pt-BR" sz="1800">
                <a:solidFill>
                  <a:schemeClr val="dk1"/>
                </a:solidFill>
              </a:rPr>
              <a:t>, </a:t>
            </a:r>
            <a:r>
              <a:rPr i="1" lang="pt-BR" sz="1800">
                <a:solidFill>
                  <a:schemeClr val="dk1"/>
                </a:solidFill>
              </a:rPr>
              <a:t>ENVIADO</a:t>
            </a:r>
            <a:r>
              <a:rPr lang="pt-BR" sz="1800">
                <a:solidFill>
                  <a:schemeClr val="dk1"/>
                </a:solidFill>
              </a:rPr>
              <a:t>).</a:t>
            </a:r>
            <a:br>
              <a:rPr lang="pt-BR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pt-BR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@PrePersist</a:t>
            </a:r>
            <a:r>
              <a:rPr lang="pt-BR" sz="1800">
                <a:solidFill>
                  <a:schemeClr val="dk1"/>
                </a:solidFill>
              </a:rPr>
              <a:t> — Método executado antes de salvar no banco; define </a:t>
            </a:r>
            <a:r>
              <a:rPr lang="pt-BR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dataPedido</a:t>
            </a:r>
            <a:r>
              <a:rPr lang="pt-BR" sz="1800">
                <a:solidFill>
                  <a:schemeClr val="dk1"/>
                </a:solidFill>
              </a:rPr>
              <a:t> com o momento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7"/>
          <p:cNvSpPr txBox="1"/>
          <p:nvPr/>
        </p:nvSpPr>
        <p:spPr>
          <a:xfrm>
            <a:off x="4965775" y="490550"/>
            <a:ext cx="6717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chemeClr val="dk1"/>
                </a:solidFill>
              </a:rPr>
              <a:t>Classe </a:t>
            </a:r>
            <a:r>
              <a:rPr b="1" lang="pt-BR" sz="2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Pedido</a:t>
            </a:r>
            <a:r>
              <a:rPr b="1" lang="pt-BR" sz="2600">
                <a:solidFill>
                  <a:schemeClr val="dk1"/>
                </a:solidFill>
              </a:rPr>
              <a:t> — Mapeamento JPA</a:t>
            </a:r>
            <a:endParaRPr b="1" sz="4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5400" y="1470375"/>
            <a:ext cx="12485099" cy="2554175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8"/>
          <p:cNvSpPr txBox="1"/>
          <p:nvPr/>
        </p:nvSpPr>
        <p:spPr>
          <a:xfrm>
            <a:off x="4172650" y="257275"/>
            <a:ext cx="9039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</a:rPr>
              <a:t>Interface </a:t>
            </a:r>
            <a:r>
              <a:rPr b="1" lang="pt-BR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PedidoRepository</a:t>
            </a:r>
            <a:r>
              <a:rPr b="1" lang="pt-BR" sz="2400">
                <a:solidFill>
                  <a:schemeClr val="dk1"/>
                </a:solidFill>
              </a:rPr>
              <a:t> — DAO com Spring Data JPA</a:t>
            </a:r>
            <a:endParaRPr b="1"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8"/>
          <p:cNvSpPr txBox="1"/>
          <p:nvPr/>
        </p:nvSpPr>
        <p:spPr>
          <a:xfrm>
            <a:off x="1455125" y="4327775"/>
            <a:ext cx="16142100" cy="60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A </a:t>
            </a:r>
            <a:r>
              <a:rPr b="1"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PedidoRepository</a:t>
            </a:r>
            <a:r>
              <a:rPr lang="pt-BR">
                <a:solidFill>
                  <a:schemeClr val="dk1"/>
                </a:solidFill>
              </a:rPr>
              <a:t> é responsável por </a:t>
            </a:r>
            <a:r>
              <a:rPr b="1" lang="pt-BR">
                <a:solidFill>
                  <a:schemeClr val="dk1"/>
                </a:solidFill>
              </a:rPr>
              <a:t>isolar a lógica de acesso a dados</a:t>
            </a:r>
            <a:r>
              <a:rPr lang="pt-BR">
                <a:solidFill>
                  <a:schemeClr val="dk1"/>
                </a:solidFill>
              </a:rPr>
              <a:t> da aplicação, permitindo que outras partes do sistema interajam com o banco sem precisar escrever código SQL manual.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>
                <a:solidFill>
                  <a:schemeClr val="dk1"/>
                </a:solidFill>
              </a:rPr>
              <a:t>Características principais: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pt-BR">
                <a:solidFill>
                  <a:schemeClr val="dk1"/>
                </a:solidFill>
              </a:rPr>
              <a:t>Extende </a:t>
            </a:r>
            <a:r>
              <a:rPr b="1"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JpaRepository&lt;Pedido, Long&gt;</a:t>
            </a:r>
            <a:br>
              <a:rPr b="1"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b="1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pt-BR">
                <a:solidFill>
                  <a:schemeClr val="dk1"/>
                </a:solidFill>
              </a:rPr>
              <a:t>Herda métodos CRUD prontos, reduzindo código repetitivo.</a:t>
            </a:r>
            <a:br>
              <a:rPr lang="pt-BR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pt-BR">
                <a:solidFill>
                  <a:schemeClr val="dk1"/>
                </a:solidFill>
              </a:rPr>
              <a:t>Integra-se automaticamente ao contexto do Spring Data JPA.</a:t>
            </a:r>
            <a:br>
              <a:rPr lang="pt-BR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>
                <a:solidFill>
                  <a:schemeClr val="dk1"/>
                </a:solidFill>
              </a:rPr>
              <a:t>Métodos herdados mais usados: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findAll()</a:t>
            </a:r>
            <a:r>
              <a:rPr lang="pt-BR">
                <a:solidFill>
                  <a:schemeClr val="dk1"/>
                </a:solidFill>
              </a:rPr>
              <a:t> — Lista todos os registros.</a:t>
            </a:r>
            <a:br>
              <a:rPr lang="pt-BR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findById()</a:t>
            </a:r>
            <a:r>
              <a:rPr lang="pt-BR">
                <a:solidFill>
                  <a:schemeClr val="dk1"/>
                </a:solidFill>
              </a:rPr>
              <a:t> — Busca um registro pelo ID.</a:t>
            </a:r>
            <a:br>
              <a:rPr lang="pt-BR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save()</a:t>
            </a:r>
            <a:r>
              <a:rPr lang="pt-BR">
                <a:solidFill>
                  <a:schemeClr val="dk1"/>
                </a:solidFill>
              </a:rPr>
              <a:t> — Insere um novo registro ou atualiza um existente.</a:t>
            </a:r>
            <a:br>
              <a:rPr lang="pt-BR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deleteById()</a:t>
            </a:r>
            <a:r>
              <a:rPr lang="pt-BR">
                <a:solidFill>
                  <a:schemeClr val="dk1"/>
                </a:solidFill>
              </a:rPr>
              <a:t> — Remove um registro pelo ID.</a:t>
            </a:r>
            <a:br>
              <a:rPr lang="pt-BR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>
                <a:solidFill>
                  <a:schemeClr val="dk1"/>
                </a:solidFill>
              </a:rPr>
              <a:t>Com essa abordagem, o desenvolvedor foca na lógica de negócio, enquanto o Spring Data cuida da implementação de persistência.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29"/>
          <p:cNvPicPr preferRelativeResize="0"/>
          <p:nvPr/>
        </p:nvPicPr>
        <p:blipFill rotWithShape="1">
          <a:blip r:embed="rId3">
            <a:alphaModFix/>
          </a:blip>
          <a:srcRect b="28417" l="33280" r="39106" t="21848"/>
          <a:stretch/>
        </p:blipFill>
        <p:spPr>
          <a:xfrm>
            <a:off x="11217728" y="2254130"/>
            <a:ext cx="6535324" cy="6937837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9"/>
          <p:cNvSpPr txBox="1"/>
          <p:nvPr/>
        </p:nvSpPr>
        <p:spPr>
          <a:xfrm>
            <a:off x="3869425" y="502200"/>
            <a:ext cx="9937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dk1"/>
                </a:solidFill>
              </a:rPr>
              <a:t>Classe </a:t>
            </a:r>
            <a:r>
              <a:rPr b="1" lang="pt-BR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PedidoService</a:t>
            </a:r>
            <a:r>
              <a:rPr b="1" lang="pt-BR" sz="2200">
                <a:solidFill>
                  <a:schemeClr val="dk1"/>
                </a:solidFill>
              </a:rPr>
              <a:t> — Lógica de Negócio e Transações</a:t>
            </a:r>
            <a:endParaRPr b="1" sz="4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9"/>
          <p:cNvSpPr txBox="1"/>
          <p:nvPr/>
        </p:nvSpPr>
        <p:spPr>
          <a:xfrm>
            <a:off x="813650" y="1388600"/>
            <a:ext cx="9237300" cy="76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500">
                <a:solidFill>
                  <a:schemeClr val="dk1"/>
                </a:solidFill>
              </a:rPr>
              <a:t>Função principal:</a:t>
            </a:r>
            <a:br>
              <a:rPr b="1" lang="pt-BR" sz="1500">
                <a:solidFill>
                  <a:schemeClr val="dk1"/>
                </a:solidFill>
              </a:rPr>
            </a:br>
            <a:r>
              <a:rPr lang="pt-BR" sz="1500">
                <a:solidFill>
                  <a:schemeClr val="dk1"/>
                </a:solidFill>
              </a:rPr>
              <a:t> Implementar as regras de negócio e garantir que operações críticas sejam executadas de forma transacional.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500">
                <a:solidFill>
                  <a:schemeClr val="dk1"/>
                </a:solidFill>
              </a:rPr>
              <a:t>O que o código faz: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pt-BR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@Service</a:t>
            </a:r>
            <a:r>
              <a:rPr lang="pt-BR" sz="1500">
                <a:solidFill>
                  <a:schemeClr val="dk1"/>
                </a:solidFill>
              </a:rPr>
              <a:t> — Marca a classe como um componente de serviço, parte da camada de negócio.</a:t>
            </a:r>
            <a:br>
              <a:rPr lang="pt-BR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pt-BR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@Autowired</a:t>
            </a:r>
            <a:r>
              <a:rPr lang="pt-BR" sz="1500">
                <a:solidFill>
                  <a:schemeClr val="dk1"/>
                </a:solidFill>
              </a:rPr>
              <a:t> — Injeta automaticamente o </a:t>
            </a:r>
            <a:r>
              <a:rPr lang="pt-BR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PedidoRepository</a:t>
            </a:r>
            <a:r>
              <a:rPr lang="pt-BR" sz="1500">
                <a:solidFill>
                  <a:schemeClr val="dk1"/>
                </a:solidFill>
              </a:rPr>
              <a:t>, permitindo acesso ao banco de dados sem código manual de criação.</a:t>
            </a:r>
            <a:br>
              <a:rPr lang="pt-BR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pt-BR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processarPedido(Pedido pedido)</a:t>
            </a:r>
            <a:br>
              <a:rPr b="1" lang="pt-BR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b="1" sz="15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pt-BR" sz="1500">
                <a:solidFill>
                  <a:schemeClr val="dk1"/>
                </a:solidFill>
              </a:rPr>
              <a:t>Define o status inicial como </a:t>
            </a:r>
            <a:r>
              <a:rPr lang="pt-BR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"PENDENTE"</a:t>
            </a:r>
            <a:r>
              <a:rPr lang="pt-BR" sz="1500">
                <a:solidFill>
                  <a:schemeClr val="dk1"/>
                </a:solidFill>
              </a:rPr>
              <a:t>.</a:t>
            </a:r>
            <a:br>
              <a:rPr lang="pt-BR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pt-BR" sz="1500">
                <a:solidFill>
                  <a:schemeClr val="dk1"/>
                </a:solidFill>
              </a:rPr>
              <a:t>Salva o pedido no banco com </a:t>
            </a:r>
            <a:r>
              <a:rPr lang="pt-BR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save()</a:t>
            </a:r>
            <a:r>
              <a:rPr lang="pt-BR" sz="1500">
                <a:solidFill>
                  <a:schemeClr val="dk1"/>
                </a:solidFill>
              </a:rPr>
              <a:t>.</a:t>
            </a:r>
            <a:br>
              <a:rPr lang="pt-BR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pt-BR" sz="1500">
                <a:solidFill>
                  <a:schemeClr val="dk1"/>
                </a:solidFill>
              </a:rPr>
              <a:t>Está anotado com </a:t>
            </a:r>
            <a:r>
              <a:rPr b="1" lang="pt-BR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@Transactional</a:t>
            </a:r>
            <a:r>
              <a:rPr lang="pt-BR" sz="1500">
                <a:solidFill>
                  <a:schemeClr val="dk1"/>
                </a:solidFill>
              </a:rPr>
              <a:t>, garantindo que todas as etapas ocorram como uma única transação.</a:t>
            </a:r>
            <a:br>
              <a:rPr lang="pt-BR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pt-BR" sz="1500">
                <a:solidFill>
                  <a:schemeClr val="dk1"/>
                </a:solidFill>
              </a:rPr>
              <a:t>Se ocorrer erro durante a execução, o </a:t>
            </a:r>
            <a:r>
              <a:rPr b="1" lang="pt-BR" sz="1500">
                <a:solidFill>
                  <a:schemeClr val="dk1"/>
                </a:solidFill>
              </a:rPr>
              <a:t>rollback</a:t>
            </a:r>
            <a:r>
              <a:rPr lang="pt-BR" sz="1500">
                <a:solidFill>
                  <a:schemeClr val="dk1"/>
                </a:solidFill>
              </a:rPr>
              <a:t> é acionado automaticamente e nada é salvo.</a:t>
            </a:r>
            <a:br>
              <a:rPr lang="pt-BR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pt-BR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listarPedidos()</a:t>
            </a:r>
            <a:r>
              <a:rPr lang="pt-BR" sz="1500">
                <a:solidFill>
                  <a:schemeClr val="dk1"/>
                </a:solidFill>
              </a:rPr>
              <a:t> — Retorna todos os pedidos cadastrados usando </a:t>
            </a:r>
            <a:r>
              <a:rPr lang="pt-BR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findAll()</a:t>
            </a:r>
            <a:r>
              <a:rPr lang="pt-BR" sz="1500">
                <a:solidFill>
                  <a:schemeClr val="dk1"/>
                </a:solidFill>
              </a:rPr>
              <a:t> do repositório.</a:t>
            </a:r>
            <a:br>
              <a:rPr lang="pt-BR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pt-BR" sz="1500">
                <a:solidFill>
                  <a:schemeClr val="dk1"/>
                </a:solidFill>
              </a:rPr>
              <a:t>Resumo:</a:t>
            </a:r>
            <a:r>
              <a:rPr lang="pt-BR" sz="1500">
                <a:solidFill>
                  <a:schemeClr val="dk1"/>
                </a:solidFill>
              </a:rPr>
              <a:t> Essa classe centraliza a lógica de negócio do pedido e utiliza transações para manter a integridade dos dados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0"/>
          <p:cNvPicPr preferRelativeResize="0"/>
          <p:nvPr/>
        </p:nvPicPr>
        <p:blipFill rotWithShape="1">
          <a:blip r:embed="rId3">
            <a:alphaModFix/>
          </a:blip>
          <a:srcRect b="52082" l="32196" r="21757" t="30934"/>
          <a:stretch/>
        </p:blipFill>
        <p:spPr>
          <a:xfrm>
            <a:off x="10010276" y="3658800"/>
            <a:ext cx="7808426" cy="1926374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0"/>
          <p:cNvSpPr txBox="1"/>
          <p:nvPr/>
        </p:nvSpPr>
        <p:spPr>
          <a:xfrm>
            <a:off x="2501700" y="350575"/>
            <a:ext cx="13284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</a:rPr>
              <a:t>Classe </a:t>
            </a:r>
            <a:r>
              <a:rPr b="1" lang="pt-BR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DeliveryTransactionsDemoApplication</a:t>
            </a:r>
            <a:r>
              <a:rPr b="1" lang="pt-BR" sz="2000">
                <a:solidFill>
                  <a:schemeClr val="dk1"/>
                </a:solidFill>
              </a:rPr>
              <a:t> — Ponto de Entrada da Aplicação</a:t>
            </a:r>
            <a:endParaRPr b="1" sz="4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0"/>
          <p:cNvSpPr txBox="1"/>
          <p:nvPr/>
        </p:nvSpPr>
        <p:spPr>
          <a:xfrm>
            <a:off x="335450" y="1098450"/>
            <a:ext cx="9342300" cy="80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600">
                <a:solidFill>
                  <a:schemeClr val="dk1"/>
                </a:solidFill>
              </a:rPr>
              <a:t>Função principal:</a:t>
            </a:r>
            <a:br>
              <a:rPr b="1" lang="pt-BR" sz="1600">
                <a:solidFill>
                  <a:schemeClr val="dk1"/>
                </a:solidFill>
              </a:rPr>
            </a:br>
            <a:r>
              <a:rPr lang="pt-BR" sz="1600">
                <a:solidFill>
                  <a:schemeClr val="dk1"/>
                </a:solidFill>
              </a:rPr>
              <a:t> Iniciar a aplicação Spring Boot, configurando automaticamente todos os componentes necessários.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600">
                <a:solidFill>
                  <a:schemeClr val="dk1"/>
                </a:solidFill>
              </a:rPr>
              <a:t>O que o código faz: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pt-B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@SpringBootApplication</a:t>
            </a:r>
            <a:r>
              <a:rPr lang="pt-BR" sz="1600">
                <a:solidFill>
                  <a:schemeClr val="dk1"/>
                </a:solidFill>
              </a:rPr>
              <a:t> — Anotação que combina três funcionalidades:</a:t>
            </a:r>
            <a:br>
              <a:rPr lang="pt-BR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pt-B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@Configuration</a:t>
            </a:r>
            <a:r>
              <a:rPr lang="pt-BR" sz="1600">
                <a:solidFill>
                  <a:schemeClr val="dk1"/>
                </a:solidFill>
              </a:rPr>
              <a:t> — Permite definir configurações da aplicação.</a:t>
            </a:r>
            <a:br>
              <a:rPr lang="pt-BR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pt-B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@EnableAutoConfiguration</a:t>
            </a:r>
            <a:r>
              <a:rPr lang="pt-BR" sz="1600">
                <a:solidFill>
                  <a:schemeClr val="dk1"/>
                </a:solidFill>
              </a:rPr>
              <a:t> — Ativa a configuração automática com base nas dependências do projeto.</a:t>
            </a:r>
            <a:br>
              <a:rPr lang="pt-BR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pt-B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@ComponentScan</a:t>
            </a:r>
            <a:r>
              <a:rPr lang="pt-BR" sz="1600">
                <a:solidFill>
                  <a:schemeClr val="dk1"/>
                </a:solidFill>
              </a:rPr>
              <a:t> — Faz o escaneamento de pacotes para encontrar classes anotadas como componentes (</a:t>
            </a:r>
            <a:r>
              <a:rPr lang="pt-B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@Service</a:t>
            </a:r>
            <a:r>
              <a:rPr lang="pt-BR" sz="1600">
                <a:solidFill>
                  <a:schemeClr val="dk1"/>
                </a:solidFill>
              </a:rPr>
              <a:t>, </a:t>
            </a:r>
            <a:r>
              <a:rPr lang="pt-B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@Repository</a:t>
            </a:r>
            <a:r>
              <a:rPr lang="pt-BR" sz="1600">
                <a:solidFill>
                  <a:schemeClr val="dk1"/>
                </a:solidFill>
              </a:rPr>
              <a:t>, etc.).</a:t>
            </a:r>
            <a:br>
              <a:rPr lang="pt-BR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pt-B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main()</a:t>
            </a:r>
            <a:r>
              <a:rPr lang="pt-BR" sz="1600">
                <a:solidFill>
                  <a:schemeClr val="dk1"/>
                </a:solidFill>
              </a:rPr>
              <a:t> — Método padrão para iniciar aplicações Java:</a:t>
            </a:r>
            <a:br>
              <a:rPr lang="pt-BR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pt-BR" sz="1600">
                <a:solidFill>
                  <a:schemeClr val="dk1"/>
                </a:solidFill>
              </a:rPr>
              <a:t>Executa a aplicação com </a:t>
            </a:r>
            <a:r>
              <a:rPr lang="pt-B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SpringApplication.run(...)</a:t>
            </a:r>
            <a:r>
              <a:rPr lang="pt-BR" sz="1600">
                <a:solidFill>
                  <a:schemeClr val="dk1"/>
                </a:solidFill>
              </a:rPr>
              <a:t>.</a:t>
            </a:r>
            <a:br>
              <a:rPr lang="pt-BR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pt-BR" sz="1600">
                <a:solidFill>
                  <a:schemeClr val="dk1"/>
                </a:solidFill>
              </a:rPr>
              <a:t>Cria o banco de dados H2 em memória.</a:t>
            </a:r>
            <a:br>
              <a:rPr lang="pt-BR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pt-BR" sz="1600">
                <a:solidFill>
                  <a:schemeClr val="dk1"/>
                </a:solidFill>
              </a:rPr>
              <a:t>Escaneia todos os pacotes do projeto.</a:t>
            </a:r>
            <a:br>
              <a:rPr lang="pt-BR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pt-BR" sz="1600">
                <a:solidFill>
                  <a:schemeClr val="dk1"/>
                </a:solidFill>
              </a:rPr>
              <a:t>Inicializa o serviço web, normalmente acessível em </a:t>
            </a:r>
            <a:r>
              <a:rPr lang="pt-B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http://localhost:8080</a:t>
            </a:r>
            <a:r>
              <a:rPr lang="pt-BR" sz="1600">
                <a:solidFill>
                  <a:schemeClr val="dk1"/>
                </a:solidFill>
              </a:rPr>
              <a:t>.</a:t>
            </a:r>
            <a:br>
              <a:rPr lang="pt-BR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600">
                <a:solidFill>
                  <a:schemeClr val="dk1"/>
                </a:solidFill>
              </a:rPr>
              <a:t>É</a:t>
            </a:r>
            <a:r>
              <a:rPr b="1" lang="pt-BR" sz="1600">
                <a:solidFill>
                  <a:schemeClr val="dk1"/>
                </a:solidFill>
              </a:rPr>
              <a:t> o ponto de partida que liga toda a aplicação Spring Boot.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2" name="Google Shape;362;p34"/>
          <p:cNvCxnSpPr/>
          <p:nvPr/>
        </p:nvCxnSpPr>
        <p:spPr>
          <a:xfrm>
            <a:off x="3001685" y="1057186"/>
            <a:ext cx="5237960" cy="0"/>
          </a:xfrm>
          <a:prstGeom prst="straightConnector1">
            <a:avLst/>
          </a:prstGeom>
          <a:noFill/>
          <a:ln cap="flat" cmpd="sng" w="38100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3" name="Google Shape;363;p34"/>
          <p:cNvSpPr txBox="1"/>
          <p:nvPr/>
        </p:nvSpPr>
        <p:spPr>
          <a:xfrm>
            <a:off x="3276600" y="377016"/>
            <a:ext cx="5237959" cy="1401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pt-BR" sz="5600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Vamos ao AVA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4" name="Google Shape;36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0200" y="2493043"/>
            <a:ext cx="5486400" cy="55108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37449" y="1383085"/>
            <a:ext cx="3020210" cy="1917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14066" y="3695700"/>
            <a:ext cx="2466975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14066" y="5939081"/>
            <a:ext cx="2466975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728709" y="8146677"/>
            <a:ext cx="3028950" cy="1514475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4"/>
          <p:cNvSpPr txBox="1"/>
          <p:nvPr/>
        </p:nvSpPr>
        <p:spPr>
          <a:xfrm>
            <a:off x="13757659" y="2058240"/>
            <a:ext cx="28956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Vídeo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34"/>
          <p:cNvSpPr txBox="1"/>
          <p:nvPr/>
        </p:nvSpPr>
        <p:spPr>
          <a:xfrm>
            <a:off x="13792200" y="4034850"/>
            <a:ext cx="28956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34"/>
          <p:cNvSpPr txBox="1"/>
          <p:nvPr/>
        </p:nvSpPr>
        <p:spPr>
          <a:xfrm>
            <a:off x="13792200" y="6570618"/>
            <a:ext cx="28956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Perguntas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34"/>
          <p:cNvSpPr txBox="1"/>
          <p:nvPr/>
        </p:nvSpPr>
        <p:spPr>
          <a:xfrm>
            <a:off x="13792200" y="8611526"/>
            <a:ext cx="28956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Argumentação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7" name="Google Shape;377;p35"/>
          <p:cNvCxnSpPr/>
          <p:nvPr/>
        </p:nvCxnSpPr>
        <p:spPr>
          <a:xfrm>
            <a:off x="3001685" y="1057186"/>
            <a:ext cx="5237960" cy="0"/>
          </a:xfrm>
          <a:prstGeom prst="straightConnector1">
            <a:avLst/>
          </a:prstGeom>
          <a:noFill/>
          <a:ln cap="flat" cmpd="sng" w="38100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8" name="Google Shape;378;p35"/>
          <p:cNvSpPr txBox="1"/>
          <p:nvPr/>
        </p:nvSpPr>
        <p:spPr>
          <a:xfrm>
            <a:off x="3001686" y="348209"/>
            <a:ext cx="5237959" cy="7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pt-BR" sz="5600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Fechamento</a:t>
            </a:r>
            <a:endParaRPr b="1" i="0" sz="5600" u="none" cap="none" strike="noStrike">
              <a:solidFill>
                <a:srgbClr val="E306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9" name="Google Shape;37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6661" y="3238503"/>
            <a:ext cx="9065939" cy="60329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4" name="Google Shape;384;p36"/>
          <p:cNvGrpSpPr/>
          <p:nvPr/>
        </p:nvGrpSpPr>
        <p:grpSpPr>
          <a:xfrm>
            <a:off x="-168372" y="-196608"/>
            <a:ext cx="1197072" cy="10750131"/>
            <a:chOff x="0" y="-38100"/>
            <a:chExt cx="315278" cy="2831310"/>
          </a:xfrm>
        </p:grpSpPr>
        <p:sp>
          <p:nvSpPr>
            <p:cNvPr id="385" name="Google Shape;385;p36"/>
            <p:cNvSpPr/>
            <p:nvPr/>
          </p:nvSpPr>
          <p:spPr>
            <a:xfrm>
              <a:off x="0" y="0"/>
              <a:ext cx="315278" cy="2793210"/>
            </a:xfrm>
            <a:custGeom>
              <a:rect b="b" l="l" r="r" t="t"/>
              <a:pathLst>
                <a:path extrusionOk="0" h="2793210" w="315278">
                  <a:moveTo>
                    <a:pt x="0" y="0"/>
                  </a:moveTo>
                  <a:lnTo>
                    <a:pt x="315278" y="0"/>
                  </a:lnTo>
                  <a:lnTo>
                    <a:pt x="315278" y="2793210"/>
                  </a:lnTo>
                  <a:lnTo>
                    <a:pt x="0" y="279321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36"/>
            <p:cNvSpPr txBox="1"/>
            <p:nvPr/>
          </p:nvSpPr>
          <p:spPr>
            <a:xfrm>
              <a:off x="0" y="-38100"/>
              <a:ext cx="315278" cy="28313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7" name="Google Shape;387;p36"/>
          <p:cNvSpPr/>
          <p:nvPr/>
        </p:nvSpPr>
        <p:spPr>
          <a:xfrm>
            <a:off x="1477632" y="5203547"/>
            <a:ext cx="4826991" cy="942235"/>
          </a:xfrm>
          <a:custGeom>
            <a:rect b="b" l="l" r="r" t="t"/>
            <a:pathLst>
              <a:path extrusionOk="0" h="942235" w="4826991">
                <a:moveTo>
                  <a:pt x="0" y="0"/>
                </a:moveTo>
                <a:lnTo>
                  <a:pt x="4826990" y="0"/>
                </a:lnTo>
                <a:lnTo>
                  <a:pt x="4826990" y="942235"/>
                </a:lnTo>
                <a:lnTo>
                  <a:pt x="0" y="9422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628" l="0" r="0" t="-463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8" name="Google Shape;388;p36"/>
          <p:cNvGrpSpPr/>
          <p:nvPr/>
        </p:nvGrpSpPr>
        <p:grpSpPr>
          <a:xfrm>
            <a:off x="9634596" y="-468619"/>
            <a:ext cx="7739804" cy="11581916"/>
            <a:chOff x="0" y="-38100"/>
            <a:chExt cx="2038467" cy="3050381"/>
          </a:xfrm>
        </p:grpSpPr>
        <p:sp>
          <p:nvSpPr>
            <p:cNvPr id="389" name="Google Shape;389;p36"/>
            <p:cNvSpPr/>
            <p:nvPr/>
          </p:nvSpPr>
          <p:spPr>
            <a:xfrm>
              <a:off x="0" y="0"/>
              <a:ext cx="2038467" cy="3012281"/>
            </a:xfrm>
            <a:custGeom>
              <a:rect b="b" l="l" r="r" t="t"/>
              <a:pathLst>
                <a:path extrusionOk="0" h="3012281" w="2038467">
                  <a:moveTo>
                    <a:pt x="0" y="0"/>
                  </a:moveTo>
                  <a:lnTo>
                    <a:pt x="2038467" y="0"/>
                  </a:lnTo>
                  <a:lnTo>
                    <a:pt x="2038467" y="3012281"/>
                  </a:lnTo>
                  <a:lnTo>
                    <a:pt x="0" y="30122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36"/>
            <p:cNvSpPr txBox="1"/>
            <p:nvPr/>
          </p:nvSpPr>
          <p:spPr>
            <a:xfrm>
              <a:off x="0" y="-38100"/>
              <a:ext cx="2038467" cy="30503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1" name="Google Shape;391;p36"/>
          <p:cNvSpPr/>
          <p:nvPr/>
        </p:nvSpPr>
        <p:spPr>
          <a:xfrm>
            <a:off x="15939655" y="7859362"/>
            <a:ext cx="1951489" cy="2427638"/>
          </a:xfrm>
          <a:custGeom>
            <a:rect b="b" l="l" r="r" t="t"/>
            <a:pathLst>
              <a:path extrusionOk="0" h="2427638" w="1951489">
                <a:moveTo>
                  <a:pt x="0" y="0"/>
                </a:moveTo>
                <a:lnTo>
                  <a:pt x="1951489" y="0"/>
                </a:lnTo>
                <a:lnTo>
                  <a:pt x="1951489" y="2427638"/>
                </a:lnTo>
                <a:lnTo>
                  <a:pt x="0" y="24276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36"/>
          <p:cNvSpPr/>
          <p:nvPr/>
        </p:nvSpPr>
        <p:spPr>
          <a:xfrm>
            <a:off x="15325189" y="4137430"/>
            <a:ext cx="1605408" cy="2573800"/>
          </a:xfrm>
          <a:custGeom>
            <a:rect b="b" l="l" r="r" t="t"/>
            <a:pathLst>
              <a:path extrusionOk="0" h="2573800" w="1605408">
                <a:moveTo>
                  <a:pt x="0" y="0"/>
                </a:moveTo>
                <a:lnTo>
                  <a:pt x="1605409" y="0"/>
                </a:lnTo>
                <a:lnTo>
                  <a:pt x="1605409" y="2573800"/>
                </a:lnTo>
                <a:lnTo>
                  <a:pt x="0" y="2573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6"/>
          <p:cNvSpPr/>
          <p:nvPr/>
        </p:nvSpPr>
        <p:spPr>
          <a:xfrm flipH="1">
            <a:off x="8846688" y="4137430"/>
            <a:ext cx="6180473" cy="6149570"/>
          </a:xfrm>
          <a:custGeom>
            <a:rect b="b" l="l" r="r" t="t"/>
            <a:pathLst>
              <a:path extrusionOk="0" h="6149570" w="6180473">
                <a:moveTo>
                  <a:pt x="6180473" y="0"/>
                </a:moveTo>
                <a:lnTo>
                  <a:pt x="0" y="0"/>
                </a:lnTo>
                <a:lnTo>
                  <a:pt x="0" y="6149570"/>
                </a:lnTo>
                <a:lnTo>
                  <a:pt x="6180473" y="6149570"/>
                </a:lnTo>
                <a:lnTo>
                  <a:pt x="6180473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36"/>
          <p:cNvSpPr/>
          <p:nvPr/>
        </p:nvSpPr>
        <p:spPr>
          <a:xfrm flipH="1">
            <a:off x="12392588" y="4137430"/>
            <a:ext cx="4780387" cy="6149570"/>
          </a:xfrm>
          <a:custGeom>
            <a:rect b="b" l="l" r="r" t="t"/>
            <a:pathLst>
              <a:path extrusionOk="0" h="6149570" w="4780387">
                <a:moveTo>
                  <a:pt x="4780387" y="0"/>
                </a:moveTo>
                <a:lnTo>
                  <a:pt x="0" y="0"/>
                </a:lnTo>
                <a:lnTo>
                  <a:pt x="0" y="6149570"/>
                </a:lnTo>
                <a:lnTo>
                  <a:pt x="4780387" y="6149570"/>
                </a:lnTo>
                <a:lnTo>
                  <a:pt x="4780387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15156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36"/>
          <p:cNvSpPr/>
          <p:nvPr/>
        </p:nvSpPr>
        <p:spPr>
          <a:xfrm>
            <a:off x="10098577" y="9152435"/>
            <a:ext cx="2294011" cy="1134565"/>
          </a:xfrm>
          <a:custGeom>
            <a:rect b="b" l="l" r="r" t="t"/>
            <a:pathLst>
              <a:path extrusionOk="0" h="1134565" w="2294011">
                <a:moveTo>
                  <a:pt x="0" y="0"/>
                </a:moveTo>
                <a:lnTo>
                  <a:pt x="2294011" y="0"/>
                </a:lnTo>
                <a:lnTo>
                  <a:pt x="2294011" y="1134565"/>
                </a:lnTo>
                <a:lnTo>
                  <a:pt x="0" y="11345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36"/>
          <p:cNvSpPr/>
          <p:nvPr/>
        </p:nvSpPr>
        <p:spPr>
          <a:xfrm rot="753594">
            <a:off x="14437890" y="1491650"/>
            <a:ext cx="1774599" cy="1744107"/>
          </a:xfrm>
          <a:custGeom>
            <a:rect b="b" l="l" r="r" t="t"/>
            <a:pathLst>
              <a:path extrusionOk="0" h="1744107" w="1774599">
                <a:moveTo>
                  <a:pt x="0" y="0"/>
                </a:moveTo>
                <a:lnTo>
                  <a:pt x="1774599" y="0"/>
                </a:lnTo>
                <a:lnTo>
                  <a:pt x="1774599" y="1744108"/>
                </a:lnTo>
                <a:lnTo>
                  <a:pt x="0" y="17441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36"/>
          <p:cNvSpPr/>
          <p:nvPr/>
        </p:nvSpPr>
        <p:spPr>
          <a:xfrm>
            <a:off x="10584085" y="1028700"/>
            <a:ext cx="2079407" cy="2088274"/>
          </a:xfrm>
          <a:custGeom>
            <a:rect b="b" l="l" r="r" t="t"/>
            <a:pathLst>
              <a:path extrusionOk="0" h="2088274" w="2079407">
                <a:moveTo>
                  <a:pt x="0" y="0"/>
                </a:moveTo>
                <a:lnTo>
                  <a:pt x="2079406" y="0"/>
                </a:lnTo>
                <a:lnTo>
                  <a:pt x="2079406" y="2088274"/>
                </a:lnTo>
                <a:lnTo>
                  <a:pt x="0" y="20882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Francisco Borges</dc:creator>
</cp:coreProperties>
</file>